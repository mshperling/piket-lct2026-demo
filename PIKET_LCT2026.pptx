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5adc3a10ee648fc" /><Relationship Type="http://schemas.openxmlformats.org/officeDocument/2006/relationships/extended-properties" Target="/docProps/app.xml" Id="R4df2c7e63c474ce6" /><Relationship Type="http://schemas.openxmlformats.org/officeDocument/2006/relationships/officeDocument" Target="/ppt/presentation.xml" Id="R928dde7902e342af" /></Relationships>
</file>

<file path=ppt/presentation.xml><?xml version="1.0" encoding="utf-8"?>
<p:presentation xmlns:p="http://schemas.openxmlformats.org/presentationml/2006/main">
  <p:sldMasterIdLst>
    <p:sldMasterId xmlns:r="http://schemas.openxmlformats.org/officeDocument/2006/relationships" id="2147483648" r:id="R1d41fef24b444935"/>
  </p:sldMasterIdLst>
  <p:notesMasterIdLst>
    <p:notesMasterId xmlns:r="http://schemas.openxmlformats.org/officeDocument/2006/relationships" r:id="Re679dce6bdd84c19"/>
  </p:notesMasterIdLst>
  <p:sldIdLst>
    <p:sldId xmlns:r="http://schemas.openxmlformats.org/officeDocument/2006/relationships" id="256" r:id="Rd759e8f25d964126"/>
    <p:sldId xmlns:r="http://schemas.openxmlformats.org/officeDocument/2006/relationships" id="257" r:id="Rb898dc4164934313"/>
    <p:sldId xmlns:r="http://schemas.openxmlformats.org/officeDocument/2006/relationships" id="258" r:id="R3983b401aa9244dc"/>
    <p:sldId xmlns:r="http://schemas.openxmlformats.org/officeDocument/2006/relationships" id="259" r:id="R5e2e211206944664"/>
    <p:sldId xmlns:r="http://schemas.openxmlformats.org/officeDocument/2006/relationships" id="260" r:id="Rea6c42303b2a4362"/>
    <p:sldId xmlns:r="http://schemas.openxmlformats.org/officeDocument/2006/relationships" id="261" r:id="R7f2d83d8ecdf45fb"/>
    <p:sldId xmlns:r="http://schemas.openxmlformats.org/officeDocument/2006/relationships" id="262" r:id="R7d5e2774726f4dea"/>
    <p:sldId xmlns:r="http://schemas.openxmlformats.org/officeDocument/2006/relationships" id="263" r:id="R63db7a55186b4aeb"/>
    <p:sldId xmlns:r="http://schemas.openxmlformats.org/officeDocument/2006/relationships" id="264" r:id="R389862309a164791"/>
    <p:sldId xmlns:r="http://schemas.openxmlformats.org/officeDocument/2006/relationships" id="265" r:id="Rb8078ea735ea44de"/>
    <p:sldId xmlns:r="http://schemas.openxmlformats.org/officeDocument/2006/relationships" id="266" r:id="R29f41c9fec5d4690"/>
    <p:sldId xmlns:r="http://schemas.openxmlformats.org/officeDocument/2006/relationships" id="267" r:id="Ra6e6a76d69e945c3"/>
    <p:sldId xmlns:r="http://schemas.openxmlformats.org/officeDocument/2006/relationships" id="268" r:id="R25171afd1d314030"/>
    <p:sldId xmlns:r="http://schemas.openxmlformats.org/officeDocument/2006/relationships" id="269" r:id="R68faa96239ae487a"/>
    <p:sldId xmlns:r="http://schemas.openxmlformats.org/officeDocument/2006/relationships" id="270" r:id="Rd10de3d7feae4056"/>
    <p:sldId xmlns:r="http://schemas.openxmlformats.org/officeDocument/2006/relationships" id="271" r:id="R8d80ebfc02f04fcc"/>
    <p:sldId xmlns:r="http://schemas.openxmlformats.org/officeDocument/2006/relationships" id="272" r:id="Rd4912a4a78b14b6a"/>
    <p:sldId xmlns:r="http://schemas.openxmlformats.org/officeDocument/2006/relationships" id="273" r:id="R992f9461300041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29a142ea10c460e" /><Relationship Type="http://schemas.openxmlformats.org/officeDocument/2006/relationships/slideMaster" Target="/ppt/slideMasters/slideMaster1.xml" Id="R1d41fef24b444935" /><Relationship Type="http://schemas.openxmlformats.org/officeDocument/2006/relationships/notesMaster" Target="/ppt/notesMasters/notesMaster1.xml" Id="Re679dce6bdd84c19" /><Relationship Type="http://schemas.openxmlformats.org/officeDocument/2006/relationships/presProps" Target="/ppt/presProps.xml" Id="Ra9b7fc70899f44d7" /><Relationship Type="http://schemas.openxmlformats.org/officeDocument/2006/relationships/tableStyles" Target="/ppt/tableStyles.xml" Id="Rbc2bbf7408c24eb8" /><Relationship Type="http://schemas.openxmlformats.org/officeDocument/2006/relationships/slide" Target="/ppt/slides/slide1.xml" Id="Rd759e8f25d964126" /><Relationship Type="http://schemas.openxmlformats.org/officeDocument/2006/relationships/slide" Target="/ppt/slides/slide2.xml" Id="Rb898dc4164934313" /><Relationship Type="http://schemas.openxmlformats.org/officeDocument/2006/relationships/slide" Target="/ppt/slides/slide3.xml" Id="R3983b401aa9244dc" /><Relationship Type="http://schemas.openxmlformats.org/officeDocument/2006/relationships/slide" Target="/ppt/slides/slide4.xml" Id="R5e2e211206944664" /><Relationship Type="http://schemas.openxmlformats.org/officeDocument/2006/relationships/slide" Target="/ppt/slides/slide5.xml" Id="Rea6c42303b2a4362" /><Relationship Type="http://schemas.openxmlformats.org/officeDocument/2006/relationships/slide" Target="/ppt/slides/slide6.xml" Id="R7f2d83d8ecdf45fb" /><Relationship Type="http://schemas.openxmlformats.org/officeDocument/2006/relationships/slide" Target="/ppt/slides/slide7.xml" Id="R7d5e2774726f4dea" /><Relationship Type="http://schemas.openxmlformats.org/officeDocument/2006/relationships/slide" Target="/ppt/slides/slide8.xml" Id="R63db7a55186b4aeb" /><Relationship Type="http://schemas.openxmlformats.org/officeDocument/2006/relationships/slide" Target="/ppt/slides/slide9.xml" Id="R389862309a164791" /><Relationship Type="http://schemas.openxmlformats.org/officeDocument/2006/relationships/slide" Target="/ppt/slides/slide10.xml" Id="Rb8078ea735ea44de" /><Relationship Type="http://schemas.openxmlformats.org/officeDocument/2006/relationships/slide" Target="/ppt/slides/slide11.xml" Id="R29f41c9fec5d4690" /><Relationship Type="http://schemas.openxmlformats.org/officeDocument/2006/relationships/slide" Target="/ppt/slides/slide12.xml" Id="Ra6e6a76d69e945c3" /><Relationship Type="http://schemas.openxmlformats.org/officeDocument/2006/relationships/slide" Target="/ppt/slides/slide13.xml" Id="R25171afd1d314030" /><Relationship Type="http://schemas.openxmlformats.org/officeDocument/2006/relationships/slide" Target="/ppt/slides/slide14.xml" Id="R68faa96239ae487a" /><Relationship Type="http://schemas.openxmlformats.org/officeDocument/2006/relationships/slide" Target="/ppt/slides/slide15.xml" Id="Rd10de3d7feae4056" /><Relationship Type="http://schemas.openxmlformats.org/officeDocument/2006/relationships/slide" Target="/ppt/slides/slide16.xml" Id="R8d80ebfc02f04fcc" /><Relationship Type="http://schemas.openxmlformats.org/officeDocument/2006/relationships/slide" Target="/ppt/slides/slide17.xml" Id="Rd4912a4a78b14b6a" /><Relationship Type="http://schemas.openxmlformats.org/officeDocument/2006/relationships/slide" Target="/ppt/slides/slide18.xml" Id="R992f9461300041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d2f4e5dc604d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a483a0a73e4f8c" /><Relationship Type="http://schemas.openxmlformats.org/officeDocument/2006/relationships/notesMaster" Target="/ppt/notesMasters/notesMaster1.xml" Id="Rdd3c2ce9dbd640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53d0a5cc0d4584" /><Relationship Type="http://schemas.openxmlformats.org/officeDocument/2006/relationships/notesMaster" Target="/ppt/notesMasters/notesMaster1.xml" Id="Rf2db4bb9e9c948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89d4ae1943443e" /><Relationship Type="http://schemas.openxmlformats.org/officeDocument/2006/relationships/notesMaster" Target="/ppt/notesMasters/notesMaster1.xml" Id="R27609ef0264646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90f8fb19944ec0" /><Relationship Type="http://schemas.openxmlformats.org/officeDocument/2006/relationships/notesMaster" Target="/ppt/notesMasters/notesMaster1.xml" Id="R94cf6ebc95b74d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9ea8b38732455c" /><Relationship Type="http://schemas.openxmlformats.org/officeDocument/2006/relationships/notesMaster" Target="/ppt/notesMasters/notesMaster1.xml" Id="Rfd45b520421544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a60a65a76c41d5" /><Relationship Type="http://schemas.openxmlformats.org/officeDocument/2006/relationships/notesMaster" Target="/ppt/notesMasters/notesMaster1.xml" Id="R6c150178a82243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c3c9c1fb4140ce" /><Relationship Type="http://schemas.openxmlformats.org/officeDocument/2006/relationships/notesMaster" Target="/ppt/notesMasters/notesMaster1.xml" Id="R5a56161f4d704b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a149f2af614a80" /><Relationship Type="http://schemas.openxmlformats.org/officeDocument/2006/relationships/notesMaster" Target="/ppt/notesMasters/notesMaster1.xml" Id="Rcb66a4e635bf43b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056377acfd48de" /><Relationship Type="http://schemas.openxmlformats.org/officeDocument/2006/relationships/notesMaster" Target="/ppt/notesMasters/notesMaster1.xml" Id="Re3db6c0e7a7f43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85dbb8894443bb" /><Relationship Type="http://schemas.openxmlformats.org/officeDocument/2006/relationships/notesMaster" Target="/ppt/notesMasters/notesMaster1.xml" Id="R5e0dac9e765b45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72b59dbd26c456f" /><Relationship Type="http://schemas.openxmlformats.org/officeDocument/2006/relationships/notesMaster" Target="/ppt/notesMasters/notesMaster1.xml" Id="Rfe937a08c2ba414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fc6f9675de4887" /><Relationship Type="http://schemas.openxmlformats.org/officeDocument/2006/relationships/notesMaster" Target="/ppt/notesMasters/notesMaster1.xml" Id="R1d48bafbfbdd4a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4f3b5665f6543a7" /><Relationship Type="http://schemas.openxmlformats.org/officeDocument/2006/relationships/notesMaster" Target="/ppt/notesMasters/notesMaster1.xml" Id="Ra1cc252f21a04b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539fb5277d48aa" /><Relationship Type="http://schemas.openxmlformats.org/officeDocument/2006/relationships/notesMaster" Target="/ppt/notesMasters/notesMaster1.xml" Id="R6a6892a77f4246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5ccd334fd34263" /><Relationship Type="http://schemas.openxmlformats.org/officeDocument/2006/relationships/notesMaster" Target="/ppt/notesMasters/notesMaster1.xml" Id="R7b11ea51ee76409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b93d80b62d54539" /><Relationship Type="http://schemas.openxmlformats.org/officeDocument/2006/relationships/notesMaster" Target="/ppt/notesMasters/notesMaster1.xml" Id="Rde2db3928727416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0c62375cda4b21" /><Relationship Type="http://schemas.openxmlformats.org/officeDocument/2006/relationships/notesMaster" Target="/ppt/notesMasters/notesMaster1.xml" Id="Rc96de7e816314d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7c241fe4e314342" /><Relationship Type="http://schemas.openxmlformats.org/officeDocument/2006/relationships/notesMaster" Target="/ppt/notesMasters/notesMaster1.xml" Id="Rfddfebbf99b844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Сервис прогнозирования аварий и управления ремонтными работами инженерных коллекторов Москвы, ЛЦТ 2026. Обложка: сгенерированная концептуальная иллюстрация коллектора, не фотография объекта.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Снижение FP: (12-7)/12=41,67%. Оба решения нашли 9 инцидентов из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манифесты импорта data/state_parts/2024.json, 2025.json, 2026.json. 135261069 исходных строк, включая один повторный заголовок. 25678884 дискретных состояния после фильтрации числовых показаний. Модель работает на 26 группах дымовых датчиков.</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Скриншот docs/prototype/editorial-desktop.png. Настоящий исторический срез на 29.03.2026: 26 групп и сохранённые прогнозы ансамбля восьми моделей. Группа 553-1 получила предложенный моделью черновик. Решения сохраняются локально в браузере, фактические выезды не создаются.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Выбран один успешный случай группы 553-1. Предупреждение 29.03.2026 в конце дня. Начало инцидента 13.04.2026 14:00, упреждение 350,012778 часа. Это иллюстрация, полные ошибки и пропуски учтены в общей оценке. Значения риска не калиброваны как вероятность физического отказа.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Исследовательский пайплайн ml/temporal_stack.py и ml/renewal_ensemble.py. 8 сохранённых OOF-моделей плюс 10 новых, 238 признаков у расширенных моделей. Среди альтернатив усреднение, CatBoost meta, Logistic meta, условная вероятность следующего инцидента. Фактический выбор только по отчёту разработки.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ml/temporal_stack.py: novel_features; ml/renewal_ensemble.py: renewal_features. Все признаки используют наблюдения не позднее конца дня прогноза. Подтверждение причинно-следственных связей не заявляется.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Базовые OOF-прогнозы: май 2024-июнь 2026, месячное переобучение. В обеих моделях сравнения одинаковый график переобучения. Запрет на обучающие строки, метка которых не созрела до начала следующего периода. Граф совместных сбоев исключён из OOF из-за более поздней даты его построения.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prototype/inference/model.json, schema.json, parity.json. Скриншот docs/prototype/forecast-top.png. В браузере исполняются все 8 моделей: 5 LightGBM, CatBoost, Extra Trees, Logistic. Вход CSV: 178 признаков и дата. Архивный пример содержит 26 строк 01.06.2026, первая по рангу 672-1 получила 0.5958. CSV не передаётся на сервер. Версия piket-eight-2026-06 обучена по 16.05.2026 и применяется с 01.06.2026. Балл не равен подтверждённому событию.</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Предложение команды, не заключённая договорённость. Экономический эффект требует стоимости проверки и последствий пропуска. В доступных журналах эти величины отсутствуют.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Предлагаем пилот на 26 группах с регистрацией результата каждого предупреждения. Репозиторий: https://github.com/Valle-ds/lct2026-moskollektor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ml/incidents.py и ml/replay.py. Предсказание в конце дня D. Целевое окно D+2..D+15. Минимальное упреждение больше 24 часов, верхняя граница 15 суток относительно времени прогноза.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Реализация ml/temporal_stack.py, mature_before, generate_oof, meta_split. Мета-модель обучается только на OOF-ответах базовых алгоритмов. Для проверочных прогнозов применяется ежемесячное переобучение на созревших прошлых метках.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Эти результаты использованы для выбора. Сравнение по событийному F1 и нагрузке не выше legacy. Полные параметры и прогнозы сохранены рядом с 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prototype/inference/model.json, schema.json, parity.json. Проверка на 783 строках, включая неизвестную группу, все числовые значения пропущены или равны нулю. Максимальное абсолютное отклонение 3.885780586188048e-16 при допуске 1e-10. Это численное соответствие реализаций, не качество предсказания. Метрики H1 2026 получены с ежемесячным переобучением, не являются новой оценкой фиксированной июньской версии.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ml/renewal_ensemble.py, renewal_features. Возраст a измеряется от последнего наблюдённого начала. F_D строится только по уже наблюдённым интервалам группы к концу дня D. Оценка усредняет нормальные ядра шириной 7,14,21 день, использует исторические интервалы 20..180 дней и усадку n/(n+3). Это исследовательский компонент, не подтверждение физической причины.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models/experiments/temporal_stack_20260929/report.json, renewal_ensemble_20260929/report.json, renewal_policy_20260929/report.json, signal_policy_20260929/report.json. Проверка январь-июнь 2026,22инцидента. Разные варианты выбраны по разработке, но это последовательные исследования ранее исследованных дат. Скрытый независимый тест отсутствует.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915e41d4cd40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81966388e534439" /><Relationship Type="http://schemas.openxmlformats.org/officeDocument/2006/relationships/slideLayout" Target="/ppt/slideLayouts/slideLayout1.xml" Id="Re1be4a6597a447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be4a6597a447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a0f7e05e696496a" /><Relationship Type="http://schemas.openxmlformats.org/officeDocument/2006/relationships/image" Target="/ppt/media/image.png" Id="R04ebdc0c7e1d4d31" /><Relationship Type="http://schemas.openxmlformats.org/officeDocument/2006/relationships/notesSlide" Target="/ppt/notesSlides/notesSlide1.xml" Id="Rb3421490e90349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26edcef2c304ce5" /><Relationship Type="http://schemas.openxmlformats.org/officeDocument/2006/relationships/notesSlide" Target="/ppt/notesSlides/notesSlide2.xml" Id="R2611bea9e6ed49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0b08504f844ae7" /><Relationship Type="http://schemas.openxmlformats.org/officeDocument/2006/relationships/notesSlide" Target="/ppt/notesSlides/notesSlide3.xml" Id="Rea75a66187cc45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debce9c0da34982" /><Relationship Type="http://schemas.openxmlformats.org/officeDocument/2006/relationships/image" Target="/ppt/media/image.jpeg" Id="R03b6439da10d4fae" /><Relationship Type="http://schemas.openxmlformats.org/officeDocument/2006/relationships/notesSlide" Target="/ppt/notesSlides/notesSlide4.xml" Id="R64be093c1d0643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8fad38c6a9241e7" /><Relationship Type="http://schemas.openxmlformats.org/officeDocument/2006/relationships/chart" Target="/ppt/slides/charts/chart1.xml" Id="R7255a6730b714d27" /><Relationship Type="http://schemas.openxmlformats.org/officeDocument/2006/relationships/notesSlide" Target="/ppt/notesSlides/notesSlide5.xml" Id="R724d9a0ec94949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fb1a455b5764d1f" /><Relationship Type="http://schemas.openxmlformats.org/officeDocument/2006/relationships/notesSlide" Target="/ppt/notesSlides/notesSlide6.xml" Id="R8fe63a9782c64a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d8cf661867444a6" /><Relationship Type="http://schemas.openxmlformats.org/officeDocument/2006/relationships/notesSlide" Target="/ppt/notesSlides/notesSlide7.xml" Id="Rce20c9a02c2248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6d220175c574fd7" /><Relationship Type="http://schemas.openxmlformats.org/officeDocument/2006/relationships/notesSlide" Target="/ppt/notesSlides/notesSlide8.xml" Id="R6c3d18e7d07444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b5908eaa57e4d08" /><Relationship Type="http://schemas.openxmlformats.org/officeDocument/2006/relationships/chart" Target="/ppt/slides/charts/chart2.xml" Id="R98eaa01165a243c9" /><Relationship Type="http://schemas.openxmlformats.org/officeDocument/2006/relationships/notesSlide" Target="/ppt/notesSlides/notesSlide9.xml" Id="Rd75cde5ee6ff427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bf7daae3eb4e32" /><Relationship Type="http://schemas.openxmlformats.org/officeDocument/2006/relationships/image" Target="/ppt/media/image2.jpeg" Id="R0d9649cc961b4781" /><Relationship Type="http://schemas.openxmlformats.org/officeDocument/2006/relationships/notesSlide" Target="/ppt/notesSlides/notesSlide10.xml" Id="Rafd8234179b34d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de1ccc65ace45ee" /><Relationship Type="http://schemas.openxmlformats.org/officeDocument/2006/relationships/notesSlide" Target="/ppt/notesSlides/notesSlide11.xml" Id="R2077f43fe0e240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5d37367ac4947de" /><Relationship Type="http://schemas.openxmlformats.org/officeDocument/2006/relationships/notesSlide" Target="/ppt/notesSlides/notesSlide12.xml" Id="R445d94486a77416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ca0e575e5244389" /><Relationship Type="http://schemas.openxmlformats.org/officeDocument/2006/relationships/notesSlide" Target="/ppt/notesSlides/notesSlide13.xml" Id="R4968cc3d81b649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b36d575874f4b3d" /><Relationship Type="http://schemas.openxmlformats.org/officeDocument/2006/relationships/notesSlide" Target="/ppt/notesSlides/notesSlide14.xml" Id="Rc477d5f31820475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00299dc760b4b37" /><Relationship Type="http://schemas.openxmlformats.org/officeDocument/2006/relationships/notesSlide" Target="/ppt/notesSlides/notesSlide15.xml" Id="Rd865f17910154ef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ad7039b530d412e" /><Relationship Type="http://schemas.openxmlformats.org/officeDocument/2006/relationships/notesSlide" Target="/ppt/notesSlides/notesSlide16.xml" Id="R69dc9097b95b4c6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509fd0ef5414be4" /><Relationship Type="http://schemas.openxmlformats.org/officeDocument/2006/relationships/notesSlide" Target="/ppt/notesSlides/notesSlide17.xml" Id="Rff14d143789f49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964d1986a7b4662" /><Relationship Type="http://schemas.openxmlformats.org/officeDocument/2006/relationships/notesSlide" Target="/ppt/notesSlides/notesSlide18.xml" Id="R4efbd0cbbcbb473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Оценка риска</c:v>
          </c:tx>
          <c:spPr>
            <a:ln xmlns:a="http://schemas.openxmlformats.org/drawingml/2006/main" w="28575">
              <a:solidFill>
                <a:srgbClr val="D8F77B"/>
              </a:solidFill>
            </a:ln>
          </c:spPr>
          <c:marker>
            <c:symbol val="none"/>
          </c:marker>
          <c:xVal>
            <c:numRef>
              <c:f>'Chart Data'!$A$2:$A$46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Data'!$B$2:$B$46</c:f>
              <c:numCache>
                <c:formatCode>0.0</c:formatCode>
                <c:ptCount val="45"/>
                <c:pt idx="0">
                  <c:v>0.03113323</c:v>
                </c:pt>
                <c:pt idx="1">
                  <c:v>0.03164814</c:v>
                </c:pt>
                <c:pt idx="2">
                  <c:v>0.03683929</c:v>
                </c:pt>
                <c:pt idx="3">
                  <c:v>0.04066043</c:v>
                </c:pt>
                <c:pt idx="4">
                  <c:v>0.0471833</c:v>
                </c:pt>
                <c:pt idx="5">
                  <c:v>0.04804692</c:v>
                </c:pt>
                <c:pt idx="6">
                  <c:v>0.15069908</c:v>
                </c:pt>
                <c:pt idx="7">
                  <c:v>0.17020425</c:v>
                </c:pt>
                <c:pt idx="8">
                  <c:v>0.17479585</c:v>
                </c:pt>
                <c:pt idx="9">
                  <c:v>0.17799131</c:v>
                </c:pt>
                <c:pt idx="10">
                  <c:v>0.19420958</c:v>
                </c:pt>
                <c:pt idx="11">
                  <c:v>0.21555726</c:v>
                </c:pt>
                <c:pt idx="12">
                  <c:v>0.2172598</c:v>
                </c:pt>
                <c:pt idx="13">
                  <c:v>0.21915171</c:v>
                </c:pt>
                <c:pt idx="14">
                  <c:v>0.22626842</c:v>
                </c:pt>
                <c:pt idx="15">
                  <c:v>0.23332204</c:v>
                </c:pt>
                <c:pt idx="16">
                  <c:v>0.23517413</c:v>
                </c:pt>
                <c:pt idx="17">
                  <c:v>0.24821862</c:v>
                </c:pt>
                <c:pt idx="18">
                  <c:v>0.25004884</c:v>
                </c:pt>
                <c:pt idx="19">
                  <c:v>0.25711282</c:v>
                </c:pt>
                <c:pt idx="20">
                  <c:v>0.27013854</c:v>
                </c:pt>
                <c:pt idx="21">
                  <c:v>0.27616723</c:v>
                </c:pt>
                <c:pt idx="22">
                  <c:v>0.28188034</c:v>
                </c:pt>
                <c:pt idx="23">
                  <c:v>0.29202418</c:v>
                </c:pt>
                <c:pt idx="24">
                  <c:v>0.31098914</c:v>
                </c:pt>
                <c:pt idx="25">
                  <c:v>0.35261529</c:v>
                </c:pt>
                <c:pt idx="26">
                  <c:v>0.36703157</c:v>
                </c:pt>
                <c:pt idx="27">
                  <c:v>0.38499407</c:v>
                </c:pt>
                <c:pt idx="28">
                  <c:v>0.43438901</c:v>
                </c:pt>
                <c:pt idx="29">
                  <c:v>0.47006908</c:v>
                </c:pt>
                <c:pt idx="30">
                  <c:v>0.51279221</c:v>
                </c:pt>
                <c:pt idx="31">
                  <c:v>0.5365639</c:v>
                </c:pt>
                <c:pt idx="32">
                  <c:v>0.54621592</c:v>
                </c:pt>
                <c:pt idx="33">
                  <c:v>0.55002523</c:v>
                </c:pt>
                <c:pt idx="34">
                  <c:v>0.56286056</c:v>
                </c:pt>
                <c:pt idx="35">
                  <c:v>0.55860187</c:v>
                </c:pt>
                <c:pt idx="36">
                  <c:v>0.55926537</c:v>
                </c:pt>
                <c:pt idx="37">
                  <c:v>0.56274252</c:v>
                </c:pt>
                <c:pt idx="38">
                  <c:v>0.55983325</c:v>
                </c:pt>
                <c:pt idx="39">
                  <c:v>0.553974</c:v>
                </c:pt>
                <c:pt idx="40">
                  <c:v>0.16378969</c:v>
                </c:pt>
                <c:pt idx="41">
                  <c:v>0.15760717</c:v>
                </c:pt>
                <c:pt idx="42">
                  <c:v>0.1561917</c:v>
                </c:pt>
                <c:pt idx="43">
                  <c:v>0.08189701</c:v>
                </c:pt>
                <c:pt idx="44">
                  <c:v>0.04901565</c:v>
                </c:pt>
              </c:numCache>
            </c:numRef>
          </c:yVal>
        </c:ser>
        <c:ser>
          <c:idx val="1"/>
          <c:order val="1"/>
          <c:tx>
            <c:v>Порог заявки</c:v>
          </c:tx>
          <c:spPr>
            <a:ln xmlns:a="http://schemas.openxmlformats.org/drawingml/2006/main" w="19050">
              <a:solidFill>
                <a:srgbClr val="DCA083"/>
              </a:solidFill>
              <a:prstDash val="dash"/>
            </a:ln>
          </c:spPr>
          <c:marker>
            <c:symbol val="none"/>
          </c:marker>
          <c:xVal>
            <c:numRef>
              <c:f>'Chart Data'!$C$2:$C$46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Data'!$D$2:$D$46</c:f>
              <c:numCache>
                <c:formatCode>0.0</c:formatCode>
                <c:ptCount val="45"/>
                <c:pt idx="0">
                  <c:v>0.40705894</c:v>
                </c:pt>
                <c:pt idx="1">
                  <c:v>0.40705894</c:v>
                </c:pt>
                <c:pt idx="2">
                  <c:v>0.40705894</c:v>
                </c:pt>
                <c:pt idx="3">
                  <c:v>0.40705894</c:v>
                </c:pt>
                <c:pt idx="4">
                  <c:v>0.40705894</c:v>
                </c:pt>
                <c:pt idx="5">
                  <c:v>0.40705894</c:v>
                </c:pt>
                <c:pt idx="6">
                  <c:v>0.40705894</c:v>
                </c:pt>
                <c:pt idx="7">
                  <c:v>0.40705894</c:v>
                </c:pt>
                <c:pt idx="8">
                  <c:v>0.40705894</c:v>
                </c:pt>
                <c:pt idx="9">
                  <c:v>0.40705894</c:v>
                </c:pt>
                <c:pt idx="10">
                  <c:v>0.40705894</c:v>
                </c:pt>
                <c:pt idx="11">
                  <c:v>0.40705894</c:v>
                </c:pt>
                <c:pt idx="12">
                  <c:v>0.40705894</c:v>
                </c:pt>
                <c:pt idx="13">
                  <c:v>0.40705894</c:v>
                </c:pt>
                <c:pt idx="14">
                  <c:v>0.40705894</c:v>
                </c:pt>
                <c:pt idx="15">
                  <c:v>0.40705894</c:v>
                </c:pt>
                <c:pt idx="16">
                  <c:v>0.40705894</c:v>
                </c:pt>
                <c:pt idx="17">
                  <c:v>0.40705894</c:v>
                </c:pt>
                <c:pt idx="18">
                  <c:v>0.40705894</c:v>
                </c:pt>
                <c:pt idx="19">
                  <c:v>0.40705894</c:v>
                </c:pt>
                <c:pt idx="20">
                  <c:v>0.40705894</c:v>
                </c:pt>
                <c:pt idx="21">
                  <c:v>0.40705894</c:v>
                </c:pt>
                <c:pt idx="22">
                  <c:v>0.40705894</c:v>
                </c:pt>
                <c:pt idx="23">
                  <c:v>0.40705894</c:v>
                </c:pt>
                <c:pt idx="24">
                  <c:v>0.40705894</c:v>
                </c:pt>
                <c:pt idx="25">
                  <c:v>0.40705894</c:v>
                </c:pt>
                <c:pt idx="26">
                  <c:v>0.40705894</c:v>
                </c:pt>
                <c:pt idx="27">
                  <c:v>0.40705894</c:v>
                </c:pt>
                <c:pt idx="28">
                  <c:v>0.40705894</c:v>
                </c:pt>
                <c:pt idx="29">
                  <c:v>0.40705894</c:v>
                </c:pt>
                <c:pt idx="30">
                  <c:v>0.40705894</c:v>
                </c:pt>
                <c:pt idx="31">
                  <c:v>0.40705894</c:v>
                </c:pt>
                <c:pt idx="32">
                  <c:v>0.40705894</c:v>
                </c:pt>
                <c:pt idx="33">
                  <c:v>0.40705894</c:v>
                </c:pt>
                <c:pt idx="34">
                  <c:v>0.40705894</c:v>
                </c:pt>
                <c:pt idx="35">
                  <c:v>0.40705894</c:v>
                </c:pt>
                <c:pt idx="36">
                  <c:v>0.40705894</c:v>
                </c:pt>
                <c:pt idx="37">
                  <c:v>0.40705894</c:v>
                </c:pt>
                <c:pt idx="38">
                  <c:v>0.40705894</c:v>
                </c:pt>
                <c:pt idx="39">
                  <c:v>0.40705894</c:v>
                </c:pt>
                <c:pt idx="40">
                  <c:v>0.40705894</c:v>
                </c:pt>
                <c:pt idx="41">
                  <c:v>0.40705894</c:v>
                </c:pt>
                <c:pt idx="42">
                  <c:v>0.40705894</c:v>
                </c:pt>
                <c:pt idx="43">
                  <c:v>0.40705894</c:v>
                </c:pt>
                <c:pt idx="44">
                  <c:v>0.40705894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0.65"/>
          <c:min val="0"/>
        </c:scaling>
        <c:delete val="0"/>
        <c:axPos val="l"/>
        <c:majorGridlines>
          <c:spPr>
            <a:ln xmlns:a="http://schemas.openxmlformats.org/drawingml/2006/main" w="9525">
              <a:solidFill>
                <a:srgbClr val="284036"/>
              </a:solidFill>
            </a:ln>
          </c:spPr>
        </c:majorGridlines>
        <c:numFmt formatCode="0.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majorUnit val="0.2"/>
      </c:valAx>
      <c:valAx>
        <c:axId val="48650112"/>
        <c:scaling>
          <c:orientation val="minMax"/>
          <c:max val="44"/>
          <c:min val="0"/>
        </c:scaling>
        <c:delete val="0"/>
        <c:axPos val="b"/>
        <c:majorGridlines>
          <c:spPr>
            <a:ln xmlns:a="http://schemas.openxmlformats.org/drawingml/2006/main" w="9525">
              <a:solidFill>
                <a:srgbClr val="284036"/>
              </a:solidFill>
            </a:ln>
          </c:spPr>
        </c:majorGridlines>
        <c:title>
          <c:tx>
            <c:rich>
              <a:bodyPr xmlns:a="http://schemas.openxmlformats.org/drawingml/2006/main"/>
              <a:lstStyle xmlns:a="http://schemas.openxmlformats.org/drawingml/2006/main"/>
              <a:p xmlns:a="http://schemas.openxmlformats.org/drawingml/2006/main">
                <a:r>
                  <a:rPr sz="1350">
                    <a:solidFill>
                      <a:srgbClr val="D7DFD6"/>
                    </a:solidFill>
                    <a:latin typeface="Arial"/>
                    <a:ea typeface="Arial"/>
                    <a:cs typeface="Arial"/>
                  </a:rPr>
                  <a:t>Дни после 1 марта 2026</a:t>
                </a:r>
              </a:p>
            </c:rich>
          </c:tx>
          <c:overlay val="0"/>
          <c:txPr>
            <a:bodyPr xmlns:a="http://schemas.openxmlformats.org/drawingml/2006/main" anchorCtr="1"/>
            <a:lstStyle xmlns:a="http://schemas.openxmlformats.org/drawingml/2006/main"/>
            <a:p xmlns:a="http://schemas.openxmlformats.org/drawingml/2006/main">
              <a:pPr>
                <a:defRPr sz="1350">
                  <a:solidFill>
                    <a:srgbClr val="D7DFD6"/>
                  </a:solidFill>
                  <a:latin typeface="Arial"/>
                  <a:ea typeface="Arial"/>
                  <a:cs typeface="Arial"/>
                </a:defRPr>
              </a:pPr>
            </a:p>
          </c:txPr>
        </c:title>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majorUnit val="7"/>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Верные</c:v>
          </c:tx>
          <c:spPr>
            <a:solidFill xmlns:a="http://schemas.openxmlformats.org/drawingml/2006/main">
              <a:srgbClr val="D8F77B"/>
            </a:solidFill>
          </c:spPr>
          <c:cat>
            <c:strRef>
              <c:f>'Chart Data'!$A$2:$A$3</c:f>
              <c:strCache>
                <c:ptCount val="2"/>
                <c:pt idx="0">
                  <c:v>LightGBM</c:v>
                </c:pt>
                <c:pt idx="1">
                  <c:v>Ансамбль 8 моделей</c:v>
                </c:pt>
              </c:strCache>
            </c:strRef>
          </c:cat>
          <c:val>
            <c:numRef>
              <c:f>'Chart Data'!$B$2:$B$3</c:f>
              <c:numCache>
                <c:formatCode>0</c:formatCode>
                <c:ptCount val="2"/>
                <c:pt idx="0">
                  <c:v>9</c:v>
                </c:pt>
                <c:pt idx="1">
                  <c:v>9</c:v>
                </c:pt>
              </c:numCache>
            </c:numRef>
          </c:val>
        </c:ser>
        <c:ser>
          <c:idx val="1"/>
          <c:order val="1"/>
          <c:tx>
            <c:v>Ложные</c:v>
          </c:tx>
          <c:spPr>
            <a:solidFill xmlns:a="http://schemas.openxmlformats.org/drawingml/2006/main">
              <a:srgbClr val="DCA083"/>
            </a:solidFill>
          </c:spPr>
          <c:cat>
            <c:strRef>
              <c:f>'Chart Data'!$C$2:$C$3</c:f>
              <c:strCache>
                <c:ptCount val="2"/>
                <c:pt idx="0">
                  <c:v>LightGBM</c:v>
                </c:pt>
                <c:pt idx="1">
                  <c:v>Ансамбль 8 моделей</c:v>
                </c:pt>
              </c:strCache>
            </c:strRef>
          </c:cat>
          <c:val>
            <c:numRef>
              <c:f>'Chart Data'!$D$2:$D$3</c:f>
              <c:numCache>
                <c:formatCode>0</c:formatCode>
                <c:ptCount val="2"/>
                <c:pt idx="0">
                  <c:v>12</c:v>
                </c:pt>
                <c:pt idx="1">
                  <c:v>7</c:v>
                </c:pt>
              </c:numCache>
            </c:numRef>
          </c:val>
        </c:ser>
        <c:dLbls>
          <c:txPr>
            <a:bodyPr xmlns:a="http://schemas.openxmlformats.org/drawingml/2006/main" anchorCtr="1"/>
            <a:lstStyle xmlns:a="http://schemas.openxmlformats.org/drawingml/2006/main"/>
            <a:p xmlns:a="http://schemas.openxmlformats.org/drawingml/2006/main">
              <a:pPr>
                <a:defRPr sz="2100">
                  <a:solidFill>
                    <a:srgbClr val="0D201B"/>
                  </a:solidFill>
                  <a:latin typeface="Arial"/>
                  <a:ea typeface="Arial"/>
                  <a:cs typeface="Arial"/>
                </a:defRPr>
              </a:pPr>
            </a:p>
          </c:txPr>
          <c:dLblPos val="ctr"/>
          <c:showLegendKey val="0"/>
          <c:showVal val="1"/>
          <c:showCatName val="0"/>
          <c:showSerName val="0"/>
          <c:showPercent val="0"/>
          <c:showBubbleSize val="0"/>
          <c:showLeaderLines val="0"/>
        </c:dLbls>
        <c:gapWidth val="145"/>
        <c:overlap val="100"/>
        <c:axId val="48650112"/>
        <c:axId val="48672768"/>
      </c:barChart>
      <c:catAx>
        <c:axId val="48650112"/>
        <c:scaling>
          <c:orientation val="minMax"/>
        </c:scaling>
        <c:delete val="0"/>
        <c:axPos val="b"/>
        <c:majorGridlines>
          <c:spPr>
            <a:ln xmlns:a="http://schemas.openxmlformats.org/drawingml/2006/main" w="9525">
              <a:solidFill>
                <a:srgbClr val="284036"/>
              </a:solidFill>
            </a:ln>
          </c:spPr>
        </c:majorGridlines>
        <c:numFmt formatCode="General"/>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9525">
              <a:solidFill>
                <a:srgbClr val="284036"/>
              </a:solidFill>
            </a:ln>
          </c:spPr>
        </c:majorGridlines>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crossBetween val="between"/>
        <c:majorUnit val="5"/>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04ebdc0c7e1d4d31"/>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10835A-56F1-4C1B-BBA3-D2B304F2911B}"/>
              </a:ext>
            </a:extLst>
          </p:cNvPr>
          <p:cNvSpPr>
            <a:spLocks xmlns:a="http://schemas.openxmlformats.org/drawingml/2006/main" noGrp="1"/>
          </p:cNvSpPr>
          <p:nvPr/>
        </p:nvSpPr>
        <p:spPr>
          <a:xfrm xmlns:a="http://schemas.openxmlformats.org/drawingml/2006/main">
            <a:off x="609600" y="752475"/>
            <a:ext cx="7715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150" b="1">
                <a:solidFill>
                  <a:srgbClr val="F3F1E9"/>
                </a:solidFill>
                <a:latin typeface="Arial"/>
                <a:ea typeface="Arial"/>
                <a:cs typeface="Arial"/>
              </a:defRPr>
            </a:pPr>
            <a:r>
              <a:rPr sz="9150" b="1">
                <a:solidFill>
                  <a:srgbClr val="F3F1E9"/>
                </a:solidFill>
                <a:latin typeface="Arial"/>
                <a:ea typeface="Arial"/>
                <a:cs typeface="Arial"/>
              </a:rPr>
              <a:t>ПИКЕТ</a:t>
            </a:r>
          </a:p>
        </p:txBody>
      </p:sp>
      <p:sp>
        <p:nvSpPr>
          <p:cNvPr id="3" name="">
            <a:extLst xmlns:a="http://schemas.openxmlformats.org/drawingml/2006/main">
              <a:ext uri="{FF2B5EF4-FFF2-40B4-BE49-F238E27FC236}">
                <a16:creationId xmlns:a16="http://schemas.microsoft.com/office/drawing/2014/main" id="{6EE294CE-6C59-427F-992C-99A82723494B}"/>
              </a:ext>
            </a:extLst>
          </p:cNvPr>
          <p:cNvSpPr>
            <a:spLocks xmlns:a="http://schemas.openxmlformats.org/drawingml/2006/main" noGrp="1"/>
          </p:cNvSpPr>
          <p:nvPr/>
        </p:nvSpPr>
        <p:spPr>
          <a:xfrm xmlns:a="http://schemas.openxmlformats.org/drawingml/2006/main">
            <a:off x="666750" y="2619375"/>
            <a:ext cx="6096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D8F77B"/>
                </a:solidFill>
                <a:latin typeface="Arial"/>
                <a:ea typeface="Arial"/>
                <a:cs typeface="Arial"/>
              </a:defRPr>
            </a:pPr>
            <a:r>
              <a:rPr sz="3675" b="1">
                <a:solidFill>
                  <a:srgbClr val="D8F77B"/>
                </a:solidFill>
                <a:latin typeface="Arial"/>
                <a:ea typeface="Arial"/>
                <a:cs typeface="Arial"/>
              </a:rPr>
              <a:t>Проверить раньше</a:t>
            </a:r>
          </a:p>
        </p:txBody>
      </p:sp>
      <p:sp>
        <p:nvSpPr>
          <p:cNvPr id="4" name="">
            <a:extLst xmlns:a="http://schemas.openxmlformats.org/drawingml/2006/main">
              <a:ext uri="{FF2B5EF4-FFF2-40B4-BE49-F238E27FC236}">
                <a16:creationId xmlns:a16="http://schemas.microsoft.com/office/drawing/2014/main" id="{A47E8E80-18B1-4A38-9825-F21470F3474D}"/>
              </a:ext>
            </a:extLst>
          </p:cNvPr>
          <p:cNvSpPr>
            <a:spLocks xmlns:a="http://schemas.openxmlformats.org/drawingml/2006/main" noGrp="1"/>
          </p:cNvSpPr>
          <p:nvPr/>
        </p:nvSpPr>
        <p:spPr>
          <a:xfrm xmlns:a="http://schemas.openxmlformats.org/drawingml/2006/main">
            <a:off x="695325" y="3638550"/>
            <a:ext cx="6096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Прогноз риска и рабочее место</a:t>
            </a:r>
          </a:p>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диспетчера инженерных коллекторов</a:t>
            </a:r>
          </a:p>
        </p:txBody>
      </p:sp>
      <p:sp>
        <p:nvSpPr>
          <p:cNvPr id="5" name="">
            <a:extLst xmlns:a="http://schemas.openxmlformats.org/drawingml/2006/main">
              <a:ext uri="{FF2B5EF4-FFF2-40B4-BE49-F238E27FC236}">
                <a16:creationId xmlns:a16="http://schemas.microsoft.com/office/drawing/2014/main" id="{DD6C35B2-3DF5-4F4E-A850-8DB0F7EF9AAF}"/>
              </a:ext>
            </a:extLst>
          </p:cNvPr>
          <p:cNvSpPr>
            <a:spLocks xmlns:a="http://schemas.openxmlformats.org/drawingml/2006/main" noGrp="1"/>
          </p:cNvSpPr>
          <p:nvPr/>
        </p:nvSpPr>
        <p:spPr>
          <a:xfrm xmlns:a="http://schemas.openxmlformats.org/drawingml/2006/main">
            <a:off x="714375" y="5810250"/>
            <a:ext cx="609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Бананчики</a:t>
            </a:r>
          </a:p>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ЛЦТ 2026 / Москоллектор</a:t>
            </a:r>
          </a:p>
        </p:txBody>
      </p:sp>
    </p:spTree>
    <p:extLst>
      <p:ext uri="{BB962C8B-B14F-4D97-AF65-F5344CB8AC3E}">
        <p14:creationId xmlns:p14="http://schemas.microsoft.com/office/powerpoint/2010/main" val="93319800"/>
      </p:ext>
    </p:extLst>
  </p:cSld>
</p:sld>
</file>

<file path=ppt/slides/slide2.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17EC4A-0BA8-4331-8809-7BBA33B693DF}"/>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Меньше ложных заявок</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при том же числе найденных инцидентов</a:t>
            </a:r>
          </a:p>
        </p:txBody>
      </p:sp>
      <p:sp>
        <p:nvSpPr>
          <p:cNvPr id="2" name="">
            <a:extLst xmlns:a="http://schemas.openxmlformats.org/drawingml/2006/main">
              <a:ext uri="{FF2B5EF4-FFF2-40B4-BE49-F238E27FC236}">
                <a16:creationId xmlns:a16="http://schemas.microsoft.com/office/drawing/2014/main" id="{18AD2DD5-B219-408D-993C-EF09A615DC27}"/>
              </a:ext>
            </a:extLst>
          </p:cNvPr>
          <p:cNvSpPr>
            <a:spLocks xmlns:a="http://schemas.openxmlformats.org/drawingml/2006/main" noGrp="1"/>
          </p:cNvSpPr>
          <p:nvPr/>
        </p:nvSpPr>
        <p:spPr>
          <a:xfrm xmlns:a="http://schemas.openxmlformats.org/drawingml/2006/main">
            <a:off x="590550" y="1828800"/>
            <a:ext cx="6286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850" b="1">
                <a:solidFill>
                  <a:srgbClr val="D8F77B"/>
                </a:solidFill>
                <a:latin typeface="Arial"/>
                <a:ea typeface="Arial"/>
                <a:cs typeface="Arial"/>
              </a:defRPr>
            </a:pPr>
            <a:r>
              <a:rPr sz="11850" b="1">
                <a:solidFill>
                  <a:srgbClr val="D8F77B"/>
                </a:solidFill>
                <a:latin typeface="Arial"/>
                <a:ea typeface="Arial"/>
                <a:cs typeface="Arial"/>
              </a:rPr>
              <a:t>−42%</a:t>
            </a:r>
          </a:p>
        </p:txBody>
      </p:sp>
      <p:sp>
        <p:nvSpPr>
          <p:cNvPr id="3" name="">
            <a:extLst xmlns:a="http://schemas.openxmlformats.org/drawingml/2006/main">
              <a:ext uri="{FF2B5EF4-FFF2-40B4-BE49-F238E27FC236}">
                <a16:creationId xmlns:a16="http://schemas.microsoft.com/office/drawing/2014/main" id="{0A5C1ED3-141A-4E7C-BF72-20FDB73AF5F0}"/>
              </a:ext>
            </a:extLst>
          </p:cNvPr>
          <p:cNvSpPr>
            <a:spLocks xmlns:a="http://schemas.openxmlformats.org/drawingml/2006/main" noGrp="1"/>
          </p:cNvSpPr>
          <p:nvPr/>
        </p:nvSpPr>
        <p:spPr>
          <a:xfrm xmlns:a="http://schemas.openxmlformats.org/drawingml/2006/main">
            <a:off x="685800" y="3762375"/>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3F1E9"/>
                </a:solidFill>
                <a:latin typeface="Arial"/>
                <a:ea typeface="Arial"/>
                <a:cs typeface="Arial"/>
              </a:defRPr>
            </a:pPr>
            <a:r>
              <a:rPr sz="2625" b="0">
                <a:solidFill>
                  <a:srgbClr val="F3F1E9"/>
                </a:solidFill>
                <a:latin typeface="Arial"/>
                <a:ea typeface="Arial"/>
                <a:cs typeface="Arial"/>
              </a:rPr>
              <a:t>ложных предупреждений</a:t>
            </a:r>
          </a:p>
        </p:txBody>
      </p:sp>
      <p:sp>
        <p:nvSpPr>
          <p:cNvPr id="4" name="">
            <a:extLst xmlns:a="http://schemas.openxmlformats.org/drawingml/2006/main">
              <a:ext uri="{FF2B5EF4-FFF2-40B4-BE49-F238E27FC236}">
                <a16:creationId xmlns:a16="http://schemas.microsoft.com/office/drawing/2014/main" id="{1D8B9211-3976-4C8A-8361-47AA396BE2BF}"/>
              </a:ext>
            </a:extLst>
          </p:cNvPr>
          <p:cNvSpPr>
            <a:spLocks xmlns:a="http://schemas.openxmlformats.org/drawingml/2006/main" noGrp="1"/>
          </p:cNvSpPr>
          <p:nvPr/>
        </p:nvSpPr>
        <p:spPr>
          <a:xfrm xmlns:a="http://schemas.openxmlformats.org/drawingml/2006/main">
            <a:off x="8115300" y="2124075"/>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12 стало 7</a:t>
            </a:r>
          </a:p>
        </p:txBody>
      </p:sp>
      <p:sp>
        <p:nvSpPr>
          <p:cNvPr id="5" name="">
            <a:extLst xmlns:a="http://schemas.openxmlformats.org/drawingml/2006/main">
              <a:ext uri="{FF2B5EF4-FFF2-40B4-BE49-F238E27FC236}">
                <a16:creationId xmlns:a16="http://schemas.microsoft.com/office/drawing/2014/main" id="{FF25E49D-7E45-43C5-9426-42598B633DB7}"/>
              </a:ext>
            </a:extLst>
          </p:cNvPr>
          <p:cNvSpPr>
            <a:spLocks xmlns:a="http://schemas.openxmlformats.org/drawingml/2006/main" noGrp="1"/>
          </p:cNvSpPr>
          <p:nvPr/>
        </p:nvSpPr>
        <p:spPr>
          <a:xfrm xmlns:a="http://schemas.openxmlformats.org/drawingml/2006/main">
            <a:off x="8286750" y="3105150"/>
            <a:ext cx="319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7DFD6"/>
                </a:solidFill>
                <a:latin typeface="Arial"/>
                <a:ea typeface="Arial"/>
                <a:cs typeface="Arial"/>
              </a:defRPr>
            </a:pPr>
            <a:r>
              <a:rPr sz="2025" b="0">
                <a:solidFill>
                  <a:srgbClr val="D7DFD6"/>
                </a:solidFill>
                <a:latin typeface="Arial"/>
                <a:ea typeface="Arial"/>
                <a:cs typeface="Arial"/>
              </a:rPr>
              <a:t>ложных заявок</a:t>
            </a:r>
          </a:p>
        </p:txBody>
      </p:sp>
      <p:sp>
        <p:nvSpPr>
          <p:cNvPr id="6" name="">
            <a:extLst xmlns:a="http://schemas.openxmlformats.org/drawingml/2006/main">
              <a:ext uri="{FF2B5EF4-FFF2-40B4-BE49-F238E27FC236}">
                <a16:creationId xmlns:a16="http://schemas.microsoft.com/office/drawing/2014/main" id="{F903D34A-6B66-4794-A8F4-8D005F999846}"/>
              </a:ext>
            </a:extLst>
          </p:cNvPr>
          <p:cNvSpPr>
            <a:spLocks xmlns:a="http://schemas.openxmlformats.org/drawingml/2006/main" noGrp="1"/>
          </p:cNvSpPr>
          <p:nvPr/>
        </p:nvSpPr>
        <p:spPr>
          <a:xfrm xmlns:a="http://schemas.openxmlformats.org/drawingml/2006/main">
            <a:off x="8239125" y="4229100"/>
            <a:ext cx="333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1E9"/>
                </a:solidFill>
                <a:latin typeface="Arial"/>
                <a:ea typeface="Arial"/>
                <a:cs typeface="Arial"/>
              </a:defRPr>
            </a:pPr>
            <a:r>
              <a:rPr sz="3375" b="1">
                <a:solidFill>
                  <a:srgbClr val="F3F1E9"/>
                </a:solidFill>
                <a:latin typeface="Arial"/>
                <a:ea typeface="Arial"/>
                <a:cs typeface="Arial"/>
              </a:rPr>
              <a:t>9 из 22</a:t>
            </a:r>
          </a:p>
        </p:txBody>
      </p:sp>
      <p:sp>
        <p:nvSpPr>
          <p:cNvPr id="7" name="">
            <a:extLst xmlns:a="http://schemas.openxmlformats.org/drawingml/2006/main">
              <a:ext uri="{FF2B5EF4-FFF2-40B4-BE49-F238E27FC236}">
                <a16:creationId xmlns:a16="http://schemas.microsoft.com/office/drawing/2014/main" id="{0B4B91A8-B585-4B51-821F-FC6834245826}"/>
              </a:ext>
            </a:extLst>
          </p:cNvPr>
          <p:cNvSpPr>
            <a:spLocks xmlns:a="http://schemas.openxmlformats.org/drawingml/2006/main" noGrp="1"/>
          </p:cNvSpPr>
          <p:nvPr/>
        </p:nvSpPr>
        <p:spPr>
          <a:xfrm xmlns:a="http://schemas.openxmlformats.org/drawingml/2006/main">
            <a:off x="8286750" y="5057775"/>
            <a:ext cx="31718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7DFD6"/>
                </a:solidFill>
                <a:latin typeface="Arial"/>
                <a:ea typeface="Arial"/>
                <a:cs typeface="Arial"/>
              </a:defRPr>
            </a:pPr>
            <a:r>
              <a:rPr sz="2025" b="0">
                <a:solidFill>
                  <a:srgbClr val="D7DFD6"/>
                </a:solidFill>
                <a:latin typeface="Arial"/>
                <a:ea typeface="Arial"/>
                <a:cs typeface="Arial"/>
              </a:rPr>
              <a:t>найдено в обоих вариантах</a:t>
            </a:r>
          </a:p>
        </p:txBody>
      </p:sp>
      <p:sp>
        <p:nvSpPr>
          <p:cNvPr id="8" name="">
            <a:extLst xmlns:a="http://schemas.openxmlformats.org/drawingml/2006/main">
              <a:ext uri="{FF2B5EF4-FFF2-40B4-BE49-F238E27FC236}">
                <a16:creationId xmlns:a16="http://schemas.microsoft.com/office/drawing/2014/main" id="{72042E87-C327-4D32-A8FF-5BD2744327E2}"/>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Ансамбль 8 моделей против LightGBM. Январь–июнь 2026, ретроспективный replay.</a:t>
            </a:r>
          </a:p>
        </p:txBody>
      </p:sp>
      <p:sp>
        <p:nvSpPr>
          <p:cNvPr id="9" name="">
            <a:extLst xmlns:a="http://schemas.openxmlformats.org/drawingml/2006/main">
              <a:ext uri="{FF2B5EF4-FFF2-40B4-BE49-F238E27FC236}">
                <a16:creationId xmlns:a16="http://schemas.microsoft.com/office/drawing/2014/main" id="{3FDD6BD9-8F87-47B1-BBF7-333CF16FC0A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02</a:t>
            </a:r>
          </a:p>
        </p:txBody>
      </p:sp>
    </p:spTree>
    <p:extLst>
      <p:ext uri="{BB962C8B-B14F-4D97-AF65-F5344CB8AC3E}">
        <p14:creationId xmlns:p14="http://schemas.microsoft.com/office/powerpoint/2010/main" val="245025361"/>
      </p:ext>
    </p:extLst>
  </p:cSld>
</p:sld>
</file>

<file path=ppt/slides/slide3.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B17259-9C84-4248-BE54-2E7CFA455C84}"/>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135,3 млн событий</a:t>
            </a:r>
          </a:p>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в одной очереди внимания</a:t>
            </a:r>
          </a:p>
        </p:txBody>
      </p:sp>
      <p:sp>
        <p:nvSpPr>
          <p:cNvPr id="2" name="">
            <a:extLst xmlns:a="http://schemas.openxmlformats.org/drawingml/2006/main">
              <a:ext uri="{FF2B5EF4-FFF2-40B4-BE49-F238E27FC236}">
                <a16:creationId xmlns:a16="http://schemas.microsoft.com/office/drawing/2014/main" id="{0EBD925B-2CF2-4374-8E15-3F7CA1C46EC4}"/>
              </a:ext>
            </a:extLst>
          </p:cNvPr>
          <p:cNvSpPr>
            <a:spLocks xmlns:a="http://schemas.openxmlformats.org/drawingml/2006/main" noGrp="1"/>
          </p:cNvSpPr>
          <p:nvPr/>
        </p:nvSpPr>
        <p:spPr>
          <a:xfrm xmlns:a="http://schemas.openxmlformats.org/drawingml/2006/main">
            <a:off x="609600" y="1962150"/>
            <a:ext cx="6429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900" b="1">
                <a:solidFill>
                  <a:srgbClr val="183C30"/>
                </a:solidFill>
                <a:latin typeface="Arial"/>
                <a:ea typeface="Arial"/>
                <a:cs typeface="Arial"/>
              </a:defRPr>
            </a:pPr>
            <a:r>
              <a:rPr sz="9900" b="1">
                <a:solidFill>
                  <a:srgbClr val="183C30"/>
                </a:solidFill>
                <a:latin typeface="Arial"/>
                <a:ea typeface="Arial"/>
                <a:cs typeface="Arial"/>
              </a:rPr>
              <a:t>135,3</a:t>
            </a:r>
          </a:p>
        </p:txBody>
      </p:sp>
      <p:sp>
        <p:nvSpPr>
          <p:cNvPr id="3" name="">
            <a:extLst xmlns:a="http://schemas.openxmlformats.org/drawingml/2006/main">
              <a:ext uri="{FF2B5EF4-FFF2-40B4-BE49-F238E27FC236}">
                <a16:creationId xmlns:a16="http://schemas.microsoft.com/office/drawing/2014/main" id="{5B12D977-5308-4C31-9B31-AF2E2CA3C5EC}"/>
              </a:ext>
            </a:extLst>
          </p:cNvPr>
          <p:cNvSpPr>
            <a:spLocks xmlns:a="http://schemas.openxmlformats.org/drawingml/2006/main" noGrp="1"/>
          </p:cNvSpPr>
          <p:nvPr/>
        </p:nvSpPr>
        <p:spPr>
          <a:xfrm xmlns:a="http://schemas.openxmlformats.org/drawingml/2006/main">
            <a:off x="723900" y="36576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65766B"/>
                </a:solidFill>
                <a:latin typeface="Arial"/>
                <a:ea typeface="Arial"/>
                <a:cs typeface="Arial"/>
              </a:defRPr>
            </a:pPr>
            <a:r>
              <a:rPr sz="2475" b="0">
                <a:solidFill>
                  <a:srgbClr val="65766B"/>
                </a:solidFill>
                <a:latin typeface="Arial"/>
                <a:ea typeface="Arial"/>
                <a:cs typeface="Arial"/>
              </a:rPr>
              <a:t>млн строк за 2024–2026</a:t>
            </a:r>
          </a:p>
        </p:txBody>
      </p:sp>
      <p:sp>
        <p:nvSpPr>
          <p:cNvPr id="4" name="">
            <a:extLst xmlns:a="http://schemas.openxmlformats.org/drawingml/2006/main">
              <a:ext uri="{FF2B5EF4-FFF2-40B4-BE49-F238E27FC236}">
                <a16:creationId xmlns:a16="http://schemas.microsoft.com/office/drawing/2014/main" id="{7CFD8A74-3B28-4BA1-B1FE-E1D006273E10}"/>
              </a:ext>
            </a:extLst>
          </p:cNvPr>
          <p:cNvSpPr>
            <a:spLocks xmlns:a="http://schemas.openxmlformats.org/drawingml/2006/main" noGrp="1"/>
          </p:cNvSpPr>
          <p:nvPr/>
        </p:nvSpPr>
        <p:spPr>
          <a:xfrm xmlns:a="http://schemas.openxmlformats.org/drawingml/2006/main">
            <a:off x="7543800" y="1866900"/>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83C30"/>
                </a:solidFill>
                <a:latin typeface="Arial"/>
                <a:ea typeface="Arial"/>
                <a:cs typeface="Arial"/>
              </a:defRPr>
            </a:pPr>
            <a:r>
              <a:rPr sz="2625" b="1">
                <a:solidFill>
                  <a:srgbClr val="183C30"/>
                </a:solidFill>
                <a:latin typeface="Arial"/>
                <a:ea typeface="Arial"/>
                <a:cs typeface="Arial"/>
              </a:rPr>
              <a:t>Смена получает</a:t>
            </a:r>
          </a:p>
        </p:txBody>
      </p:sp>
      <p:sp>
        <p:nvSpPr>
          <p:cNvPr id="5" name="">
            <a:extLst xmlns:a="http://schemas.openxmlformats.org/drawingml/2006/main">
              <a:ext uri="{FF2B5EF4-FFF2-40B4-BE49-F238E27FC236}">
                <a16:creationId xmlns:a16="http://schemas.microsoft.com/office/drawing/2014/main" id="{A3302650-7C07-4EEB-BD53-63ACE4E5C524}"/>
              </a:ext>
            </a:extLst>
          </p:cNvPr>
          <p:cNvSpPr>
            <a:spLocks xmlns:a="http://schemas.openxmlformats.org/drawingml/2006/main" noGrp="1"/>
          </p:cNvSpPr>
          <p:nvPr/>
        </p:nvSpPr>
        <p:spPr>
          <a:xfrm xmlns:a="http://schemas.openxmlformats.org/drawingml/2006/main">
            <a:off x="7591425" y="2781300"/>
            <a:ext cx="3952875"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Приоритет проверки</a:t>
            </a:r>
          </a:p>
          <a:p xmlns:a="http://schemas.openxmlformats.org/drawingml/2006/main">
            <a:r>
              <a:t/>
            </a:r>
          </a:p>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События, объясняющие риск</a:t>
            </a:r>
          </a:p>
          <a:p xmlns:a="http://schemas.openxmlformats.org/drawingml/2006/main">
            <a:r>
              <a:t/>
            </a:r>
          </a:p>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Историю решений по группе</a:t>
            </a:r>
          </a:p>
        </p:txBody>
      </p:sp>
      <p:sp>
        <p:nvSpPr>
          <p:cNvPr id="6" name="">
            <a:extLst xmlns:a="http://schemas.openxmlformats.org/drawingml/2006/main">
              <a:ext uri="{FF2B5EF4-FFF2-40B4-BE49-F238E27FC236}">
                <a16:creationId xmlns:a16="http://schemas.microsoft.com/office/drawing/2014/main" id="{869C5D48-BC6B-40ED-BAC1-CD6B4F92B48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Объём журналов сам по себе не определяет качество. Единица результата: полезная заявка.</a:t>
            </a:r>
          </a:p>
        </p:txBody>
      </p:sp>
      <p:sp>
        <p:nvSpPr>
          <p:cNvPr id="7" name="">
            <a:extLst xmlns:a="http://schemas.openxmlformats.org/drawingml/2006/main">
              <a:ext uri="{FF2B5EF4-FFF2-40B4-BE49-F238E27FC236}">
                <a16:creationId xmlns:a16="http://schemas.microsoft.com/office/drawing/2014/main" id="{85A0BC49-7A93-4E84-B4E5-E69006453AC0}"/>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03</a:t>
            </a:r>
          </a:p>
        </p:txBody>
      </p:sp>
    </p:spTree>
    <p:extLst>
      <p:ext uri="{BB962C8B-B14F-4D97-AF65-F5344CB8AC3E}">
        <p14:creationId xmlns:p14="http://schemas.microsoft.com/office/powerpoint/2010/main" val="430427173"/>
      </p:ext>
    </p:extLst>
  </p:cSld>
</p:sld>
</file>

<file path=ppt/slides/slide4.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6A450C-18B9-40EA-AC63-CD374F9DBAEA}"/>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Рабочее место диспетчера</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3b6439da10d4fae"/>
          <a:stretch xmlns:a="http://schemas.openxmlformats.org/drawingml/2006/main"/>
        </p:blipFill>
        <p:spPr>
          <a:xfrm xmlns:a="http://schemas.openxmlformats.org/drawingml/2006/main">
            <a:off x="4422648" y="1476375"/>
            <a:ext cx="6775704" cy="47053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77FE33D-DC12-4107-9ACB-BD6E2BA9FE66}"/>
              </a:ext>
            </a:extLst>
          </p:cNvPr>
          <p:cNvSpPr>
            <a:spLocks xmlns:a="http://schemas.openxmlformats.org/drawingml/2006/main" noGrp="1"/>
          </p:cNvSpPr>
          <p:nvPr/>
        </p:nvSpPr>
        <p:spPr>
          <a:xfrm xmlns:a="http://schemas.openxmlformats.org/drawingml/2006/main">
            <a:off x="619125" y="192405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7B971ADA-9142-45EA-B081-4181C8F2B1FF}"/>
              </a:ext>
            </a:extLst>
          </p:cNvPr>
          <p:cNvSpPr>
            <a:spLocks xmlns:a="http://schemas.openxmlformats.org/drawingml/2006/main" noGrp="1"/>
          </p:cNvSpPr>
          <p:nvPr/>
        </p:nvSpPr>
        <p:spPr>
          <a:xfrm xmlns:a="http://schemas.openxmlformats.org/drawingml/2006/main">
            <a:off x="619125" y="255270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C30"/>
                </a:solidFill>
                <a:latin typeface="Arial"/>
                <a:ea typeface="Arial"/>
                <a:cs typeface="Arial"/>
              </a:defRPr>
            </a:pPr>
            <a:r>
              <a:rPr sz="2325" b="1">
                <a:solidFill>
                  <a:srgbClr val="183C30"/>
                </a:solidFill>
                <a:latin typeface="Arial"/>
                <a:ea typeface="Arial"/>
                <a:cs typeface="Arial"/>
              </a:rPr>
              <a:t>Очередь групп</a:t>
            </a:r>
          </a:p>
        </p:txBody>
      </p:sp>
      <p:sp>
        <p:nvSpPr>
          <p:cNvPr id="5" name="">
            <a:extLst xmlns:a="http://schemas.openxmlformats.org/drawingml/2006/main">
              <a:ext uri="{FF2B5EF4-FFF2-40B4-BE49-F238E27FC236}">
                <a16:creationId xmlns:a16="http://schemas.microsoft.com/office/drawing/2014/main" id="{0937FDA6-D72F-4D92-AAEC-7087F0EB2A01}"/>
              </a:ext>
            </a:extLst>
          </p:cNvPr>
          <p:cNvSpPr>
            <a:spLocks xmlns:a="http://schemas.openxmlformats.org/drawingml/2006/main" noGrp="1"/>
          </p:cNvSpPr>
          <p:nvPr/>
        </p:nvSpPr>
        <p:spPr>
          <a:xfrm xmlns:a="http://schemas.openxmlformats.org/drawingml/2006/main">
            <a:off x="619125" y="3590925"/>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1C4713D7-A759-4D0B-B217-AC0DD3B0EAB1}"/>
              </a:ext>
            </a:extLst>
          </p:cNvPr>
          <p:cNvSpPr>
            <a:spLocks xmlns:a="http://schemas.openxmlformats.org/drawingml/2006/main" noGrp="1"/>
          </p:cNvSpPr>
          <p:nvPr/>
        </p:nvSpPr>
        <p:spPr>
          <a:xfrm xmlns:a="http://schemas.openxmlformats.org/drawingml/2006/main">
            <a:off x="619125" y="4200525"/>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C30"/>
                </a:solidFill>
                <a:latin typeface="Arial"/>
                <a:ea typeface="Arial"/>
                <a:cs typeface="Arial"/>
              </a:defRPr>
            </a:pPr>
            <a:r>
              <a:rPr sz="2325" b="1">
                <a:solidFill>
                  <a:srgbClr val="183C30"/>
                </a:solidFill>
                <a:latin typeface="Arial"/>
                <a:ea typeface="Arial"/>
                <a:cs typeface="Arial"/>
              </a:rPr>
              <a:t>Основания риска</a:t>
            </a:r>
          </a:p>
        </p:txBody>
      </p:sp>
      <p:sp>
        <p:nvSpPr>
          <p:cNvPr id="7" name="">
            <a:extLst xmlns:a="http://schemas.openxmlformats.org/drawingml/2006/main">
              <a:ext uri="{FF2B5EF4-FFF2-40B4-BE49-F238E27FC236}">
                <a16:creationId xmlns:a16="http://schemas.microsoft.com/office/drawing/2014/main" id="{F9CE2D05-4EE7-4064-AF2C-761D620A5461}"/>
              </a:ext>
            </a:extLst>
          </p:cNvPr>
          <p:cNvSpPr>
            <a:spLocks xmlns:a="http://schemas.openxmlformats.org/drawingml/2006/main" noGrp="1"/>
          </p:cNvSpPr>
          <p:nvPr/>
        </p:nvSpPr>
        <p:spPr>
          <a:xfrm xmlns:a="http://schemas.openxmlformats.org/drawingml/2006/main">
            <a:off x="619125" y="5257800"/>
            <a:ext cx="95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DF0E3505-560C-4E03-85F5-EFFD4B198FAC}"/>
              </a:ext>
            </a:extLst>
          </p:cNvPr>
          <p:cNvSpPr>
            <a:spLocks xmlns:a="http://schemas.openxmlformats.org/drawingml/2006/main" noGrp="1"/>
          </p:cNvSpPr>
          <p:nvPr/>
        </p:nvSpPr>
        <p:spPr>
          <a:xfrm xmlns:a="http://schemas.openxmlformats.org/drawingml/2006/main">
            <a:off x="619125" y="5819775"/>
            <a:ext cx="3371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83C30"/>
                </a:solidFill>
                <a:latin typeface="Arial"/>
                <a:ea typeface="Arial"/>
                <a:cs typeface="Arial"/>
              </a:defRPr>
            </a:pPr>
            <a:r>
              <a:rPr sz="2100" b="1">
                <a:solidFill>
                  <a:srgbClr val="183C30"/>
                </a:solidFill>
                <a:latin typeface="Arial"/>
                <a:ea typeface="Arial"/>
                <a:cs typeface="Arial"/>
              </a:rPr>
              <a:t>Решение о проверке</a:t>
            </a:r>
          </a:p>
        </p:txBody>
      </p:sp>
    </p:spTree>
    <p:extLst>
      <p:ext uri="{BB962C8B-B14F-4D97-AF65-F5344CB8AC3E}">
        <p14:creationId xmlns:p14="http://schemas.microsoft.com/office/powerpoint/2010/main" val="868464201"/>
      </p:ext>
    </p:extLst>
  </p:cSld>
</p:sld>
</file>

<file path=ppt/slides/slide5.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C7A826-F935-498D-B901-A53E47C57125}"/>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Предупреждение за 14,6 дня</a:t>
            </a:r>
          </a:p>
        </p:txBody>
      </p:sp>
      <p:graphicFrame>
        <p:nvGraphicFramePr>
          <p:cNvPr id="9" name="Chart"/>
          <p:cNvGraphicFramePr/>
          <p:nvPr/>
        </p:nvGraphicFramePr>
        <p:xfrm>
          <a:off xmlns:a="http://schemas.openxmlformats.org/drawingml/2006/main" x="609600" y="1752600"/>
          <a:ext xmlns:a="http://schemas.openxmlformats.org/drawingml/2006/main" cx="7543800" cy="4124325"/>
        </p:xfrm>
        <a:graphic xmlns:a="http://schemas.openxmlformats.org/drawingml/2006/main">
          <a:graphicData uri="http://schemas.openxmlformats.org/drawingml/2006/chart">
            <c:chart xmlns:r="http://schemas.openxmlformats.org/officeDocument/2006/relationships" xmlns:c="http://schemas.openxmlformats.org/drawingml/2006/chart" r:id="R7255a6730b714d27"/>
          </a:graphicData>
        </a:graphic>
      </p:graphicFrame>
      <p:sp>
        <p:nvSpPr>
          <p:cNvPr id="3" name="">
            <a:extLst xmlns:a="http://schemas.openxmlformats.org/drawingml/2006/main">
              <a:ext uri="{FF2B5EF4-FFF2-40B4-BE49-F238E27FC236}">
                <a16:creationId xmlns:a16="http://schemas.microsoft.com/office/drawing/2014/main" id="{95DC348E-95A5-4250-8DEC-2D0C48783592}"/>
              </a:ext>
            </a:extLst>
          </p:cNvPr>
          <p:cNvSpPr>
            <a:spLocks xmlns:a="http://schemas.openxmlformats.org/drawingml/2006/main" noGrp="1"/>
          </p:cNvSpPr>
          <p:nvPr/>
        </p:nvSpPr>
        <p:spPr>
          <a:xfrm xmlns:a="http://schemas.openxmlformats.org/drawingml/2006/main">
            <a:off x="8534400" y="1905000"/>
            <a:ext cx="304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8F77B"/>
                </a:solidFill>
                <a:latin typeface="Arial"/>
                <a:ea typeface="Arial"/>
                <a:cs typeface="Arial"/>
              </a:defRPr>
            </a:pPr>
            <a:r>
              <a:rPr sz="3375" b="1">
                <a:solidFill>
                  <a:srgbClr val="D8F77B"/>
                </a:solidFill>
                <a:latin typeface="Arial"/>
                <a:ea typeface="Arial"/>
                <a:cs typeface="Arial"/>
              </a:rPr>
              <a:t>553-1</a:t>
            </a:r>
          </a:p>
        </p:txBody>
      </p:sp>
      <p:sp>
        <p:nvSpPr>
          <p:cNvPr id="4" name="">
            <a:extLst xmlns:a="http://schemas.openxmlformats.org/drawingml/2006/main">
              <a:ext uri="{FF2B5EF4-FFF2-40B4-BE49-F238E27FC236}">
                <a16:creationId xmlns:a16="http://schemas.microsoft.com/office/drawing/2014/main" id="{0828FAE8-2067-47F8-9B61-66E1273C86C2}"/>
              </a:ext>
            </a:extLst>
          </p:cNvPr>
          <p:cNvSpPr>
            <a:spLocks xmlns:a="http://schemas.openxmlformats.org/drawingml/2006/main" noGrp="1"/>
          </p:cNvSpPr>
          <p:nvPr/>
        </p:nvSpPr>
        <p:spPr>
          <a:xfrm xmlns:a="http://schemas.openxmlformats.org/drawingml/2006/main">
            <a:off x="8572500" y="2876550"/>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29 марта</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предупреждение</a:t>
            </a:r>
          </a:p>
        </p:txBody>
      </p:sp>
      <p:sp>
        <p:nvSpPr>
          <p:cNvPr id="5" name="">
            <a:extLst xmlns:a="http://schemas.openxmlformats.org/drawingml/2006/main">
              <a:ext uri="{FF2B5EF4-FFF2-40B4-BE49-F238E27FC236}">
                <a16:creationId xmlns:a16="http://schemas.microsoft.com/office/drawing/2014/main" id="{D6FFA74A-1052-4373-9580-E52EA2419159}"/>
              </a:ext>
            </a:extLst>
          </p:cNvPr>
          <p:cNvSpPr>
            <a:spLocks xmlns:a="http://schemas.openxmlformats.org/drawingml/2006/main" noGrp="1"/>
          </p:cNvSpPr>
          <p:nvPr/>
        </p:nvSpPr>
        <p:spPr>
          <a:xfrm xmlns:a="http://schemas.openxmlformats.org/drawingml/2006/main">
            <a:off x="8572500" y="4362450"/>
            <a:ext cx="285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13 апреля</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начало инцидента</a:t>
            </a:r>
          </a:p>
        </p:txBody>
      </p:sp>
      <p:sp>
        <p:nvSpPr>
          <p:cNvPr id="6" name="">
            <a:extLst xmlns:a="http://schemas.openxmlformats.org/drawingml/2006/main">
              <a:ext uri="{FF2B5EF4-FFF2-40B4-BE49-F238E27FC236}">
                <a16:creationId xmlns:a16="http://schemas.microsoft.com/office/drawing/2014/main" id="{7CE9E91D-4FE8-4342-8828-08EBB1EAAF0E}"/>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Один успешный пример из полного replay. Групповой диагностический инцидент.</a:t>
            </a:r>
          </a:p>
        </p:txBody>
      </p:sp>
      <p:sp>
        <p:nvSpPr>
          <p:cNvPr id="7" name="">
            <a:extLst xmlns:a="http://schemas.openxmlformats.org/drawingml/2006/main">
              <a:ext uri="{FF2B5EF4-FFF2-40B4-BE49-F238E27FC236}">
                <a16:creationId xmlns:a16="http://schemas.microsoft.com/office/drawing/2014/main" id="{B2CEFEE2-C4D9-4EDE-9BF6-29276B4589F8}"/>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05</a:t>
            </a:r>
          </a:p>
        </p:txBody>
      </p:sp>
    </p:spTree>
    <p:extLst>
      <p:ext uri="{BB962C8B-B14F-4D97-AF65-F5344CB8AC3E}">
        <p14:creationId xmlns:p14="http://schemas.microsoft.com/office/powerpoint/2010/main" val="1009002284"/>
      </p:ext>
    </p:extLst>
  </p:cSld>
</p:sld>
</file>

<file path=ppt/slides/slide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41177DB-62D0-4E92-960E-2EA0351CCA94}"/>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22 классификатора и 3 регрессора</a:t>
            </a:r>
          </a:p>
        </p:txBody>
      </p:sp>
      <p:graphicFrame>
        <p:nvGraphicFramePr>
          <p:cNvPr id="6" name=""/>
          <p:cNvGraphicFramePr/>
          <p:nvPr/>
        </p:nvGraphicFramePr>
        <p:xfrm>
          <a:off xmlns:a="http://schemas.openxmlformats.org/drawingml/2006/main" x="609600" y="1885950"/>
          <a:ext xmlns:a="http://schemas.openxmlformats.org/drawingml/2006/main" cx="10972800" cy="3476625"/>
        </p:xfrm>
        <a:graphic xmlns:a="http://schemas.openxmlformats.org/drawingml/2006/main">
          <a:graphicData uri="http://schemas.openxmlformats.org/drawingml/2006/table">
            <a:tbl>
              <a:tblPr/>
              <a:tblGrid>
                <a:gridCol w="3286125"/>
                <a:gridCol w="7686675"/>
              </a:tblGrid>
              <a:tr h="695325">
                <a:tc>
                  <a:txBody>
                    <a:bodyPr/>
                    <a:lstStyle/>
                    <a:p>
                      <a:r>
                        <a:rPr sz="1800" b="1">
                          <a:solidFill>
                            <a:srgbClr val="0D201B"/>
                          </a:solidFill>
                          <a:latin typeface="Arial"/>
                          <a:ea typeface="Arial"/>
                          <a:cs typeface="Arial"/>
                        </a:rPr>
                        <a:t>Слой</a:t>
                      </a:r>
                    </a:p>
                  </a:txBody>
                  <a:tcPr marL="133350" marR="133350" marT="95250" marB="95250">
                    <a:solidFill>
                      <a:srgbClr val="D8F77B"/>
                    </a:solidFill>
                  </a:tcPr>
                </a:tc>
                <a:tc>
                  <a:txBody>
                    <a:bodyPr/>
                    <a:lstStyle/>
                    <a:p>
                      <a:r>
                        <a:rPr sz="1800" b="1">
                          <a:solidFill>
                            <a:srgbClr val="0D201B"/>
                          </a:solidFill>
                          <a:latin typeface="Arial"/>
                          <a:ea typeface="Arial"/>
                          <a:cs typeface="Arial"/>
                        </a:rPr>
                        <a:t>Что он даёт</a:t>
                      </a:r>
                    </a:p>
                  </a:txBody>
                  <a:tcPr marL="133350" marR="133350" marT="95250" marB="95250">
                    <a:solidFill>
                      <a:srgbClr val="D8F77B"/>
                    </a:solidFill>
                  </a:tcPr>
                </a:tc>
              </a:tr>
              <a:tr h="695325">
                <a:tc>
                  <a:txBody>
                    <a:bodyPr/>
                    <a:lstStyle/>
                    <a:p>
                      <a:r>
                        <a:rPr sz="1800">
                          <a:solidFill>
                            <a:srgbClr val="F3F1E9"/>
                          </a:solidFill>
                          <a:latin typeface="Arial"/>
                          <a:ea typeface="Arial"/>
                          <a:cs typeface="Arial"/>
                        </a:rPr>
                        <a:t>25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22 классификатора и 3 интервальных регрессора</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362 признака</a:t>
                      </a:r>
                    </a:p>
                  </a:txBody>
                  <a:tcPr marL="133350" marR="133350" marT="95250" marB="95250">
                    <a:solidFill>
                      <a:srgbClr val="0D201B"/>
                    </a:solidFill>
                  </a:tcPr>
                </a:tc>
                <a:tc>
                  <a:txBody>
                    <a:bodyPr/>
                    <a:lstStyle/>
                    <a:p>
                      <a:r>
                        <a:rPr sz="1800">
                          <a:solidFill>
                            <a:srgbClr val="F3F1E9"/>
                          </a:solidFill>
                          <a:latin typeface="Arial"/>
                          <a:ea typeface="Arial"/>
                          <a:cs typeface="Arial"/>
                        </a:rPr>
                        <a:t>Дискретные события, повторяемость и измерения</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Временной OOF</a:t>
                      </a:r>
                    </a:p>
                  </a:txBody>
                  <a:tcPr marL="133350" marR="133350" marT="95250" marB="95250">
                    <a:solidFill>
                      <a:srgbClr val="0D201B"/>
                    </a:solidFill>
                  </a:tcPr>
                </a:tc>
                <a:tc>
                  <a:txBody>
                    <a:bodyPr/>
                    <a:lstStyle/>
                    <a:p>
                      <a:r>
                        <a:rPr sz="1800">
                          <a:solidFill>
                            <a:srgbClr val="F3F1E9"/>
                          </a:solidFill>
                          <a:latin typeface="Arial"/>
                          <a:ea typeface="Arial"/>
                          <a:cs typeface="Arial"/>
                        </a:rPr>
                        <a:t>Прогнозы только на следующих месяцах</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Политика заявок</a:t>
                      </a:r>
                    </a:p>
                  </a:txBody>
                  <a:tcPr marL="133350" marR="133350" marT="95250" marB="95250">
                    <a:solidFill>
                      <a:srgbClr val="0D201B"/>
                    </a:solidFill>
                  </a:tcPr>
                </a:tc>
                <a:tc>
                  <a:txBody>
                    <a:bodyPr/>
                    <a:lstStyle/>
                    <a:p>
                      <a:r>
                        <a:rPr sz="1800">
                          <a:solidFill>
                            <a:srgbClr val="F3F1E9"/>
                          </a:solidFill>
                          <a:latin typeface="Arial"/>
                          <a:ea typeface="Arial"/>
                          <a:cs typeface="Arial"/>
                        </a:rPr>
                        <a:t>Порог на калибровке и пауза 14 дней</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4467C86D-E947-48E2-A4AF-3B1982C59BCA}"/>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В опубликованном ансамбле 8 моделей и 178 признаков. Расширенный поиск не дал устойчивого улучшения.</a:t>
            </a:r>
          </a:p>
        </p:txBody>
      </p:sp>
      <p:sp>
        <p:nvSpPr>
          <p:cNvPr id="4" name="">
            <a:extLst xmlns:a="http://schemas.openxmlformats.org/drawingml/2006/main">
              <a:ext uri="{FF2B5EF4-FFF2-40B4-BE49-F238E27FC236}">
                <a16:creationId xmlns:a16="http://schemas.microsoft.com/office/drawing/2014/main" id="{5E1487C2-40C3-4027-9707-AA37E5E7580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06</a:t>
            </a:r>
          </a:p>
        </p:txBody>
      </p:sp>
    </p:spTree>
    <p:extLst>
      <p:ext uri="{BB962C8B-B14F-4D97-AF65-F5344CB8AC3E}">
        <p14:creationId xmlns:p14="http://schemas.microsoft.com/office/powerpoint/2010/main" val="1783826378"/>
      </p:ext>
    </p:extLst>
  </p:cSld>
</p:sld>
</file>

<file path=ppt/slides/slide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B10A5F5-87AD-402B-B394-0372E66019E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Признаки, которые знают</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историю конкретного сбоя</a:t>
            </a:r>
          </a:p>
        </p:txBody>
      </p:sp>
      <p:sp>
        <p:nvSpPr>
          <p:cNvPr id="2" name="">
            <a:extLst xmlns:a="http://schemas.openxmlformats.org/drawingml/2006/main">
              <a:ext uri="{FF2B5EF4-FFF2-40B4-BE49-F238E27FC236}">
                <a16:creationId xmlns:a16="http://schemas.microsoft.com/office/drawing/2014/main" id="{ED7DEF4D-1F32-44C9-8BF4-59E05449653C}"/>
              </a:ext>
            </a:extLst>
          </p:cNvPr>
          <p:cNvSpPr>
            <a:spLocks xmlns:a="http://schemas.openxmlformats.org/drawingml/2006/main" noGrp="1"/>
          </p:cNvSpPr>
          <p:nvPr/>
        </p:nvSpPr>
        <p:spPr>
          <a:xfrm xmlns:a="http://schemas.openxmlformats.org/drawingml/2006/main">
            <a:off x="628650" y="1924050"/>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Плотность повторов</a:t>
            </a:r>
          </a:p>
        </p:txBody>
      </p:sp>
      <p:sp>
        <p:nvSpPr>
          <p:cNvPr id="3" name="">
            <a:extLst xmlns:a="http://schemas.openxmlformats.org/drawingml/2006/main">
              <a:ext uri="{FF2B5EF4-FFF2-40B4-BE49-F238E27FC236}">
                <a16:creationId xmlns:a16="http://schemas.microsoft.com/office/drawing/2014/main" id="{1EB36588-2EBB-4204-8779-29D2A3AFAC7E}"/>
              </a:ext>
            </a:extLst>
          </p:cNvPr>
          <p:cNvSpPr>
            <a:spLocks xmlns:a="http://schemas.openxmlformats.org/drawingml/2006/main" noGrp="1"/>
          </p:cNvSpPr>
          <p:nvPr/>
        </p:nvSpPr>
        <p:spPr>
          <a:xfrm xmlns:a="http://schemas.openxmlformats.org/drawingml/2006/main">
            <a:off x="647700" y="2647950"/>
            <a:ext cx="4905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Эпизоды за 7 дней /</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число затронутых каналов</a:t>
            </a:r>
          </a:p>
        </p:txBody>
      </p:sp>
      <p:sp>
        <p:nvSpPr>
          <p:cNvPr id="4" name="">
            <a:extLst xmlns:a="http://schemas.openxmlformats.org/drawingml/2006/main">
              <a:ext uri="{FF2B5EF4-FFF2-40B4-BE49-F238E27FC236}">
                <a16:creationId xmlns:a16="http://schemas.microsoft.com/office/drawing/2014/main" id="{568144EE-6090-46BB-9778-62E8FCEAECC2}"/>
              </a:ext>
            </a:extLst>
          </p:cNvPr>
          <p:cNvSpPr>
            <a:spLocks xmlns:a="http://schemas.openxmlformats.org/drawingml/2006/main" noGrp="1"/>
          </p:cNvSpPr>
          <p:nvPr/>
        </p:nvSpPr>
        <p:spPr>
          <a:xfrm xmlns:a="http://schemas.openxmlformats.org/drawingml/2006/main">
            <a:off x="6334125" y="19240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Хрупкое восстановление</a:t>
            </a:r>
          </a:p>
        </p:txBody>
      </p:sp>
      <p:sp>
        <p:nvSpPr>
          <p:cNvPr id="5" name="">
            <a:extLst xmlns:a="http://schemas.openxmlformats.org/drawingml/2006/main">
              <a:ext uri="{FF2B5EF4-FFF2-40B4-BE49-F238E27FC236}">
                <a16:creationId xmlns:a16="http://schemas.microsoft.com/office/drawing/2014/main" id="{C70E38B6-E766-4366-9E4F-C3AE4F6F82F8}"/>
              </a:ext>
            </a:extLst>
          </p:cNvPr>
          <p:cNvSpPr>
            <a:spLocks xmlns:a="http://schemas.openxmlformats.org/drawingml/2006/main" noGrp="1"/>
          </p:cNvSpPr>
          <p:nvPr/>
        </p:nvSpPr>
        <p:spPr>
          <a:xfrm xmlns:a="http://schemas.openxmlformats.org/drawingml/2006/main">
            <a:off x="6362700" y="2647950"/>
            <a:ext cx="51530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Возвраты в неизвестное состояние</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после переходов неисправности</a:t>
            </a:r>
          </a:p>
        </p:txBody>
      </p:sp>
      <p:sp>
        <p:nvSpPr>
          <p:cNvPr id="6" name="">
            <a:extLst xmlns:a="http://schemas.openxmlformats.org/drawingml/2006/main">
              <a:ext uri="{FF2B5EF4-FFF2-40B4-BE49-F238E27FC236}">
                <a16:creationId xmlns:a16="http://schemas.microsoft.com/office/drawing/2014/main" id="{A908A0BC-4A2E-404E-9480-34E4188C56BD}"/>
              </a:ext>
            </a:extLst>
          </p:cNvPr>
          <p:cNvSpPr>
            <a:spLocks xmlns:a="http://schemas.openxmlformats.org/drawingml/2006/main" noGrp="1"/>
          </p:cNvSpPr>
          <p:nvPr/>
        </p:nvSpPr>
        <p:spPr>
          <a:xfrm xmlns:a="http://schemas.openxmlformats.org/drawingml/2006/main">
            <a:off x="619125" y="4114800"/>
            <a:ext cx="5476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D8F77B"/>
                </a:solidFill>
                <a:latin typeface="Arial"/>
                <a:ea typeface="Arial"/>
                <a:cs typeface="Arial"/>
              </a:defRPr>
            </a:pPr>
            <a:r>
              <a:rPr sz="2475" b="1">
                <a:solidFill>
                  <a:srgbClr val="D8F77B"/>
                </a:solidFill>
                <a:latin typeface="Arial"/>
                <a:ea typeface="Arial"/>
                <a:cs typeface="Arial"/>
              </a:rPr>
              <a:t>Фаза повторного инцидента</a:t>
            </a:r>
          </a:p>
        </p:txBody>
      </p:sp>
      <p:sp>
        <p:nvSpPr>
          <p:cNvPr id="7" name="">
            <a:extLst xmlns:a="http://schemas.openxmlformats.org/drawingml/2006/main">
              <a:ext uri="{FF2B5EF4-FFF2-40B4-BE49-F238E27FC236}">
                <a16:creationId xmlns:a16="http://schemas.microsoft.com/office/drawing/2014/main" id="{80A22A07-D3FA-414F-925C-FF02106CC596}"/>
              </a:ext>
            </a:extLst>
          </p:cNvPr>
          <p:cNvSpPr>
            <a:spLocks xmlns:a="http://schemas.openxmlformats.org/drawingml/2006/main" noGrp="1"/>
          </p:cNvSpPr>
          <p:nvPr/>
        </p:nvSpPr>
        <p:spPr>
          <a:xfrm xmlns:a="http://schemas.openxmlformats.org/drawingml/2006/main">
            <a:off x="647700" y="4857750"/>
            <a:ext cx="5105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Время после последнего сбоя /</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типичный интервал этой группы</a:t>
            </a:r>
          </a:p>
        </p:txBody>
      </p:sp>
      <p:sp>
        <p:nvSpPr>
          <p:cNvPr id="8" name="">
            <a:extLst xmlns:a="http://schemas.openxmlformats.org/drawingml/2006/main">
              <a:ext uri="{FF2B5EF4-FFF2-40B4-BE49-F238E27FC236}">
                <a16:creationId xmlns:a16="http://schemas.microsoft.com/office/drawing/2014/main" id="{EFB38BAE-E216-41C0-8719-CE30FF9A4730}"/>
              </a:ext>
            </a:extLst>
          </p:cNvPr>
          <p:cNvSpPr>
            <a:spLocks xmlns:a="http://schemas.openxmlformats.org/drawingml/2006/main" noGrp="1"/>
          </p:cNvSpPr>
          <p:nvPr/>
        </p:nvSpPr>
        <p:spPr>
          <a:xfrm xmlns:a="http://schemas.openxmlformats.org/drawingml/2006/main">
            <a:off x="6334125" y="41148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Общий фон сети</a:t>
            </a:r>
          </a:p>
        </p:txBody>
      </p:sp>
      <p:sp>
        <p:nvSpPr>
          <p:cNvPr id="9" name="">
            <a:extLst xmlns:a="http://schemas.openxmlformats.org/drawingml/2006/main">
              <a:ext uri="{FF2B5EF4-FFF2-40B4-BE49-F238E27FC236}">
                <a16:creationId xmlns:a16="http://schemas.microsoft.com/office/drawing/2014/main" id="{0BBEE167-D85C-41E6-A42A-631FDB692F12}"/>
              </a:ext>
            </a:extLst>
          </p:cNvPr>
          <p:cNvSpPr>
            <a:spLocks xmlns:a="http://schemas.openxmlformats.org/drawingml/2006/main" noGrp="1"/>
          </p:cNvSpPr>
          <p:nvPr/>
        </p:nvSpPr>
        <p:spPr>
          <a:xfrm xmlns:a="http://schemas.openxmlformats.org/drawingml/2006/main">
            <a:off x="6362700" y="4857750"/>
            <a:ext cx="5162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Синхронная активность соседних</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 времени групп без самой группы</a:t>
            </a:r>
          </a:p>
        </p:txBody>
      </p:sp>
      <p:sp>
        <p:nvSpPr>
          <p:cNvPr id="10" name="">
            <a:extLst xmlns:a="http://schemas.openxmlformats.org/drawingml/2006/main">
              <a:ext uri="{FF2B5EF4-FFF2-40B4-BE49-F238E27FC236}">
                <a16:creationId xmlns:a16="http://schemas.microsoft.com/office/drawing/2014/main" id="{3E7C5D77-70D4-429B-88D3-8597AD9F861C}"/>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Доступность признака проверяется на дату прогноза. Будущие интервалы не попадают в историю.</a:t>
            </a:r>
          </a:p>
        </p:txBody>
      </p:sp>
      <p:sp>
        <p:nvSpPr>
          <p:cNvPr id="11" name="">
            <a:extLst xmlns:a="http://schemas.openxmlformats.org/drawingml/2006/main">
              <a:ext uri="{FF2B5EF4-FFF2-40B4-BE49-F238E27FC236}">
                <a16:creationId xmlns:a16="http://schemas.microsoft.com/office/drawing/2014/main" id="{86167E6A-8E52-4996-84C6-0499E31C85A3}"/>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07</a:t>
            </a:r>
          </a:p>
        </p:txBody>
      </p:sp>
    </p:spTree>
    <p:extLst>
      <p:ext uri="{BB962C8B-B14F-4D97-AF65-F5344CB8AC3E}">
        <p14:creationId xmlns:p14="http://schemas.microsoft.com/office/powerpoint/2010/main" val="11215789"/>
      </p:ext>
    </p:extLst>
  </p:cSld>
</p:sld>
</file>

<file path=ppt/slides/slide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D874CE-8158-4DEB-81DB-8ABA41C715D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Проверка идёт вперёд по времени</a:t>
            </a:r>
          </a:p>
        </p:txBody>
      </p:sp>
      <p:graphicFrame>
        <p:nvGraphicFramePr>
          <p:cNvPr id="8" name=""/>
          <p:cNvGraphicFramePr/>
          <p:nvPr/>
        </p:nvGraphicFramePr>
        <p:xfrm>
          <a:off xmlns:a="http://schemas.openxmlformats.org/drawingml/2006/main" x="609600" y="1847850"/>
          <a:ext xmlns:a="http://schemas.openxmlformats.org/drawingml/2006/main" cx="10972800" cy="2800350"/>
        </p:xfrm>
        <a:graphic xmlns:a="http://schemas.openxmlformats.org/drawingml/2006/main">
          <a:graphicData uri="http://schemas.openxmlformats.org/drawingml/2006/table">
            <a:tbl>
              <a:tblPr/>
              <a:tblGrid>
                <a:gridCol w="4048125"/>
                <a:gridCol w="6924675"/>
              </a:tblGrid>
              <a:tr h="700088">
                <a:tc>
                  <a:txBody>
                    <a:bodyPr/>
                    <a:lstStyle/>
                    <a:p>
                      <a:r>
                        <a:rPr sz="1800" b="1">
                          <a:solidFill>
                            <a:srgbClr val="0D201B"/>
                          </a:solidFill>
                          <a:latin typeface="Arial"/>
                          <a:ea typeface="Arial"/>
                          <a:cs typeface="Arial"/>
                        </a:rPr>
                        <a:t>Период</a:t>
                      </a:r>
                    </a:p>
                  </a:txBody>
                  <a:tcPr marL="133350" marR="133350" marT="95250" marB="95250">
                    <a:solidFill>
                      <a:srgbClr val="D8F77B"/>
                    </a:solidFill>
                  </a:tcPr>
                </a:tc>
                <a:tc>
                  <a:txBody>
                    <a:bodyPr/>
                    <a:lstStyle/>
                    <a:p>
                      <a:r>
                        <a:rPr sz="1800" b="1">
                          <a:solidFill>
                            <a:srgbClr val="0D201B"/>
                          </a:solidFill>
                          <a:latin typeface="Arial"/>
                          <a:ea typeface="Arial"/>
                          <a:cs typeface="Arial"/>
                        </a:rPr>
                        <a:t>Роль</a:t>
                      </a:r>
                    </a:p>
                  </a:txBody>
                  <a:tcPr marL="133350" marR="133350" marT="95250" marB="95250">
                    <a:solidFill>
                      <a:srgbClr val="D8F77B"/>
                    </a:solidFill>
                  </a:tcPr>
                </a:tc>
              </a:tr>
              <a:tr h="700088">
                <a:tc>
                  <a:txBody>
                    <a:bodyPr/>
                    <a:lstStyle/>
                    <a:p>
                      <a:r>
                        <a:rPr sz="1800">
                          <a:solidFill>
                            <a:srgbClr val="F3F1E9"/>
                          </a:solidFill>
                          <a:latin typeface="Arial"/>
                          <a:ea typeface="Arial"/>
                          <a:cs typeface="Arial"/>
                        </a:rPr>
                        <a:t>2024</a:t>
                      </a:r>
                    </a:p>
                  </a:txBody>
                  <a:tcPr marL="133350" marR="133350" marT="95250" marB="95250">
                    <a:solidFill>
                      <a:srgbClr val="0D201B"/>
                    </a:solidFill>
                  </a:tcPr>
                </a:tc>
                <a:tc>
                  <a:txBody>
                    <a:bodyPr/>
                    <a:lstStyle/>
                    <a:p>
                      <a:r>
                        <a:rPr sz="1800">
                          <a:solidFill>
                            <a:srgbClr val="F3F1E9"/>
                          </a:solidFill>
                          <a:latin typeface="Arial"/>
                          <a:ea typeface="Arial"/>
                          <a:cs typeface="Arial"/>
                        </a:rPr>
                        <a:t>Начальная история и первые месяцы OOF</a:t>
                      </a:r>
                    </a:p>
                  </a:txBody>
                  <a:tcPr marL="133350" marR="133350" marT="95250" marB="95250">
                    <a:solidFill>
                      <a:srgbClr val="0D201B"/>
                    </a:solidFill>
                  </a:tcPr>
                </a:tc>
              </a:tr>
              <a:tr h="700088">
                <a:tc>
                  <a:txBody>
                    <a:bodyPr/>
                    <a:lstStyle/>
                    <a:p>
                      <a:r>
                        <a:rPr sz="1800">
                          <a:solidFill>
                            <a:srgbClr val="F3F1E9"/>
                          </a:solidFill>
                          <a:latin typeface="Arial"/>
                          <a:ea typeface="Arial"/>
                          <a:cs typeface="Arial"/>
                        </a:rPr>
                        <a:t>Апрель–декабрь 2025</a:t>
                      </a:r>
                    </a:p>
                  </a:txBody>
                  <a:tcPr marL="133350" marR="133350" marT="95250" marB="95250">
                    <a:solidFill>
                      <a:srgbClr val="0D201B"/>
                    </a:solidFill>
                  </a:tcPr>
                </a:tc>
                <a:tc>
                  <a:txBody>
                    <a:bodyPr/>
                    <a:lstStyle/>
                    <a:p>
                      <a:r>
                        <a:rPr sz="1800">
                          <a:solidFill>
                            <a:srgbClr val="F3F1E9"/>
                          </a:solidFill>
                          <a:latin typeface="Arial"/>
                          <a:ea typeface="Arial"/>
                          <a:cs typeface="Arial"/>
                        </a:rPr>
                        <a:t>Выбор модели и политики по трём кварталам</a:t>
                      </a:r>
                    </a:p>
                  </a:txBody>
                  <a:tcPr marL="133350" marR="133350" marT="95250" marB="95250">
                    <a:solidFill>
                      <a:srgbClr val="0D201B"/>
                    </a:solidFill>
                  </a:tcPr>
                </a:tc>
              </a:tr>
              <a:tr h="700088">
                <a:tc>
                  <a:txBody>
                    <a:bodyPr/>
                    <a:lstStyle/>
                    <a:p>
                      <a:r>
                        <a:rPr sz="1800">
                          <a:solidFill>
                            <a:srgbClr val="F3F1E9"/>
                          </a:solidFill>
                          <a:latin typeface="Arial"/>
                          <a:ea typeface="Arial"/>
                          <a:cs typeface="Arial"/>
                        </a:rPr>
                        <a:t>Январь–июнь 2026</a:t>
                      </a:r>
                    </a:p>
                  </a:txBody>
                  <a:tcPr marL="133350" marR="133350" marT="95250" marB="95250">
                    <a:solidFill>
                      <a:srgbClr val="0D201B"/>
                    </a:solidFill>
                  </a:tcPr>
                </a:tc>
                <a:tc>
                  <a:txBody>
                    <a:bodyPr/>
                    <a:lstStyle/>
                    <a:p>
                      <a:r>
                        <a:rPr sz="1800">
                          <a:solidFill>
                            <a:srgbClr val="F3F1E9"/>
                          </a:solidFill>
                          <a:latin typeface="Arial"/>
                          <a:ea typeface="Arial"/>
                          <a:cs typeface="Arial"/>
                        </a:rPr>
                        <a:t>Ретроспективная проверка зафиксированного выбора</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25D10D70-8CA7-4624-9458-E6303929AE15}"/>
              </a:ext>
            </a:extLst>
          </p:cNvPr>
          <p:cNvSpPr>
            <a:spLocks xmlns:a="http://schemas.openxmlformats.org/drawingml/2006/main" noGrp="1"/>
          </p:cNvSpPr>
          <p:nvPr/>
        </p:nvSpPr>
        <p:spPr>
          <a:xfrm xmlns:a="http://schemas.openxmlformats.org/drawingml/2006/main">
            <a:off x="619125" y="507682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1">
                <a:solidFill>
                  <a:srgbClr val="D8F77B"/>
                </a:solidFill>
                <a:latin typeface="Arial"/>
                <a:ea typeface="Arial"/>
                <a:cs typeface="Arial"/>
              </a:defRPr>
            </a:pPr>
            <a:r>
              <a:rPr sz="4875" b="1">
                <a:solidFill>
                  <a:srgbClr val="D8F77B"/>
                </a:solidFill>
                <a:latin typeface="Arial"/>
                <a:ea typeface="Arial"/>
                <a:cs typeface="Arial"/>
              </a:rPr>
              <a:t>15 дней</a:t>
            </a:r>
          </a:p>
        </p:txBody>
      </p:sp>
      <p:sp>
        <p:nvSpPr>
          <p:cNvPr id="4" name="">
            <a:extLst xmlns:a="http://schemas.openxmlformats.org/drawingml/2006/main">
              <a:ext uri="{FF2B5EF4-FFF2-40B4-BE49-F238E27FC236}">
                <a16:creationId xmlns:a16="http://schemas.microsoft.com/office/drawing/2014/main" id="{DE28A1CE-A894-46A4-9EEA-0C7ACF8A86F2}"/>
              </a:ext>
            </a:extLst>
          </p:cNvPr>
          <p:cNvSpPr>
            <a:spLocks xmlns:a="http://schemas.openxmlformats.org/drawingml/2006/main" noGrp="1"/>
          </p:cNvSpPr>
          <p:nvPr/>
        </p:nvSpPr>
        <p:spPr>
          <a:xfrm xmlns:a="http://schemas.openxmlformats.org/drawingml/2006/main">
            <a:off x="4238625" y="5172075"/>
            <a:ext cx="71532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разрыв для созревания меток</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между обучением, калибровкой и проверкой</a:t>
            </a:r>
          </a:p>
        </p:txBody>
      </p:sp>
      <p:sp>
        <p:nvSpPr>
          <p:cNvPr id="5" name="">
            <a:extLst xmlns:a="http://schemas.openxmlformats.org/drawingml/2006/main">
              <a:ext uri="{FF2B5EF4-FFF2-40B4-BE49-F238E27FC236}">
                <a16:creationId xmlns:a16="http://schemas.microsoft.com/office/drawing/2014/main" id="{679BE4E6-6056-49CC-9629-04298F21AC5A}"/>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Исторические даты уже исследовались. Для промышленного решения нужен новый закрытый период.</a:t>
            </a:r>
          </a:p>
        </p:txBody>
      </p:sp>
      <p:sp>
        <p:nvSpPr>
          <p:cNvPr id="6" name="">
            <a:extLst xmlns:a="http://schemas.openxmlformats.org/drawingml/2006/main">
              <a:ext uri="{FF2B5EF4-FFF2-40B4-BE49-F238E27FC236}">
                <a16:creationId xmlns:a16="http://schemas.microsoft.com/office/drawing/2014/main" id="{585E6AE7-817B-4AB7-82CB-111FDED4E6AF}"/>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08</a:t>
            </a:r>
          </a:p>
        </p:txBody>
      </p:sp>
    </p:spTree>
    <p:extLst>
      <p:ext uri="{BB962C8B-B14F-4D97-AF65-F5344CB8AC3E}">
        <p14:creationId xmlns:p14="http://schemas.microsoft.com/office/powerpoint/2010/main" val="536333033"/>
      </p:ext>
    </p:extLst>
  </p:cSld>
</p:sld>
</file>

<file path=ppt/slides/slide9.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889B03-14EB-414C-A0DB-85C1F97802D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Каждое предупреждение</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проверяем по реальному событию</a:t>
            </a:r>
          </a:p>
        </p:txBody>
      </p:sp>
      <p:graphicFrame>
        <p:nvGraphicFramePr>
          <p:cNvPr id="10" name="Chart"/>
          <p:cNvGraphicFramePr/>
          <p:nvPr/>
        </p:nvGraphicFramePr>
        <p:xfrm>
          <a:off xmlns:a="http://schemas.openxmlformats.org/drawingml/2006/main" x="609600" y="1714500"/>
          <a:ext xmlns:a="http://schemas.openxmlformats.org/drawingml/2006/main" cx="7296150" cy="4076700"/>
        </p:xfrm>
        <a:graphic xmlns:a="http://schemas.openxmlformats.org/drawingml/2006/main">
          <a:graphicData uri="http://schemas.openxmlformats.org/drawingml/2006/chart">
            <c:chart xmlns:r="http://schemas.openxmlformats.org/officeDocument/2006/relationships" xmlns:c="http://schemas.openxmlformats.org/drawingml/2006/chart" r:id="R98eaa01165a243c9"/>
          </a:graphicData>
        </a:graphic>
      </p:graphicFrame>
      <p:sp>
        <p:nvSpPr>
          <p:cNvPr id="3" name="">
            <a:extLst xmlns:a="http://schemas.openxmlformats.org/drawingml/2006/main">
              <a:ext uri="{FF2B5EF4-FFF2-40B4-BE49-F238E27FC236}">
                <a16:creationId xmlns:a16="http://schemas.microsoft.com/office/drawing/2014/main" id="{E8A31B71-9842-4138-B083-64E2F186E201}"/>
              </a:ext>
            </a:extLst>
          </p:cNvPr>
          <p:cNvSpPr>
            <a:spLocks xmlns:a="http://schemas.openxmlformats.org/drawingml/2006/main" noGrp="1"/>
          </p:cNvSpPr>
          <p:nvPr/>
        </p:nvSpPr>
        <p:spPr>
          <a:xfrm xmlns:a="http://schemas.openxmlformats.org/drawingml/2006/main">
            <a:off x="8305800" y="191452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D8F77B"/>
                </a:solidFill>
                <a:latin typeface="Arial"/>
                <a:ea typeface="Arial"/>
                <a:cs typeface="Arial"/>
              </a:defRPr>
            </a:pPr>
            <a:r>
              <a:rPr sz="4950" b="1">
                <a:solidFill>
                  <a:srgbClr val="D8F77B"/>
                </a:solidFill>
                <a:latin typeface="Arial"/>
                <a:ea typeface="Arial"/>
                <a:cs typeface="Arial"/>
              </a:rPr>
              <a:t>56,3%</a:t>
            </a:r>
          </a:p>
        </p:txBody>
      </p:sp>
      <p:sp>
        <p:nvSpPr>
          <p:cNvPr id="4" name="">
            <a:extLst xmlns:a="http://schemas.openxmlformats.org/drawingml/2006/main">
              <a:ext uri="{FF2B5EF4-FFF2-40B4-BE49-F238E27FC236}">
                <a16:creationId xmlns:a16="http://schemas.microsoft.com/office/drawing/2014/main" id="{FED1087F-7C6B-4585-9F28-4C8A6CA33143}"/>
              </a:ext>
            </a:extLst>
          </p:cNvPr>
          <p:cNvSpPr>
            <a:spLocks xmlns:a="http://schemas.openxmlformats.org/drawingml/2006/main" noGrp="1"/>
          </p:cNvSpPr>
          <p:nvPr/>
        </p:nvSpPr>
        <p:spPr>
          <a:xfrm xmlns:a="http://schemas.openxmlformats.org/drawingml/2006/main">
            <a:off x="8362950" y="2828925"/>
            <a:ext cx="31527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точность заявок</a:t>
            </a:r>
          </a:p>
        </p:txBody>
      </p:sp>
      <p:sp>
        <p:nvSpPr>
          <p:cNvPr id="5" name="">
            <a:extLst xmlns:a="http://schemas.openxmlformats.org/drawingml/2006/main">
              <a:ext uri="{FF2B5EF4-FFF2-40B4-BE49-F238E27FC236}">
                <a16:creationId xmlns:a16="http://schemas.microsoft.com/office/drawing/2014/main" id="{1F0551DD-48E1-474B-9FA2-F797438FDD09}"/>
              </a:ext>
            </a:extLst>
          </p:cNvPr>
          <p:cNvSpPr>
            <a:spLocks xmlns:a="http://schemas.openxmlformats.org/drawingml/2006/main" noGrp="1"/>
          </p:cNvSpPr>
          <p:nvPr/>
        </p:nvSpPr>
        <p:spPr>
          <a:xfrm xmlns:a="http://schemas.openxmlformats.org/drawingml/2006/main">
            <a:off x="8305800" y="3924300"/>
            <a:ext cx="323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3F1E9"/>
                </a:solidFill>
                <a:latin typeface="Arial"/>
                <a:ea typeface="Arial"/>
                <a:cs typeface="Arial"/>
              </a:defRPr>
            </a:pPr>
            <a:r>
              <a:rPr sz="4950" b="1">
                <a:solidFill>
                  <a:srgbClr val="F3F1E9"/>
                </a:solidFill>
                <a:latin typeface="Arial"/>
                <a:ea typeface="Arial"/>
                <a:cs typeface="Arial"/>
              </a:rPr>
              <a:t>40,9%</a:t>
            </a:r>
          </a:p>
        </p:txBody>
      </p:sp>
      <p:sp>
        <p:nvSpPr>
          <p:cNvPr id="6" name="">
            <a:extLst xmlns:a="http://schemas.openxmlformats.org/drawingml/2006/main">
              <a:ext uri="{FF2B5EF4-FFF2-40B4-BE49-F238E27FC236}">
                <a16:creationId xmlns:a16="http://schemas.microsoft.com/office/drawing/2014/main" id="{283C4875-3F80-4CB6-8CE7-1F4F7EF182B9}"/>
              </a:ext>
            </a:extLst>
          </p:cNvPr>
          <p:cNvSpPr>
            <a:spLocks xmlns:a="http://schemas.openxmlformats.org/drawingml/2006/main" noGrp="1"/>
          </p:cNvSpPr>
          <p:nvPr/>
        </p:nvSpPr>
        <p:spPr>
          <a:xfrm xmlns:a="http://schemas.openxmlformats.org/drawingml/2006/main">
            <a:off x="8362950" y="4857750"/>
            <a:ext cx="315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полнота по инцидентам</a:t>
            </a:r>
          </a:p>
        </p:txBody>
      </p:sp>
      <p:sp>
        <p:nvSpPr>
          <p:cNvPr id="7" name="">
            <a:extLst xmlns:a="http://schemas.openxmlformats.org/drawingml/2006/main">
              <a:ext uri="{FF2B5EF4-FFF2-40B4-BE49-F238E27FC236}">
                <a16:creationId xmlns:a16="http://schemas.microsoft.com/office/drawing/2014/main" id="{210F2077-FE9E-4C5E-85F0-4D0B2EDEBE91}"/>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9 верных, 7 ложных, 13 пропущенных. 22 инцидента. Медианное упреждение 7,4 дня.</a:t>
            </a:r>
          </a:p>
        </p:txBody>
      </p:sp>
      <p:sp>
        <p:nvSpPr>
          <p:cNvPr id="8" name="">
            <a:extLst xmlns:a="http://schemas.openxmlformats.org/drawingml/2006/main">
              <a:ext uri="{FF2B5EF4-FFF2-40B4-BE49-F238E27FC236}">
                <a16:creationId xmlns:a16="http://schemas.microsoft.com/office/drawing/2014/main" id="{ED2A81A2-FD7F-4700-B3F8-1A62852177AE}"/>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09</a:t>
            </a:r>
          </a:p>
        </p:txBody>
      </p:sp>
    </p:spTree>
    <p:extLst>
      <p:ext uri="{BB962C8B-B14F-4D97-AF65-F5344CB8AC3E}">
        <p14:creationId xmlns:p14="http://schemas.microsoft.com/office/powerpoint/2010/main" val="1309923234"/>
      </p:ext>
    </p:extLst>
  </p:cSld>
</p:sld>
</file>

<file path=ppt/slides/slide10.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69E1933-50D1-4ABF-9E83-6150C9810F01}"/>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Настоящий расчёт по вашему CSV</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d9649cc961b4781"/>
          <a:stretch xmlns:a="http://schemas.openxmlformats.org/drawingml/2006/main"/>
        </p:blipFill>
        <p:spPr>
          <a:xfrm xmlns:a="http://schemas.openxmlformats.org/drawingml/2006/main">
            <a:off x="4726686" y="1504950"/>
            <a:ext cx="6967728" cy="48387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695BA6D-3CF4-439B-86B5-0E714B7DEEE5}"/>
              </a:ext>
            </a:extLst>
          </p:cNvPr>
          <p:cNvSpPr>
            <a:spLocks xmlns:a="http://schemas.openxmlformats.org/drawingml/2006/main" noGrp="1"/>
          </p:cNvSpPr>
          <p:nvPr/>
        </p:nvSpPr>
        <p:spPr>
          <a:xfrm xmlns:a="http://schemas.openxmlformats.org/drawingml/2006/main">
            <a:off x="609600" y="1952625"/>
            <a:ext cx="3952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183C30"/>
                </a:solidFill>
                <a:latin typeface="Arial"/>
                <a:ea typeface="Arial"/>
                <a:cs typeface="Arial"/>
              </a:defRPr>
            </a:pPr>
            <a:r>
              <a:rPr sz="3825" b="1">
                <a:solidFill>
                  <a:srgbClr val="183C30"/>
                </a:solidFill>
                <a:latin typeface="Arial"/>
                <a:ea typeface="Arial"/>
                <a:cs typeface="Arial"/>
              </a:rPr>
              <a:t>8 моделей</a:t>
            </a:r>
          </a:p>
        </p:txBody>
      </p:sp>
      <p:sp>
        <p:nvSpPr>
          <p:cNvPr id="4" name="">
            <a:extLst xmlns:a="http://schemas.openxmlformats.org/drawingml/2006/main">
              <a:ext uri="{FF2B5EF4-FFF2-40B4-BE49-F238E27FC236}">
                <a16:creationId xmlns:a16="http://schemas.microsoft.com/office/drawing/2014/main" id="{E0056B49-BFB2-44FE-9BA2-8830A6C53F9B}"/>
              </a:ext>
            </a:extLst>
          </p:cNvPr>
          <p:cNvSpPr>
            <a:spLocks xmlns:a="http://schemas.openxmlformats.org/drawingml/2006/main" noGrp="1"/>
          </p:cNvSpPr>
          <p:nvPr/>
        </p:nvSpPr>
        <p:spPr>
          <a:xfrm xmlns:a="http://schemas.openxmlformats.org/drawingml/2006/main">
            <a:off x="609600" y="3228975"/>
            <a:ext cx="3952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C30"/>
                </a:solidFill>
                <a:latin typeface="Arial"/>
                <a:ea typeface="Arial"/>
                <a:cs typeface="Arial"/>
              </a:defRPr>
            </a:pPr>
            <a:r>
              <a:rPr sz="3225" b="1">
                <a:solidFill>
                  <a:srgbClr val="183C30"/>
                </a:solidFill>
                <a:latin typeface="Arial"/>
                <a:ea typeface="Arial"/>
                <a:cs typeface="Arial"/>
              </a:rPr>
              <a:t>178 признаков</a:t>
            </a:r>
          </a:p>
        </p:txBody>
      </p:sp>
      <p:sp>
        <p:nvSpPr>
          <p:cNvPr id="5" name="">
            <a:extLst xmlns:a="http://schemas.openxmlformats.org/drawingml/2006/main">
              <a:ext uri="{FF2B5EF4-FFF2-40B4-BE49-F238E27FC236}">
                <a16:creationId xmlns:a16="http://schemas.microsoft.com/office/drawing/2014/main" id="{7ECF7FFE-5E3D-4708-B52F-469652613D29}"/>
              </a:ext>
            </a:extLst>
          </p:cNvPr>
          <p:cNvSpPr>
            <a:spLocks xmlns:a="http://schemas.openxmlformats.org/drawingml/2006/main" noGrp="1"/>
          </p:cNvSpPr>
          <p:nvPr/>
        </p:nvSpPr>
        <p:spPr>
          <a:xfrm xmlns:a="http://schemas.openxmlformats.org/drawingml/2006/main">
            <a:off x="647700" y="4648200"/>
            <a:ext cx="3857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83C30"/>
                </a:solidFill>
                <a:latin typeface="Arial"/>
                <a:ea typeface="Arial"/>
                <a:cs typeface="Arial"/>
              </a:defRPr>
            </a:pPr>
            <a:r>
              <a:rPr sz="2775" b="1">
                <a:solidFill>
                  <a:srgbClr val="183C30"/>
                </a:solidFill>
                <a:latin typeface="Arial"/>
                <a:ea typeface="Arial"/>
                <a:cs typeface="Arial"/>
              </a:rPr>
              <a:t>Файл остаётся</a:t>
            </a:r>
          </a:p>
          <a:p xmlns:a="http://schemas.openxmlformats.org/drawingml/2006/main">
            <a:pPr>
              <a:defRPr sz="2775" b="1">
                <a:solidFill>
                  <a:srgbClr val="183C30"/>
                </a:solidFill>
                <a:latin typeface="Arial"/>
                <a:ea typeface="Arial"/>
                <a:cs typeface="Arial"/>
              </a:defRPr>
            </a:pPr>
            <a:r>
              <a:rPr sz="2775" b="1">
                <a:solidFill>
                  <a:srgbClr val="183C30"/>
                </a:solidFill>
                <a:latin typeface="Arial"/>
                <a:ea typeface="Arial"/>
                <a:cs typeface="Arial"/>
              </a:rPr>
              <a:t>в браузере</a:t>
            </a:r>
          </a:p>
        </p:txBody>
      </p:sp>
      <p:sp>
        <p:nvSpPr>
          <p:cNvPr id="6" name="">
            <a:extLst xmlns:a="http://schemas.openxmlformats.org/drawingml/2006/main">
              <a:ext uri="{FF2B5EF4-FFF2-40B4-BE49-F238E27FC236}">
                <a16:creationId xmlns:a16="http://schemas.microsoft.com/office/drawing/2014/main" id="{0829F1D1-1C22-4F18-B543-952EE9119801}"/>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Вход: подготовленная таблица признаков. Архивный пример: 26 настоящих строк за 01.06.2026.</a:t>
            </a:r>
          </a:p>
        </p:txBody>
      </p:sp>
      <p:sp>
        <p:nvSpPr>
          <p:cNvPr id="7" name="">
            <a:extLst xmlns:a="http://schemas.openxmlformats.org/drawingml/2006/main">
              <a:ext uri="{FF2B5EF4-FFF2-40B4-BE49-F238E27FC236}">
                <a16:creationId xmlns:a16="http://schemas.microsoft.com/office/drawing/2014/main" id="{77AE4878-E63F-406A-8AFB-D1A28788DB51}"/>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10</a:t>
            </a:r>
          </a:p>
        </p:txBody>
      </p:sp>
    </p:spTree>
    <p:extLst>
      <p:ext uri="{BB962C8B-B14F-4D97-AF65-F5344CB8AC3E}">
        <p14:creationId xmlns:p14="http://schemas.microsoft.com/office/powerpoint/2010/main" val="43085734"/>
      </p:ext>
    </p:extLst>
  </p:cSld>
</p:sld>
</file>

<file path=ppt/slides/slide1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F436824-0043-49AA-AA43-435CD418C83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Пилот, который проверит пользу</a:t>
            </a:r>
          </a:p>
        </p:txBody>
      </p:sp>
      <p:sp>
        <p:nvSpPr>
          <p:cNvPr id="2" name="">
            <a:extLst xmlns:a="http://schemas.openxmlformats.org/drawingml/2006/main">
              <a:ext uri="{FF2B5EF4-FFF2-40B4-BE49-F238E27FC236}">
                <a16:creationId xmlns:a16="http://schemas.microsoft.com/office/drawing/2014/main" id="{AD5FF952-EA28-41F1-A92B-0B07C15BBF42}"/>
              </a:ext>
            </a:extLst>
          </p:cNvPr>
          <p:cNvSpPr>
            <a:spLocks xmlns:a="http://schemas.openxmlformats.org/drawingml/2006/main" noGrp="1"/>
          </p:cNvSpPr>
          <p:nvPr/>
        </p:nvSpPr>
        <p:spPr>
          <a:xfrm xmlns:a="http://schemas.openxmlformats.org/drawingml/2006/main">
            <a:off x="619125" y="1933575"/>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0B004355-BB7F-4B67-BF4C-8CB69C316869}"/>
              </a:ext>
            </a:extLst>
          </p:cNvPr>
          <p:cNvSpPr>
            <a:spLocks xmlns:a="http://schemas.openxmlformats.org/drawingml/2006/main" noGrp="1"/>
          </p:cNvSpPr>
          <p:nvPr/>
        </p:nvSpPr>
        <p:spPr>
          <a:xfrm xmlns:a="http://schemas.openxmlformats.org/drawingml/2006/main">
            <a:off x="2133600" y="1905000"/>
            <a:ext cx="9239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3F1E9"/>
                </a:solidFill>
                <a:latin typeface="Arial"/>
                <a:ea typeface="Arial"/>
                <a:cs typeface="Arial"/>
              </a:defRPr>
            </a:pPr>
            <a:r>
              <a:rPr sz="2700" b="1">
                <a:solidFill>
                  <a:srgbClr val="F3F1E9"/>
                </a:solidFill>
                <a:latin typeface="Arial"/>
                <a:ea typeface="Arial"/>
                <a:cs typeface="Arial"/>
              </a:rPr>
              <a:t>Теневой режим / 2 недели</a:t>
            </a:r>
          </a:p>
        </p:txBody>
      </p:sp>
      <p:sp>
        <p:nvSpPr>
          <p:cNvPr id="4" name="">
            <a:extLst xmlns:a="http://schemas.openxmlformats.org/drawingml/2006/main">
              <a:ext uri="{FF2B5EF4-FFF2-40B4-BE49-F238E27FC236}">
                <a16:creationId xmlns:a16="http://schemas.microsoft.com/office/drawing/2014/main" id="{59A3B3F3-8AB4-43D2-A7AD-D36B881797DD}"/>
              </a:ext>
            </a:extLst>
          </p:cNvPr>
          <p:cNvSpPr>
            <a:spLocks xmlns:a="http://schemas.openxmlformats.org/drawingml/2006/main" noGrp="1"/>
          </p:cNvSpPr>
          <p:nvPr/>
        </p:nvSpPr>
        <p:spPr>
          <a:xfrm xmlns:a="http://schemas.openxmlformats.org/drawingml/2006/main">
            <a:off x="2162175" y="2657475"/>
            <a:ext cx="9239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Сопоставляем очередь с действиями смены.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Собираем подтверждённые причины и результаты осмотров.</a:t>
            </a:r>
          </a:p>
        </p:txBody>
      </p:sp>
      <p:sp>
        <p:nvSpPr>
          <p:cNvPr id="5" name="">
            <a:extLst xmlns:a="http://schemas.openxmlformats.org/drawingml/2006/main">
              <a:ext uri="{FF2B5EF4-FFF2-40B4-BE49-F238E27FC236}">
                <a16:creationId xmlns:a16="http://schemas.microsoft.com/office/drawing/2014/main" id="{BBBF9603-44CC-458C-9A4C-0207FE524F4E}"/>
              </a:ext>
            </a:extLst>
          </p:cNvPr>
          <p:cNvSpPr>
            <a:spLocks xmlns:a="http://schemas.openxmlformats.org/drawingml/2006/main" noGrp="1"/>
          </p:cNvSpPr>
          <p:nvPr/>
        </p:nvSpPr>
        <p:spPr>
          <a:xfrm xmlns:a="http://schemas.openxmlformats.org/drawingml/2006/main">
            <a:off x="619125" y="4191000"/>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530ACA9-ECD2-4B32-AAD4-B959B3C5D95A}"/>
              </a:ext>
            </a:extLst>
          </p:cNvPr>
          <p:cNvSpPr>
            <a:spLocks xmlns:a="http://schemas.openxmlformats.org/drawingml/2006/main" noGrp="1"/>
          </p:cNvSpPr>
          <p:nvPr/>
        </p:nvSpPr>
        <p:spPr>
          <a:xfrm xmlns:a="http://schemas.openxmlformats.org/drawingml/2006/main">
            <a:off x="2133600" y="4143375"/>
            <a:ext cx="9315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3F1E9"/>
                </a:solidFill>
                <a:latin typeface="Arial"/>
                <a:ea typeface="Arial"/>
                <a:cs typeface="Arial"/>
              </a:defRPr>
            </a:pPr>
            <a:r>
              <a:rPr sz="2625" b="1">
                <a:solidFill>
                  <a:srgbClr val="F3F1E9"/>
                </a:solidFill>
                <a:latin typeface="Arial"/>
                <a:ea typeface="Arial"/>
                <a:cs typeface="Arial"/>
              </a:rPr>
              <a:t>Проверки под контролем диспетчера</a:t>
            </a:r>
          </a:p>
        </p:txBody>
      </p:sp>
      <p:sp>
        <p:nvSpPr>
          <p:cNvPr id="7" name="">
            <a:extLst xmlns:a="http://schemas.openxmlformats.org/drawingml/2006/main">
              <a:ext uri="{FF2B5EF4-FFF2-40B4-BE49-F238E27FC236}">
                <a16:creationId xmlns:a16="http://schemas.microsoft.com/office/drawing/2014/main" id="{52822621-EB58-4689-8BE9-CC73C2DF74B0}"/>
              </a:ext>
            </a:extLst>
          </p:cNvPr>
          <p:cNvSpPr>
            <a:spLocks xmlns:a="http://schemas.openxmlformats.org/drawingml/2006/main" noGrp="1"/>
          </p:cNvSpPr>
          <p:nvPr/>
        </p:nvSpPr>
        <p:spPr>
          <a:xfrm xmlns:a="http://schemas.openxmlformats.org/drawingml/2006/main">
            <a:off x="2162175" y="4962525"/>
            <a:ext cx="92011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Оцениваем найденные события, лишние выезды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и запас времени при согласованной нагрузке.</a:t>
            </a:r>
          </a:p>
        </p:txBody>
      </p:sp>
      <p:sp>
        <p:nvSpPr>
          <p:cNvPr id="8" name="">
            <a:extLst xmlns:a="http://schemas.openxmlformats.org/drawingml/2006/main">
              <a:ext uri="{FF2B5EF4-FFF2-40B4-BE49-F238E27FC236}">
                <a16:creationId xmlns:a16="http://schemas.microsoft.com/office/drawing/2014/main" id="{F9FC07B5-3824-494B-9D8F-3E3A014A4FC9}"/>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Предлагаемый срок пилота: 4 недели. Масштабирование после проверки на новом периоде.</a:t>
            </a:r>
          </a:p>
        </p:txBody>
      </p:sp>
      <p:sp>
        <p:nvSpPr>
          <p:cNvPr id="9" name="">
            <a:extLst xmlns:a="http://schemas.openxmlformats.org/drawingml/2006/main">
              <a:ext uri="{FF2B5EF4-FFF2-40B4-BE49-F238E27FC236}">
                <a16:creationId xmlns:a16="http://schemas.microsoft.com/office/drawing/2014/main" id="{30BBE73C-DB04-4A26-834B-AE07F10E316A}"/>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11</a:t>
            </a:r>
          </a:p>
        </p:txBody>
      </p:sp>
    </p:spTree>
    <p:extLst>
      <p:ext uri="{BB962C8B-B14F-4D97-AF65-F5344CB8AC3E}">
        <p14:creationId xmlns:p14="http://schemas.microsoft.com/office/powerpoint/2010/main" val="108472725"/>
      </p:ext>
    </p:extLst>
  </p:cSld>
</p:sld>
</file>

<file path=ppt/slides/slide12.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CFB42C2-5DF5-49BC-BC15-111D845D3690}"/>
              </a:ext>
            </a:extLst>
          </p:cNvPr>
          <p:cNvSpPr>
            <a:spLocks xmlns:a="http://schemas.openxmlformats.org/drawingml/2006/main" noGrp="1"/>
          </p:cNvSpPr>
          <p:nvPr/>
        </p:nvSpPr>
        <p:spPr>
          <a:xfrm xmlns:a="http://schemas.openxmlformats.org/drawingml/2006/main">
            <a:off x="609600" y="676275"/>
            <a:ext cx="1028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325" b="1">
                <a:solidFill>
                  <a:srgbClr val="F3F1E9"/>
                </a:solidFill>
                <a:latin typeface="Arial"/>
                <a:ea typeface="Arial"/>
                <a:cs typeface="Arial"/>
              </a:defRPr>
            </a:pPr>
            <a:r>
              <a:rPr sz="8325" b="1">
                <a:solidFill>
                  <a:srgbClr val="F3F1E9"/>
                </a:solidFill>
                <a:latin typeface="Arial"/>
                <a:ea typeface="Arial"/>
                <a:cs typeface="Arial"/>
              </a:rPr>
              <a:t>ПИКЕТ</a:t>
            </a:r>
          </a:p>
        </p:txBody>
      </p:sp>
      <p:sp>
        <p:nvSpPr>
          <p:cNvPr id="2" name="">
            <a:extLst xmlns:a="http://schemas.openxmlformats.org/drawingml/2006/main">
              <a:ext uri="{FF2B5EF4-FFF2-40B4-BE49-F238E27FC236}">
                <a16:creationId xmlns:a16="http://schemas.microsoft.com/office/drawing/2014/main" id="{18864A80-E083-45ED-8E19-9BE8EE5659CB}"/>
              </a:ext>
            </a:extLst>
          </p:cNvPr>
          <p:cNvSpPr>
            <a:spLocks xmlns:a="http://schemas.openxmlformats.org/drawingml/2006/main" noGrp="1"/>
          </p:cNvSpPr>
          <p:nvPr/>
        </p:nvSpPr>
        <p:spPr>
          <a:xfrm xmlns:a="http://schemas.openxmlformats.org/drawingml/2006/main">
            <a:off x="628650" y="2619375"/>
            <a:ext cx="105727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D8F77B"/>
                </a:solidFill>
                <a:latin typeface="Arial"/>
                <a:ea typeface="Arial"/>
                <a:cs typeface="Arial"/>
              </a:defRPr>
            </a:pPr>
            <a:r>
              <a:rPr sz="8700" b="1">
                <a:solidFill>
                  <a:srgbClr val="D8F77B"/>
                </a:solidFill>
                <a:latin typeface="Arial"/>
                <a:ea typeface="Arial"/>
                <a:cs typeface="Arial"/>
              </a:rPr>
              <a:t>7,4 дня</a:t>
            </a:r>
          </a:p>
        </p:txBody>
      </p:sp>
      <p:sp>
        <p:nvSpPr>
          <p:cNvPr id="3" name="">
            <a:extLst xmlns:a="http://schemas.openxmlformats.org/drawingml/2006/main">
              <a:ext uri="{FF2B5EF4-FFF2-40B4-BE49-F238E27FC236}">
                <a16:creationId xmlns:a16="http://schemas.microsoft.com/office/drawing/2014/main" id="{ED67893A-CC5B-4E5E-828C-85F8D6E1C276}"/>
              </a:ext>
            </a:extLst>
          </p:cNvPr>
          <p:cNvSpPr>
            <a:spLocks xmlns:a="http://schemas.openxmlformats.org/drawingml/2006/main" noGrp="1"/>
          </p:cNvSpPr>
          <p:nvPr/>
        </p:nvSpPr>
        <p:spPr>
          <a:xfrm xmlns:a="http://schemas.openxmlformats.org/drawingml/2006/main">
            <a:off x="733425" y="4391025"/>
            <a:ext cx="10620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медианный запас времени</a:t>
            </a:r>
          </a:p>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у верных предупреждений</a:t>
            </a:r>
          </a:p>
        </p:txBody>
      </p:sp>
      <p:sp>
        <p:nvSpPr>
          <p:cNvPr id="4" name="">
            <a:extLst xmlns:a="http://schemas.openxmlformats.org/drawingml/2006/main">
              <a:ext uri="{FF2B5EF4-FFF2-40B4-BE49-F238E27FC236}">
                <a16:creationId xmlns:a16="http://schemas.microsoft.com/office/drawing/2014/main" id="{6859E0F7-CA5B-4243-9E4A-47A4CEC9715E}"/>
              </a:ext>
            </a:extLst>
          </p:cNvPr>
          <p:cNvSpPr>
            <a:spLocks xmlns:a="http://schemas.openxmlformats.org/drawingml/2006/main" noGrp="1"/>
          </p:cNvSpPr>
          <p:nvPr/>
        </p:nvSpPr>
        <p:spPr>
          <a:xfrm xmlns:a="http://schemas.openxmlformats.org/drawingml/2006/main">
            <a:off x="742950" y="59055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F77B"/>
                </a:solidFill>
                <a:latin typeface="Arial"/>
                <a:ea typeface="Arial"/>
                <a:cs typeface="Arial"/>
              </a:defRPr>
            </a:pPr>
            <a:r>
              <a:rPr sz="2100" b="0">
                <a:solidFill>
                  <a:srgbClr val="D8F77B"/>
                </a:solidFill>
                <a:latin typeface="Arial"/>
                <a:ea typeface="Arial"/>
                <a:cs typeface="Arial"/>
              </a:rPr>
              <a:t>mshperling.github.io/piket-lct2026-demo</a:t>
            </a:r>
          </a:p>
        </p:txBody>
      </p:sp>
    </p:spTree>
    <p:extLst>
      <p:ext uri="{BB962C8B-B14F-4D97-AF65-F5344CB8AC3E}">
        <p14:creationId xmlns:p14="http://schemas.microsoft.com/office/powerpoint/2010/main" val="1700863170"/>
      </p:ext>
    </p:extLst>
  </p:cSld>
</p:sld>
</file>

<file path=ppt/slides/slide13.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8224C1E-FBFF-49BF-AD56-77FD14C3556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Техническое приложение</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Как определён инцидент</a:t>
            </a:r>
          </a:p>
        </p:txBody>
      </p:sp>
      <p:graphicFrame>
        <p:nvGraphicFramePr>
          <p:cNvPr id="6" name=""/>
          <p:cNvGraphicFramePr/>
          <p:nvPr/>
        </p:nvGraphicFramePr>
        <p:xfrm>
          <a:off xmlns:a="http://schemas.openxmlformats.org/drawingml/2006/main" x="609600" y="1857375"/>
          <a:ext xmlns:a="http://schemas.openxmlformats.org/drawingml/2006/main" cx="10972800" cy="3695700"/>
        </p:xfrm>
        <a:graphic xmlns:a="http://schemas.openxmlformats.org/drawingml/2006/main">
          <a:graphicData uri="http://schemas.openxmlformats.org/drawingml/2006/table">
            <a:tbl>
              <a:tblPr/>
              <a:tblGrid>
                <a:gridCol w="3857625"/>
                <a:gridCol w="7115175"/>
              </a:tblGrid>
              <a:tr h="615950">
                <a:tc>
                  <a:txBody>
                    <a:bodyPr/>
                    <a:lstStyle/>
                    <a:p>
                      <a:r>
                        <a:rPr sz="1725" b="1">
                          <a:solidFill>
                            <a:srgbClr val="0D201B"/>
                          </a:solidFill>
                          <a:latin typeface="Arial"/>
                          <a:ea typeface="Arial"/>
                          <a:cs typeface="Arial"/>
                        </a:rPr>
                        <a:t>Правило</a:t>
                      </a:r>
                    </a:p>
                  </a:txBody>
                  <a:tcPr marL="133350" marR="133350" marT="95250" marB="95250">
                    <a:solidFill>
                      <a:srgbClr val="D8F77B"/>
                    </a:solidFill>
                  </a:tcPr>
                </a:tc>
                <a:tc>
                  <a:txBody>
                    <a:bodyPr/>
                    <a:lstStyle/>
                    <a:p>
                      <a:r>
                        <a:rPr sz="1725" b="1">
                          <a:solidFill>
                            <a:srgbClr val="0D201B"/>
                          </a:solidFill>
                          <a:latin typeface="Arial"/>
                          <a:ea typeface="Arial"/>
                          <a:cs typeface="Arial"/>
                        </a:rPr>
                        <a:t>Параметр</a:t>
                      </a:r>
                    </a:p>
                  </a:txBody>
                  <a:tcPr marL="133350" marR="133350" marT="95250" marB="95250">
                    <a:solidFill>
                      <a:srgbClr val="D8F77B"/>
                    </a:solidFill>
                  </a:tcPr>
                </a:tc>
              </a:tr>
              <a:tr h="615950">
                <a:tc>
                  <a:txBody>
                    <a:bodyPr/>
                    <a:lstStyle/>
                    <a:p>
                      <a:r>
                        <a:rPr sz="1725">
                          <a:solidFill>
                            <a:srgbClr val="F3F1E9"/>
                          </a:solidFill>
                          <a:latin typeface="Arial"/>
                          <a:ea typeface="Arial"/>
                          <a:cs typeface="Arial"/>
                        </a:rPr>
                        <a:t>Групповой всплеск</a:t>
                      </a:r>
                    </a:p>
                  </a:txBody>
                  <a:tcPr marL="133350" marR="133350" marT="95250" marB="95250">
                    <a:solidFill>
                      <a:srgbClr val="0D201B"/>
                    </a:solidFill>
                  </a:tcPr>
                </a:tc>
                <a:tc>
                  <a:txBody>
                    <a:bodyPr/>
                    <a:lstStyle/>
                    <a:p>
                      <a:r>
                        <a:rPr sz="1725">
                          <a:solidFill>
                            <a:srgbClr val="F3F1E9"/>
                          </a:solidFill>
                          <a:latin typeface="Arial"/>
                          <a:ea typeface="Arial"/>
                          <a:cs typeface="Arial"/>
                        </a:rPr>
                        <a:t>Не менее 3 каналов и не менее 10% группы</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Синхронность</a:t>
                      </a:r>
                    </a:p>
                  </a:txBody>
                  <a:tcPr marL="133350" marR="133350" marT="95250" marB="95250">
                    <a:solidFill>
                      <a:srgbClr val="0D201B"/>
                    </a:solidFill>
                  </a:tcPr>
                </a:tc>
                <a:tc>
                  <a:txBody>
                    <a:bodyPr/>
                    <a:lstStyle/>
                    <a:p>
                      <a:r>
                        <a:rPr sz="1725">
                          <a:solidFill>
                            <a:srgbClr val="F3F1E9"/>
                          </a:solidFill>
                          <a:latin typeface="Arial"/>
                          <a:ea typeface="Arial"/>
                          <a:cs typeface="Arial"/>
                        </a:rPr>
                        <a:t>Скользящее окно 10 минут</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Разделение серий</a:t>
                      </a:r>
                    </a:p>
                  </a:txBody>
                  <a:tcPr marL="133350" marR="133350" marT="95250" marB="95250">
                    <a:solidFill>
                      <a:srgbClr val="0D201B"/>
                    </a:solidFill>
                  </a:tcPr>
                </a:tc>
                <a:tc>
                  <a:txBody>
                    <a:bodyPr/>
                    <a:lstStyle/>
                    <a:p>
                      <a:r>
                        <a:rPr sz="1725">
                          <a:solidFill>
                            <a:srgbClr val="F3F1E9"/>
                          </a:solidFill>
                          <a:latin typeface="Arial"/>
                          <a:ea typeface="Arial"/>
                          <a:cs typeface="Arial"/>
                        </a:rPr>
                        <a:t>24 часа без квалифицирующего всплеска</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Окно прогноза</a:t>
                      </a:r>
                    </a:p>
                  </a:txBody>
                  <a:tcPr marL="133350" marR="133350" marT="95250" marB="95250">
                    <a:solidFill>
                      <a:srgbClr val="0D201B"/>
                    </a:solidFill>
                  </a:tcPr>
                </a:tc>
                <a:tc>
                  <a:txBody>
                    <a:bodyPr/>
                    <a:lstStyle/>
                    <a:p>
                      <a:r>
                        <a:rPr sz="1725">
                          <a:solidFill>
                            <a:srgbClr val="F3F1E9"/>
                          </a:solidFill>
                          <a:latin typeface="Arial"/>
                          <a:ea typeface="Arial"/>
                          <a:cs typeface="Arial"/>
                        </a:rPr>
                        <a:t>D+2…D+15 при решении в конце дня D</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Заявки</a:t>
                      </a:r>
                    </a:p>
                  </a:txBody>
                  <a:tcPr marL="133350" marR="133350" marT="95250" marB="95250">
                    <a:solidFill>
                      <a:srgbClr val="0D201B"/>
                    </a:solidFill>
                  </a:tcPr>
                </a:tc>
                <a:tc>
                  <a:txBody>
                    <a:bodyPr/>
                    <a:lstStyle/>
                    <a:p>
                      <a:r>
                        <a:rPr sz="1725">
                          <a:solidFill>
                            <a:srgbClr val="F3F1E9"/>
                          </a:solidFill>
                          <a:latin typeface="Arial"/>
                          <a:ea typeface="Arial"/>
                          <a:cs typeface="Arial"/>
                        </a:rPr>
                        <a:t>Одно предупреждение соответствует одному инциденту</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28C2AC0C-299E-4AB5-91A1-B3CDE7B62C03}"/>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Это диагностическая цель. Физическую аварию необходимо подтвердить отдельным журналом осмотров.</a:t>
            </a:r>
          </a:p>
        </p:txBody>
      </p:sp>
      <p:sp>
        <p:nvSpPr>
          <p:cNvPr id="4" name="">
            <a:extLst xmlns:a="http://schemas.openxmlformats.org/drawingml/2006/main">
              <a:ext uri="{FF2B5EF4-FFF2-40B4-BE49-F238E27FC236}">
                <a16:creationId xmlns:a16="http://schemas.microsoft.com/office/drawing/2014/main" id="{4C155A30-2238-47C6-BA9D-56D7115C1B6E}"/>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13</a:t>
            </a:r>
          </a:p>
        </p:txBody>
      </p:sp>
    </p:spTree>
    <p:extLst>
      <p:ext uri="{BB962C8B-B14F-4D97-AF65-F5344CB8AC3E}">
        <p14:creationId xmlns:p14="http://schemas.microsoft.com/office/powerpoint/2010/main" val="1944344864"/>
      </p:ext>
    </p:extLst>
  </p:cSld>
</p:sld>
</file>

<file path=ppt/slides/slide14.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816304-03A3-42F5-8657-707CC90C299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OOF-стэкинг без подглядывания</a:t>
            </a:r>
          </a:p>
        </p:txBody>
      </p:sp>
      <p:sp>
        <p:nvSpPr>
          <p:cNvPr id="2" name="">
            <a:extLst xmlns:a="http://schemas.openxmlformats.org/drawingml/2006/main">
              <a:ext uri="{FF2B5EF4-FFF2-40B4-BE49-F238E27FC236}">
                <a16:creationId xmlns:a16="http://schemas.microsoft.com/office/drawing/2014/main" id="{1F7BA83E-E6E8-4361-B576-E14AA562C1F6}"/>
              </a:ext>
            </a:extLst>
          </p:cNvPr>
          <p:cNvSpPr>
            <a:spLocks xmlns:a="http://schemas.openxmlformats.org/drawingml/2006/main" noGrp="1"/>
          </p:cNvSpPr>
          <p:nvPr/>
        </p:nvSpPr>
        <p:spPr>
          <a:xfrm xmlns:a="http://schemas.openxmlformats.org/drawingml/2006/main">
            <a:off x="628650" y="19335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Базовая модель</a:t>
            </a:r>
          </a:p>
        </p:txBody>
      </p:sp>
      <p:sp>
        <p:nvSpPr>
          <p:cNvPr id="3" name="">
            <a:extLst xmlns:a="http://schemas.openxmlformats.org/drawingml/2006/main">
              <a:ext uri="{FF2B5EF4-FFF2-40B4-BE49-F238E27FC236}">
                <a16:creationId xmlns:a16="http://schemas.microsoft.com/office/drawing/2014/main" id="{DE3FEBBA-34AE-4FF3-85BE-40B7DA1730CA}"/>
              </a:ext>
            </a:extLst>
          </p:cNvPr>
          <p:cNvSpPr>
            <a:spLocks xmlns:a="http://schemas.openxmlformats.org/drawingml/2006/main" noGrp="1"/>
          </p:cNvSpPr>
          <p:nvPr/>
        </p:nvSpPr>
        <p:spPr>
          <a:xfrm xmlns:a="http://schemas.openxmlformats.org/drawingml/2006/main">
            <a:off x="628650" y="2705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3F1E9"/>
                </a:solidFill>
                <a:latin typeface="Arial"/>
                <a:ea typeface="Arial"/>
                <a:cs typeface="Arial"/>
              </a:defRPr>
            </a:pPr>
            <a:r>
              <a:rPr sz="2925" b="1">
                <a:solidFill>
                  <a:srgbClr val="F3F1E9"/>
                </a:solidFill>
                <a:latin typeface="Arial"/>
                <a:ea typeface="Arial"/>
                <a:cs typeface="Arial"/>
              </a:rPr>
              <a:t>max(date_train) + 15 дней &lt; date_OOF</a:t>
            </a:r>
          </a:p>
        </p:txBody>
      </p:sp>
      <p:sp>
        <p:nvSpPr>
          <p:cNvPr id="4" name="">
            <a:extLst xmlns:a="http://schemas.openxmlformats.org/drawingml/2006/main">
              <a:ext uri="{FF2B5EF4-FFF2-40B4-BE49-F238E27FC236}">
                <a16:creationId xmlns:a16="http://schemas.microsoft.com/office/drawing/2014/main" id="{C4F9840B-8270-4B86-B97E-FFA591710A4D}"/>
              </a:ext>
            </a:extLst>
          </p:cNvPr>
          <p:cNvSpPr>
            <a:spLocks xmlns:a="http://schemas.openxmlformats.org/drawingml/2006/main" noGrp="1"/>
          </p:cNvSpPr>
          <p:nvPr/>
        </p:nvSpPr>
        <p:spPr>
          <a:xfrm xmlns:a="http://schemas.openxmlformats.org/drawingml/2006/main">
            <a:off x="628650" y="39147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Мета-модель</a:t>
            </a:r>
          </a:p>
        </p:txBody>
      </p:sp>
      <p:sp>
        <p:nvSpPr>
          <p:cNvPr id="5" name="">
            <a:extLst xmlns:a="http://schemas.openxmlformats.org/drawingml/2006/main">
              <a:ext uri="{FF2B5EF4-FFF2-40B4-BE49-F238E27FC236}">
                <a16:creationId xmlns:a16="http://schemas.microsoft.com/office/drawing/2014/main" id="{54AB582B-248D-4562-B571-4C0A9599101C}"/>
              </a:ext>
            </a:extLst>
          </p:cNvPr>
          <p:cNvSpPr>
            <a:spLocks xmlns:a="http://schemas.openxmlformats.org/drawingml/2006/main" noGrp="1"/>
          </p:cNvSpPr>
          <p:nvPr/>
        </p:nvSpPr>
        <p:spPr>
          <a:xfrm xmlns:a="http://schemas.openxmlformats.org/drawingml/2006/main">
            <a:off x="657225" y="46672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Обучение только на прошлых OOF-ответах.</a:t>
            </a:r>
          </a:p>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Калибровка порога отделена таким же разрывом.</a:t>
            </a:r>
          </a:p>
        </p:txBody>
      </p:sp>
      <p:sp>
        <p:nvSpPr>
          <p:cNvPr id="6" name="">
            <a:extLst xmlns:a="http://schemas.openxmlformats.org/drawingml/2006/main">
              <a:ext uri="{FF2B5EF4-FFF2-40B4-BE49-F238E27FC236}">
                <a16:creationId xmlns:a16="http://schemas.microsoft.com/office/drawing/2014/main" id="{6457C772-93F0-42F0-A816-CCBEB583954D}"/>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Граф, построенный позже ранних OOF-периодов, исключён из этого эксперимента.</a:t>
            </a:r>
          </a:p>
        </p:txBody>
      </p:sp>
      <p:sp>
        <p:nvSpPr>
          <p:cNvPr id="7" name="">
            <a:extLst xmlns:a="http://schemas.openxmlformats.org/drawingml/2006/main">
              <a:ext uri="{FF2B5EF4-FFF2-40B4-BE49-F238E27FC236}">
                <a16:creationId xmlns:a16="http://schemas.microsoft.com/office/drawing/2014/main" id="{21E0435E-DC84-456A-82F1-522FAA1D0C37}"/>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14</a:t>
            </a:r>
          </a:p>
        </p:txBody>
      </p:sp>
    </p:spTree>
    <p:extLst>
      <p:ext uri="{BB962C8B-B14F-4D97-AF65-F5344CB8AC3E}">
        <p14:creationId xmlns:p14="http://schemas.microsoft.com/office/powerpoint/2010/main" val="2143064017"/>
      </p:ext>
    </p:extLst>
  </p:cSld>
</p:sld>
</file>

<file path=ppt/slides/slide15.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10FB05-56B4-4F5B-8DC7-52F5B718043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Разработка 2025: сравнение подходов</a:t>
            </a:r>
          </a:p>
        </p:txBody>
      </p:sp>
      <p:graphicFrame>
        <p:nvGraphicFramePr>
          <p:cNvPr id="6" name=""/>
          <p:cNvGraphicFramePr/>
          <p:nvPr/>
        </p:nvGraphicFramePr>
        <p:xfrm>
          <a:off xmlns:a="http://schemas.openxmlformats.org/drawingml/2006/main" x="609600" y="1685925"/>
          <a:ext xmlns:a="http://schemas.openxmlformats.org/drawingml/2006/main" cx="10972800" cy="4000500"/>
        </p:xfrm>
        <a:graphic xmlns:a="http://schemas.openxmlformats.org/drawingml/2006/main">
          <a:graphicData uri="http://schemas.openxmlformats.org/drawingml/2006/table">
            <a:tbl>
              <a:tblPr/>
              <a:tblGrid>
                <a:gridCol w="5305425"/>
                <a:gridCol w="1028700"/>
                <a:gridCol w="1028700"/>
                <a:gridCol w="1809750"/>
                <a:gridCol w="1800225"/>
              </a:tblGrid>
              <a:tr h="500063">
                <a:tc>
                  <a:txBody>
                    <a:bodyPr/>
                    <a:lstStyle/>
                    <a:p>
                      <a:r>
                        <a:rPr sz="1650" b="1">
                          <a:solidFill>
                            <a:srgbClr val="0D201B"/>
                          </a:solidFill>
                          <a:latin typeface="Arial"/>
                          <a:ea typeface="Arial"/>
                          <a:cs typeface="Arial"/>
                        </a:rPr>
                        <a:t>Подход</a:t>
                      </a:r>
                    </a:p>
                  </a:txBody>
                  <a:tcPr marL="133350" marR="133350" marT="95250" marB="95250">
                    <a:solidFill>
                      <a:srgbClr val="D8F77B"/>
                    </a:solidFill>
                  </a:tcPr>
                </a:tc>
                <a:tc>
                  <a:txBody>
                    <a:bodyPr/>
                    <a:lstStyle/>
                    <a:p>
                      <a:r>
                        <a:rPr sz="1650" b="1">
                          <a:solidFill>
                            <a:srgbClr val="0D201B"/>
                          </a:solidFill>
                          <a:latin typeface="Arial"/>
                          <a:ea typeface="Arial"/>
                          <a:cs typeface="Arial"/>
                        </a:rPr>
                        <a:t>TP</a:t>
                      </a:r>
                    </a:p>
                  </a:txBody>
                  <a:tcPr marL="133350" marR="133350" marT="95250" marB="95250">
                    <a:solidFill>
                      <a:srgbClr val="D8F77B"/>
                    </a:solidFill>
                  </a:tcPr>
                </a:tc>
                <a:tc>
                  <a:txBody>
                    <a:bodyPr/>
                    <a:lstStyle/>
                    <a:p>
                      <a:r>
                        <a:rPr sz="1650" b="1">
                          <a:solidFill>
                            <a:srgbClr val="0D201B"/>
                          </a:solidFill>
                          <a:latin typeface="Arial"/>
                          <a:ea typeface="Arial"/>
                          <a:cs typeface="Arial"/>
                        </a:rPr>
                        <a:t>FP</a:t>
                      </a:r>
                    </a:p>
                  </a:txBody>
                  <a:tcPr marL="133350" marR="133350" marT="95250" marB="95250">
                    <a:solidFill>
                      <a:srgbClr val="D8F77B"/>
                    </a:solidFill>
                  </a:tcPr>
                </a:tc>
                <a:tc>
                  <a:txBody>
                    <a:bodyPr/>
                    <a:lstStyle/>
                    <a:p>
                      <a:r>
                        <a:rPr sz="1650" b="1">
                          <a:solidFill>
                            <a:srgbClr val="0D201B"/>
                          </a:solidFill>
                          <a:latin typeface="Arial"/>
                          <a:ea typeface="Arial"/>
                          <a:cs typeface="Arial"/>
                        </a:rPr>
                        <a:t>Precision</a:t>
                      </a:r>
                    </a:p>
                  </a:txBody>
                  <a:tcPr marL="133350" marR="133350" marT="95250" marB="95250">
                    <a:solidFill>
                      <a:srgbClr val="D8F77B"/>
                    </a:solidFill>
                  </a:tcPr>
                </a:tc>
                <a:tc>
                  <a:txBody>
                    <a:bodyPr/>
                    <a:lstStyle/>
                    <a:p>
                      <a:r>
                        <a:rPr sz="1650" b="1">
                          <a:solidFill>
                            <a:srgbClr val="0D201B"/>
                          </a:solidFill>
                          <a:latin typeface="Arial"/>
                          <a:ea typeface="Arial"/>
                          <a:cs typeface="Arial"/>
                        </a:rPr>
                        <a:t>Recall</a:t>
                      </a:r>
                    </a:p>
                  </a:txBody>
                  <a:tcPr marL="133350" marR="133350" marT="95250" marB="95250">
                    <a:solidFill>
                      <a:srgbClr val="D8F77B"/>
                    </a:solidFill>
                  </a:tcPr>
                </a:tc>
              </a:tr>
              <a:tr h="500063">
                <a:tc>
                  <a:txBody>
                    <a:bodyPr/>
                    <a:lstStyle/>
                    <a:p>
                      <a:r>
                        <a:rPr sz="165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31.0%</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LightGBM + полная история</a:t>
                      </a:r>
                    </a:p>
                  </a:txBody>
                  <a:tcPr marL="133350" marR="133350" marT="95250" marB="95250">
                    <a:solidFill>
                      <a:srgbClr val="0D201B"/>
                    </a:solidFill>
                  </a:tcPr>
                </a:tc>
                <a:tc>
                  <a:txBody>
                    <a:bodyPr/>
                    <a:lstStyle/>
                    <a:p>
                      <a:r>
                        <a:rPr sz="1650">
                          <a:solidFill>
                            <a:srgbClr val="F3F1E9"/>
                          </a:solidFill>
                          <a:latin typeface="Arial"/>
                          <a:ea typeface="Arial"/>
                          <a:cs typeface="Arial"/>
                        </a:rPr>
                        <a:t>15</a:t>
                      </a:r>
                    </a:p>
                  </a:txBody>
                  <a:tcPr marL="133350" marR="133350" marT="95250" marB="95250">
                    <a:solidFill>
                      <a:srgbClr val="0D201B"/>
                    </a:solidFill>
                  </a:tcPr>
                </a:tc>
                <a:tc>
                  <a:txBody>
                    <a:bodyPr/>
                    <a:lstStyle/>
                    <a:p>
                      <a:r>
                        <a:rPr sz="1650">
                          <a:solidFill>
                            <a:srgbClr val="F3F1E9"/>
                          </a:solidFill>
                          <a:latin typeface="Arial"/>
                          <a:ea typeface="Arial"/>
                          <a:cs typeface="Arial"/>
                        </a:rPr>
                        <a:t>27</a:t>
                      </a:r>
                    </a:p>
                  </a:txBody>
                  <a:tcPr marL="133350" marR="133350" marT="95250" marB="95250">
                    <a:solidFill>
                      <a:srgbClr val="0D201B"/>
                    </a:solidFill>
                  </a:tcPr>
                </a:tc>
                <a:tc>
                  <a:txBody>
                    <a:bodyPr/>
                    <a:lstStyle/>
                    <a:p>
                      <a:r>
                        <a:rPr sz="1650">
                          <a:solidFill>
                            <a:srgbClr val="F3F1E9"/>
                          </a:solidFill>
                          <a:latin typeface="Arial"/>
                          <a:ea typeface="Arial"/>
                          <a:cs typeface="Arial"/>
                        </a:rPr>
                        <a:t>35.7%</a:t>
                      </a:r>
                    </a:p>
                  </a:txBody>
                  <a:tcPr marL="133350" marR="133350" marT="95250" marB="95250">
                    <a:solidFill>
                      <a:srgbClr val="0D201B"/>
                    </a:solidFill>
                  </a:tcPr>
                </a:tc>
                <a:tc>
                  <a:txBody>
                    <a:bodyPr/>
                    <a:lstStyle/>
                    <a:p>
                      <a:r>
                        <a:rPr sz="1650">
                          <a:solidFill>
                            <a:srgbClr val="F3F1E9"/>
                          </a:solidFill>
                          <a:latin typeface="Arial"/>
                          <a:ea typeface="Arial"/>
                          <a:cs typeface="Arial"/>
                        </a:rPr>
                        <a:t>45.5%</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Ordered</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28</a:t>
                      </a:r>
                    </a:p>
                  </a:txBody>
                  <a:tcPr marL="133350" marR="133350" marT="95250" marB="95250">
                    <a:solidFill>
                      <a:srgbClr val="0D201B"/>
                    </a:solidFill>
                  </a:tcPr>
                </a:tc>
                <a:tc>
                  <a:txBody>
                    <a:bodyPr/>
                    <a:lstStyle/>
                    <a:p>
                      <a:r>
                        <a:rPr sz="1650">
                          <a:solidFill>
                            <a:srgbClr val="F3F1E9"/>
                          </a:solidFill>
                          <a:latin typeface="Arial"/>
                          <a:ea typeface="Arial"/>
                          <a:cs typeface="Arial"/>
                        </a:rPr>
                        <a:t>33.3%</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Extra Trees</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32.6%</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19</a:t>
                      </a:r>
                    </a:p>
                  </a:txBody>
                  <a:tcPr marL="133350" marR="133350" marT="95250" marB="95250">
                    <a:solidFill>
                      <a:srgbClr val="0D201B"/>
                    </a:solidFill>
                  </a:tcPr>
                </a:tc>
                <a:tc>
                  <a:txBody>
                    <a:bodyPr/>
                    <a:lstStyle/>
                    <a:p>
                      <a:r>
                        <a:rPr sz="1650">
                          <a:solidFill>
                            <a:srgbClr val="F3F1E9"/>
                          </a:solidFill>
                          <a:latin typeface="Arial"/>
                          <a:ea typeface="Arial"/>
                          <a:cs typeface="Arial"/>
                        </a:rPr>
                        <a:t>40.6%</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ответы</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20</a:t>
                      </a:r>
                    </a:p>
                  </a:txBody>
                  <a:tcPr marL="133350" marR="133350" marT="95250" marB="95250">
                    <a:solidFill>
                      <a:srgbClr val="0D201B"/>
                    </a:solidFill>
                  </a:tcPr>
                </a:tc>
                <a:tc>
                  <a:txBody>
                    <a:bodyPr/>
                    <a:lstStyle/>
                    <a:p>
                      <a:r>
                        <a:rPr sz="1650">
                          <a:solidFill>
                            <a:srgbClr val="F3F1E9"/>
                          </a:solidFill>
                          <a:latin typeface="Arial"/>
                          <a:ea typeface="Arial"/>
                          <a:cs typeface="Arial"/>
                        </a:rPr>
                        <a:t>23.1%</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контекст</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25</a:t>
                      </a:r>
                    </a:p>
                  </a:txBody>
                  <a:tcPr marL="133350" marR="133350" marT="95250" marB="95250">
                    <a:solidFill>
                      <a:srgbClr val="0D201B"/>
                    </a:solidFill>
                  </a:tcPr>
                </a:tc>
                <a:tc>
                  <a:txBody>
                    <a:bodyPr/>
                    <a:lstStyle/>
                    <a:p>
                      <a:r>
                        <a:rPr sz="1650">
                          <a:solidFill>
                            <a:srgbClr val="F3F1E9"/>
                          </a:solidFill>
                          <a:latin typeface="Arial"/>
                          <a:ea typeface="Arial"/>
                          <a:cs typeface="Arial"/>
                        </a:rPr>
                        <a:t>19.4%</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80B90CEA-8C49-4A5C-9BFF-71D919F1A0B1}"/>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33 инцидента, апрель–декабрь 2025. Сложность мета-модели сама по себе не дала улучшения.</a:t>
            </a:r>
          </a:p>
        </p:txBody>
      </p:sp>
      <p:sp>
        <p:nvSpPr>
          <p:cNvPr id="4" name="">
            <a:extLst xmlns:a="http://schemas.openxmlformats.org/drawingml/2006/main">
              <a:ext uri="{FF2B5EF4-FFF2-40B4-BE49-F238E27FC236}">
                <a16:creationId xmlns:a16="http://schemas.microsoft.com/office/drawing/2014/main" id="{9B5A3615-4C5D-4D30-8C36-143F23AE526B}"/>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15</a:t>
            </a:r>
          </a:p>
        </p:txBody>
      </p:sp>
    </p:spTree>
    <p:extLst>
      <p:ext uri="{BB962C8B-B14F-4D97-AF65-F5344CB8AC3E}">
        <p14:creationId xmlns:p14="http://schemas.microsoft.com/office/powerpoint/2010/main" val="1454820789"/>
      </p:ext>
    </p:extLst>
  </p:cSld>
</p:sld>
</file>

<file path=ppt/slides/slide1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E0B60C5-40E6-431C-B907-A0F5AE6D2D6E}"/>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Один ансамбль в Python и в браузере</a:t>
            </a:r>
          </a:p>
        </p:txBody>
      </p:sp>
      <p:graphicFrame>
        <p:nvGraphicFramePr>
          <p:cNvPr id="6" name=""/>
          <p:cNvGraphicFramePr/>
          <p:nvPr/>
        </p:nvGraphicFramePr>
        <p:xfrm>
          <a:off xmlns:a="http://schemas.openxmlformats.org/drawingml/2006/main" x="609600" y="1733550"/>
          <a:ext xmlns:a="http://schemas.openxmlformats.org/drawingml/2006/main" cx="10972800" cy="3886200"/>
        </p:xfrm>
        <a:graphic xmlns:a="http://schemas.openxmlformats.org/drawingml/2006/main">
          <a:graphicData uri="http://schemas.openxmlformats.org/drawingml/2006/table">
            <a:tbl>
              <a:tblPr/>
              <a:tblGrid>
                <a:gridCol w="5172075"/>
                <a:gridCol w="5800725"/>
              </a:tblGrid>
              <a:tr h="647700">
                <a:tc>
                  <a:txBody>
                    <a:bodyPr/>
                    <a:lstStyle/>
                    <a:p>
                      <a:r>
                        <a:rPr sz="1800" b="1">
                          <a:solidFill>
                            <a:srgbClr val="0D201B"/>
                          </a:solidFill>
                          <a:latin typeface="Arial"/>
                          <a:ea typeface="Arial"/>
                          <a:cs typeface="Arial"/>
                        </a:rPr>
                        <a:t>Проверка</a:t>
                      </a:r>
                    </a:p>
                  </a:txBody>
                  <a:tcPr marL="133350" marR="133350" marT="95250" marB="95250">
                    <a:solidFill>
                      <a:srgbClr val="D8F77B"/>
                    </a:solidFill>
                  </a:tcPr>
                </a:tc>
                <a:tc>
                  <a:txBody>
                    <a:bodyPr/>
                    <a:lstStyle/>
                    <a:p>
                      <a:r>
                        <a:rPr sz="1800" b="1">
                          <a:solidFill>
                            <a:srgbClr val="0D201B"/>
                          </a:solidFill>
                          <a:latin typeface="Arial"/>
                          <a:ea typeface="Arial"/>
                          <a:cs typeface="Arial"/>
                        </a:rPr>
                        <a:t>Результат</a:t>
                      </a:r>
                    </a:p>
                  </a:txBody>
                  <a:tcPr marL="133350" marR="133350" marT="95250" marB="95250">
                    <a:solidFill>
                      <a:srgbClr val="D8F77B"/>
                    </a:solidFill>
                  </a:tcPr>
                </a:tc>
              </a:tr>
              <a:tr h="647700">
                <a:tc>
                  <a:txBody>
                    <a:bodyPr/>
                    <a:lstStyle/>
                    <a:p>
                      <a:r>
                        <a:rPr sz="1800">
                          <a:solidFill>
                            <a:srgbClr val="F3F1E9"/>
                          </a:solidFill>
                          <a:latin typeface="Arial"/>
                          <a:ea typeface="Arial"/>
                          <a:cs typeface="Arial"/>
                        </a:rPr>
                        <a:t>Все 8 базовых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5 LightGBM, CatBoost, Extra Trees, Logistic</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Контракт входа</a:t>
                      </a:r>
                    </a:p>
                  </a:txBody>
                  <a:tcPr marL="133350" marR="133350" marT="95250" marB="95250">
                    <a:solidFill>
                      <a:srgbClr val="0D201B"/>
                    </a:solidFill>
                  </a:tcPr>
                </a:tc>
                <a:tc>
                  <a:txBody>
                    <a:bodyPr/>
                    <a:lstStyle/>
                    <a:p>
                      <a:r>
                        <a:rPr sz="1800">
                          <a:solidFill>
                            <a:srgbClr val="F3F1E9"/>
                          </a:solidFill>
                          <a:latin typeface="Arial"/>
                          <a:ea typeface="Arial"/>
                          <a:cs typeface="Arial"/>
                        </a:rPr>
                        <a:t>178 признаков и дата, 179 столбцов CSV</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Сравнение с Python</a:t>
                      </a:r>
                    </a:p>
                  </a:txBody>
                  <a:tcPr marL="133350" marR="133350" marT="95250" marB="95250">
                    <a:solidFill>
                      <a:srgbClr val="0D201B"/>
                    </a:solidFill>
                  </a:tcPr>
                </a:tc>
                <a:tc>
                  <a:txBody>
                    <a:bodyPr/>
                    <a:lstStyle/>
                    <a:p>
                      <a:r>
                        <a:rPr sz="1800">
                          <a:solidFill>
                            <a:srgbClr val="F3F1E9"/>
                          </a:solidFill>
                          <a:latin typeface="Arial"/>
                          <a:ea typeface="Arial"/>
                          <a:cs typeface="Arial"/>
                        </a:rPr>
                        <a:t>783 строки, включая пропуски и новую группу</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Максимальная абсолютная разница</a:t>
                      </a:r>
                    </a:p>
                  </a:txBody>
                  <a:tcPr marL="133350" marR="133350" marT="95250" marB="95250">
                    <a:solidFill>
                      <a:srgbClr val="0D201B"/>
                    </a:solidFill>
                  </a:tcPr>
                </a:tc>
                <a:tc>
                  <a:txBody>
                    <a:bodyPr/>
                    <a:lstStyle/>
                    <a:p>
                      <a:r>
                        <a:rPr sz="1800">
                          <a:solidFill>
                            <a:srgbClr val="F3F1E9"/>
                          </a:solidFill>
                          <a:latin typeface="Arial"/>
                          <a:ea typeface="Arial"/>
                          <a:cs typeface="Arial"/>
                        </a:rPr>
                        <a:t>3,9 × 10⁻¹⁶ при допуске 10⁻¹⁰</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Версия / обучение</a:t>
                      </a:r>
                    </a:p>
                  </a:txBody>
                  <a:tcPr marL="133350" marR="133350" marT="95250" marB="95250">
                    <a:solidFill>
                      <a:srgbClr val="0D201B"/>
                    </a:solidFill>
                  </a:tcPr>
                </a:tc>
                <a:tc>
                  <a:txBody>
                    <a:bodyPr/>
                    <a:lstStyle/>
                    <a:p>
                      <a:r>
                        <a:rPr sz="1800">
                          <a:solidFill>
                            <a:srgbClr val="F3F1E9"/>
                          </a:solidFill>
                          <a:latin typeface="Arial"/>
                          <a:ea typeface="Arial"/>
                          <a:cs typeface="Arial"/>
                        </a:rPr>
                        <a:t>piket-eight-2026-06 / до 16.05.2026</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62328995-DBE4-4F27-8D3F-924424F193DB}"/>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Метрики на слайде 9 относятся к ежемесячному replay. Совпадение расчёта не доказывает качество прогноза.</a:t>
            </a:r>
          </a:p>
        </p:txBody>
      </p:sp>
      <p:sp>
        <p:nvSpPr>
          <p:cNvPr id="4" name="">
            <a:extLst xmlns:a="http://schemas.openxmlformats.org/drawingml/2006/main">
              <a:ext uri="{FF2B5EF4-FFF2-40B4-BE49-F238E27FC236}">
                <a16:creationId xmlns:a16="http://schemas.microsoft.com/office/drawing/2014/main" id="{D99C1016-7F50-4C38-9244-984E51891288}"/>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16</a:t>
            </a:r>
          </a:p>
        </p:txBody>
      </p:sp>
    </p:spTree>
    <p:extLst>
      <p:ext uri="{BB962C8B-B14F-4D97-AF65-F5344CB8AC3E}">
        <p14:creationId xmlns:p14="http://schemas.microsoft.com/office/powerpoint/2010/main" val="1114000889"/>
      </p:ext>
    </p:extLst>
  </p:cSld>
</p:sld>
</file>

<file path=ppt/slides/slide1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B8AC31-729B-407B-82FB-0A987DACE1DA}"/>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Вероятность повторного инцидента</a:t>
            </a:r>
          </a:p>
        </p:txBody>
      </p:sp>
      <p:sp>
        <p:nvSpPr>
          <p:cNvPr id="2" name="">
            <a:extLst xmlns:a="http://schemas.openxmlformats.org/drawingml/2006/main">
              <a:ext uri="{FF2B5EF4-FFF2-40B4-BE49-F238E27FC236}">
                <a16:creationId xmlns:a16="http://schemas.microsoft.com/office/drawing/2014/main" id="{AAB490E4-D4DA-4F2A-B15D-0D33F4DBFB80}"/>
              </a:ext>
            </a:extLst>
          </p:cNvPr>
          <p:cNvSpPr>
            <a:spLocks xmlns:a="http://schemas.openxmlformats.org/drawingml/2006/main" noGrp="1"/>
          </p:cNvSpPr>
          <p:nvPr/>
        </p:nvSpPr>
        <p:spPr>
          <a:xfrm xmlns:a="http://schemas.openxmlformats.org/drawingml/2006/main">
            <a:off x="638175" y="18478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8F77B"/>
                </a:solidFill>
                <a:latin typeface="Arial"/>
                <a:ea typeface="Arial"/>
                <a:cs typeface="Arial"/>
              </a:defRPr>
            </a:pPr>
            <a:r>
              <a:rPr sz="2325" b="1">
                <a:solidFill>
                  <a:srgbClr val="D8F77B"/>
                </a:solidFill>
                <a:latin typeface="Arial"/>
                <a:ea typeface="Arial"/>
                <a:cs typeface="Arial"/>
              </a:rPr>
              <a:t>Условие: после прошлого сбоя прошло a дней</a:t>
            </a:r>
          </a:p>
        </p:txBody>
      </p:sp>
      <p:sp>
        <p:nvSpPr>
          <p:cNvPr id="3" name="">
            <a:extLst xmlns:a="http://schemas.openxmlformats.org/drawingml/2006/main">
              <a:ext uri="{FF2B5EF4-FFF2-40B4-BE49-F238E27FC236}">
                <a16:creationId xmlns:a16="http://schemas.microsoft.com/office/drawing/2014/main" id="{1B0D6F69-71C9-4DD9-AD28-9E3651CA1633}"/>
              </a:ext>
            </a:extLst>
          </p:cNvPr>
          <p:cNvSpPr>
            <a:spLocks xmlns:a="http://schemas.openxmlformats.org/drawingml/2006/main" noGrp="1"/>
          </p:cNvSpPr>
          <p:nvPr/>
        </p:nvSpPr>
        <p:spPr>
          <a:xfrm xmlns:a="http://schemas.openxmlformats.org/drawingml/2006/main">
            <a:off x="647700" y="275272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F3F1E9"/>
                </a:solidFill>
                <a:latin typeface="Arial"/>
                <a:ea typeface="Arial"/>
                <a:cs typeface="Arial"/>
              </a:defRPr>
            </a:pPr>
            <a:r>
              <a:rPr sz="3000" b="1">
                <a:solidFill>
                  <a:srgbClr val="F3F1E9"/>
                </a:solidFill>
                <a:latin typeface="Arial"/>
                <a:ea typeface="Arial"/>
                <a:cs typeface="Arial"/>
              </a:rPr>
              <a:t>P(a + 1 &lt; T ≤ a + 15 ∣ T &gt; a, H_D)</a:t>
            </a:r>
          </a:p>
        </p:txBody>
      </p:sp>
      <p:sp>
        <p:nvSpPr>
          <p:cNvPr id="4" name="">
            <a:extLst xmlns:a="http://schemas.openxmlformats.org/drawingml/2006/main">
              <a:ext uri="{FF2B5EF4-FFF2-40B4-BE49-F238E27FC236}">
                <a16:creationId xmlns:a16="http://schemas.microsoft.com/office/drawing/2014/main" id="{B69F41E2-8318-4433-B58D-1E87BDD22B16}"/>
              </a:ext>
            </a:extLst>
          </p:cNvPr>
          <p:cNvSpPr>
            <a:spLocks xmlns:a="http://schemas.openxmlformats.org/drawingml/2006/main" noGrp="1"/>
          </p:cNvSpPr>
          <p:nvPr/>
        </p:nvSpPr>
        <p:spPr>
          <a:xfrm xmlns:a="http://schemas.openxmlformats.org/drawingml/2006/main">
            <a:off x="647700" y="35814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F3F1E9"/>
                </a:solidFill>
                <a:latin typeface="Arial"/>
                <a:ea typeface="Arial"/>
                <a:cs typeface="Arial"/>
              </a:defRPr>
            </a:pPr>
            <a:r>
              <a:rPr sz="2775" b="1">
                <a:solidFill>
                  <a:srgbClr val="F3F1E9"/>
                </a:solidFill>
                <a:latin typeface="Arial"/>
                <a:ea typeface="Arial"/>
                <a:cs typeface="Arial"/>
              </a:rPr>
              <a:t>= [F_D(a + 15) − F_D(a + 1)] / [1 − F_D(a)]</a:t>
            </a:r>
          </a:p>
        </p:txBody>
      </p:sp>
      <p:sp>
        <p:nvSpPr>
          <p:cNvPr id="5" name="">
            <a:extLst xmlns:a="http://schemas.openxmlformats.org/drawingml/2006/main">
              <a:ext uri="{FF2B5EF4-FFF2-40B4-BE49-F238E27FC236}">
                <a16:creationId xmlns:a16="http://schemas.microsoft.com/office/drawing/2014/main" id="{C664C405-9EB0-4738-ABA8-A501B423C7CC}"/>
              </a:ext>
            </a:extLst>
          </p:cNvPr>
          <p:cNvSpPr>
            <a:spLocks xmlns:a="http://schemas.openxmlformats.org/drawingml/2006/main" noGrp="1"/>
          </p:cNvSpPr>
          <p:nvPr/>
        </p:nvSpPr>
        <p:spPr>
          <a:xfrm xmlns:a="http://schemas.openxmlformats.org/drawingml/2006/main">
            <a:off x="666750" y="486727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При короткой истории вероятность сжимается множителем n / (n + 3).</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Модель получает фазу цикла, разброс интервалов и недавний фон сети.</a:t>
            </a:r>
          </a:p>
        </p:txBody>
      </p:sp>
      <p:sp>
        <p:nvSpPr>
          <p:cNvPr id="6" name="">
            <a:extLst xmlns:a="http://schemas.openxmlformats.org/drawingml/2006/main">
              <a:ext uri="{FF2B5EF4-FFF2-40B4-BE49-F238E27FC236}">
                <a16:creationId xmlns:a16="http://schemas.microsoft.com/office/drawing/2014/main" id="{9C0CAA57-62E1-4475-8682-A2C2C6B59E6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H_D содержит только наблюдения на дату D. Цель: различить повторный риск и случайный всплеск.</a:t>
            </a:r>
          </a:p>
        </p:txBody>
      </p:sp>
      <p:sp>
        <p:nvSpPr>
          <p:cNvPr id="7" name="">
            <a:extLst xmlns:a="http://schemas.openxmlformats.org/drawingml/2006/main">
              <a:ext uri="{FF2B5EF4-FFF2-40B4-BE49-F238E27FC236}">
                <a16:creationId xmlns:a16="http://schemas.microsoft.com/office/drawing/2014/main" id="{9240972C-B689-4C45-B942-84861AEBDA7A}"/>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17</a:t>
            </a:r>
          </a:p>
        </p:txBody>
      </p:sp>
    </p:spTree>
    <p:extLst>
      <p:ext uri="{BB962C8B-B14F-4D97-AF65-F5344CB8AC3E}">
        <p14:creationId xmlns:p14="http://schemas.microsoft.com/office/powerpoint/2010/main" val="1211393227"/>
      </p:ext>
    </p:extLst>
  </p:cSld>
</p:sld>
</file>

<file path=ppt/slides/slide1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3A4A5DD-0EBA-4842-A613-188A3A9EE890}"/>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Точность и полнота: цена режима</a:t>
            </a:r>
          </a:p>
        </p:txBody>
      </p:sp>
      <p:graphicFrame>
        <p:nvGraphicFramePr>
          <p:cNvPr id="7" name=""/>
          <p:cNvGraphicFramePr/>
          <p:nvPr/>
        </p:nvGraphicFramePr>
        <p:xfrm>
          <a:off xmlns:a="http://schemas.openxmlformats.org/drawingml/2006/main" x="609600" y="1819275"/>
          <a:ext xmlns:a="http://schemas.openxmlformats.org/drawingml/2006/main" cx="10972800" cy="3143250"/>
        </p:xfrm>
        <a:graphic xmlns:a="http://schemas.openxmlformats.org/drawingml/2006/main">
          <a:graphicData uri="http://schemas.openxmlformats.org/drawingml/2006/table">
            <a:tbl>
              <a:tblPr/>
              <a:tblGrid>
                <a:gridCol w="5295900"/>
                <a:gridCol w="1047750"/>
                <a:gridCol w="1047750"/>
                <a:gridCol w="1790700"/>
                <a:gridCol w="1790700"/>
              </a:tblGrid>
              <a:tr h="628650">
                <a:tc>
                  <a:txBody>
                    <a:bodyPr/>
                    <a:lstStyle/>
                    <a:p>
                      <a:r>
                        <a:rPr sz="1800" b="1">
                          <a:solidFill>
                            <a:srgbClr val="0D201B"/>
                          </a:solidFill>
                          <a:latin typeface="Arial"/>
                          <a:ea typeface="Arial"/>
                          <a:cs typeface="Arial"/>
                        </a:rPr>
                        <a:t>Режим</a:t>
                      </a:r>
                    </a:p>
                  </a:txBody>
                  <a:tcPr marL="133350" marR="133350" marT="95250" marB="95250">
                    <a:solidFill>
                      <a:srgbClr val="D8F77B"/>
                    </a:solidFill>
                  </a:tcPr>
                </a:tc>
                <a:tc>
                  <a:txBody>
                    <a:bodyPr/>
                    <a:lstStyle/>
                    <a:p>
                      <a:r>
                        <a:rPr sz="1800" b="1">
                          <a:solidFill>
                            <a:srgbClr val="0D201B"/>
                          </a:solidFill>
                          <a:latin typeface="Arial"/>
                          <a:ea typeface="Arial"/>
                          <a:cs typeface="Arial"/>
                        </a:rPr>
                        <a:t>TP</a:t>
                      </a:r>
                    </a:p>
                  </a:txBody>
                  <a:tcPr marL="133350" marR="133350" marT="95250" marB="95250">
                    <a:solidFill>
                      <a:srgbClr val="D8F77B"/>
                    </a:solidFill>
                  </a:tcPr>
                </a:tc>
                <a:tc>
                  <a:txBody>
                    <a:bodyPr/>
                    <a:lstStyle/>
                    <a:p>
                      <a:r>
                        <a:rPr sz="1800" b="1">
                          <a:solidFill>
                            <a:srgbClr val="0D201B"/>
                          </a:solidFill>
                          <a:latin typeface="Arial"/>
                          <a:ea typeface="Arial"/>
                          <a:cs typeface="Arial"/>
                        </a:rPr>
                        <a:t>FP</a:t>
                      </a:r>
                    </a:p>
                  </a:txBody>
                  <a:tcPr marL="133350" marR="133350" marT="95250" marB="95250">
                    <a:solidFill>
                      <a:srgbClr val="D8F77B"/>
                    </a:solidFill>
                  </a:tcPr>
                </a:tc>
                <a:tc>
                  <a:txBody>
                    <a:bodyPr/>
                    <a:lstStyle/>
                    <a:p>
                      <a:r>
                        <a:rPr sz="1800" b="1">
                          <a:solidFill>
                            <a:srgbClr val="0D201B"/>
                          </a:solidFill>
                          <a:latin typeface="Arial"/>
                          <a:ea typeface="Arial"/>
                          <a:cs typeface="Arial"/>
                        </a:rPr>
                        <a:t>Precision</a:t>
                      </a:r>
                    </a:p>
                  </a:txBody>
                  <a:tcPr marL="133350" marR="133350" marT="95250" marB="95250">
                    <a:solidFill>
                      <a:srgbClr val="D8F77B"/>
                    </a:solidFill>
                  </a:tcPr>
                </a:tc>
                <a:tc>
                  <a:txBody>
                    <a:bodyPr/>
                    <a:lstStyle/>
                    <a:p>
                      <a:r>
                        <a:rPr sz="1800" b="1">
                          <a:solidFill>
                            <a:srgbClr val="0D201B"/>
                          </a:solidFill>
                          <a:latin typeface="Arial"/>
                          <a:ea typeface="Arial"/>
                          <a:cs typeface="Arial"/>
                        </a:rPr>
                        <a:t>Recall</a:t>
                      </a:r>
                    </a:p>
                  </a:txBody>
                  <a:tcPr marL="133350" marR="133350" marT="95250" marB="95250">
                    <a:solidFill>
                      <a:srgbClr val="D8F77B"/>
                    </a:solidFill>
                  </a:tcPr>
                </a:tc>
              </a:tr>
              <a:tr h="628650">
                <a:tc>
                  <a:txBody>
                    <a:bodyPr/>
                    <a:lstStyle/>
                    <a:p>
                      <a:r>
                        <a:rPr sz="180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12</a:t>
                      </a:r>
                    </a:p>
                  </a:txBody>
                  <a:tcPr marL="133350" marR="133350" marT="95250" marB="95250">
                    <a:solidFill>
                      <a:srgbClr val="0D201B"/>
                    </a:solidFill>
                  </a:tcPr>
                </a:tc>
                <a:tc>
                  <a:txBody>
                    <a:bodyPr/>
                    <a:lstStyle/>
                    <a:p>
                      <a:r>
                        <a:rPr sz="1800">
                          <a:solidFill>
                            <a:srgbClr val="F3F1E9"/>
                          </a:solidFill>
                          <a:latin typeface="Arial"/>
                          <a:ea typeface="Arial"/>
                          <a:cs typeface="Arial"/>
                        </a:rPr>
                        <a:t>42,9%</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7</a:t>
                      </a:r>
                    </a:p>
                  </a:txBody>
                  <a:tcPr marL="133350" marR="133350" marT="95250" marB="95250">
                    <a:solidFill>
                      <a:srgbClr val="0D201B"/>
                    </a:solidFill>
                  </a:tcPr>
                </a:tc>
                <a:tc>
                  <a:txBody>
                    <a:bodyPr/>
                    <a:lstStyle/>
                    <a:p>
                      <a:r>
                        <a:rPr sz="1800">
                          <a:solidFill>
                            <a:srgbClr val="F3F1E9"/>
                          </a:solidFill>
                          <a:latin typeface="Arial"/>
                          <a:ea typeface="Arial"/>
                          <a:cs typeface="Arial"/>
                        </a:rPr>
                        <a:t>56,3%</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18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11</a:t>
                      </a:r>
                    </a:p>
                  </a:txBody>
                  <a:tcPr marL="133350" marR="133350" marT="95250" marB="95250">
                    <a:solidFill>
                      <a:srgbClr val="0D201B"/>
                    </a:solidFill>
                  </a:tcPr>
                </a:tc>
                <a:tc>
                  <a:txBody>
                    <a:bodyPr/>
                    <a:lstStyle/>
                    <a:p>
                      <a:r>
                        <a:rPr sz="1800">
                          <a:solidFill>
                            <a:srgbClr val="F3F1E9"/>
                          </a:solidFill>
                          <a:latin typeface="Arial"/>
                          <a:ea typeface="Arial"/>
                          <a:cs typeface="Arial"/>
                        </a:rPr>
                        <a:t>13</a:t>
                      </a:r>
                    </a:p>
                  </a:txBody>
                  <a:tcPr marL="133350" marR="133350" marT="95250" marB="95250">
                    <a:solidFill>
                      <a:srgbClr val="0D201B"/>
                    </a:solidFill>
                  </a:tcPr>
                </a:tc>
                <a:tc>
                  <a:txBody>
                    <a:bodyPr/>
                    <a:lstStyle/>
                    <a:p>
                      <a:r>
                        <a:rPr sz="1800">
                          <a:solidFill>
                            <a:srgbClr val="F3F1E9"/>
                          </a:solidFill>
                          <a:latin typeface="Arial"/>
                          <a:ea typeface="Arial"/>
                          <a:cs typeface="Arial"/>
                        </a:rPr>
                        <a:t>45,8%</a:t>
                      </a:r>
                    </a:p>
                  </a:txBody>
                  <a:tcPr marL="133350" marR="133350" marT="95250" marB="95250">
                    <a:solidFill>
                      <a:srgbClr val="0D201B"/>
                    </a:solidFill>
                  </a:tcPr>
                </a:tc>
                <a:tc>
                  <a:txBody>
                    <a:bodyPr/>
                    <a:lstStyle/>
                    <a:p>
                      <a:r>
                        <a:rPr sz="1800">
                          <a:solidFill>
                            <a:srgbClr val="F3F1E9"/>
                          </a:solidFill>
                          <a:latin typeface="Arial"/>
                          <a:ea typeface="Arial"/>
                          <a:cs typeface="Arial"/>
                        </a:rPr>
                        <a:t>50,0%</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Политика повторяемости</a:t>
                      </a:r>
                    </a:p>
                  </a:txBody>
                  <a:tcPr marL="133350" marR="133350" marT="95250" marB="95250">
                    <a:solidFill>
                      <a:srgbClr val="0D201B"/>
                    </a:solidFill>
                  </a:tcPr>
                </a:tc>
                <a:tc>
                  <a:txBody>
                    <a:bodyPr/>
                    <a:lstStyle/>
                    <a:p>
                      <a:r>
                        <a:rPr sz="1800">
                          <a:solidFill>
                            <a:srgbClr val="F3F1E9"/>
                          </a:solidFill>
                          <a:latin typeface="Arial"/>
                          <a:ea typeface="Arial"/>
                          <a:cs typeface="Arial"/>
                        </a:rPr>
                        <a:t>10</a:t>
                      </a:r>
                    </a:p>
                  </a:txBody>
                  <a:tcPr marL="133350" marR="133350" marT="95250" marB="95250">
                    <a:solidFill>
                      <a:srgbClr val="0D201B"/>
                    </a:solidFill>
                  </a:tcPr>
                </a:tc>
                <a:tc>
                  <a:txBody>
                    <a:bodyPr/>
                    <a:lstStyle/>
                    <a:p>
                      <a:r>
                        <a:rPr sz="1800">
                          <a:solidFill>
                            <a:srgbClr val="F3F1E9"/>
                          </a:solidFill>
                          <a:latin typeface="Arial"/>
                          <a:ea typeface="Arial"/>
                          <a:cs typeface="Arial"/>
                        </a:rPr>
                        <a:t>8</a:t>
                      </a:r>
                    </a:p>
                  </a:txBody>
                  <a:tcPr marL="133350" marR="133350" marT="95250" marB="95250">
                    <a:solidFill>
                      <a:srgbClr val="0D201B"/>
                    </a:solidFill>
                  </a:tcPr>
                </a:tc>
                <a:tc>
                  <a:txBody>
                    <a:bodyPr/>
                    <a:lstStyle/>
                    <a:p>
                      <a:r>
                        <a:rPr sz="1800">
                          <a:solidFill>
                            <a:srgbClr val="F3F1E9"/>
                          </a:solidFill>
                          <a:latin typeface="Arial"/>
                          <a:ea typeface="Arial"/>
                          <a:cs typeface="Arial"/>
                        </a:rPr>
                        <a:t>55,6%</a:t>
                      </a:r>
                    </a:p>
                  </a:txBody>
                  <a:tcPr marL="133350" marR="133350" marT="95250" marB="95250">
                    <a:solidFill>
                      <a:srgbClr val="0D201B"/>
                    </a:solidFill>
                  </a:tcPr>
                </a:tc>
                <a:tc>
                  <a:txBody>
                    <a:bodyPr/>
                    <a:lstStyle/>
                    <a:p>
                      <a:r>
                        <a:rPr sz="1800">
                          <a:solidFill>
                            <a:srgbClr val="F3F1E9"/>
                          </a:solidFill>
                          <a:latin typeface="Arial"/>
                          <a:ea typeface="Arial"/>
                          <a:cs typeface="Arial"/>
                        </a:rPr>
                        <a:t>45,5%</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B57DFDAD-9CC5-4E6A-A4A0-C1AF5D3C7C7E}"/>
              </a:ext>
            </a:extLst>
          </p:cNvPr>
          <p:cNvSpPr>
            <a:spLocks xmlns:a="http://schemas.openxmlformats.org/drawingml/2006/main" noGrp="1"/>
          </p:cNvSpPr>
          <p:nvPr/>
        </p:nvSpPr>
        <p:spPr>
          <a:xfrm xmlns:a="http://schemas.openxmlformats.org/drawingml/2006/main">
            <a:off x="704850" y="5419725"/>
            <a:ext cx="10725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Режим выбирается под допустимое число проверок.</a:t>
            </a:r>
          </a:p>
        </p:txBody>
      </p:sp>
      <p:sp>
        <p:nvSpPr>
          <p:cNvPr id="4" name="">
            <a:extLst xmlns:a="http://schemas.openxmlformats.org/drawingml/2006/main">
              <a:ext uri="{FF2B5EF4-FFF2-40B4-BE49-F238E27FC236}">
                <a16:creationId xmlns:a16="http://schemas.microsoft.com/office/drawing/2014/main" id="{0726B6B5-5A8F-49E8-8CDC-6369F6E370D9}"/>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Все строки относятся к одному периоду. Метрики разных вариантов нельзя объединять в одну пару.</a:t>
            </a:r>
          </a:p>
        </p:txBody>
      </p:sp>
      <p:sp>
        <p:nvSpPr>
          <p:cNvPr id="5" name="">
            <a:extLst xmlns:a="http://schemas.openxmlformats.org/drawingml/2006/main">
              <a:ext uri="{FF2B5EF4-FFF2-40B4-BE49-F238E27FC236}">
                <a16:creationId xmlns:a16="http://schemas.microsoft.com/office/drawing/2014/main" id="{DA2E3413-5361-46B2-9F7E-613544FB1CE3}"/>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18</a:t>
            </a:r>
          </a:p>
        </p:txBody>
      </p:sp>
    </p:spTree>
    <p:extLst>
      <p:ext uri="{BB962C8B-B14F-4D97-AF65-F5344CB8AC3E}">
        <p14:creationId xmlns:p14="http://schemas.microsoft.com/office/powerpoint/2010/main" val="1384764593"/>
      </p:ext>
    </p:extLst>
  </p:cSld>
</p:sld>
</file>

<file path=ppt/theme/theme1.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Бананчики</dc:creator>
  <lastModifiedBy>Бананчики</lastModifiedBy>
  <dc:title>ПИКЕТ / ЛЦТ 2026</dc:title>
  <dcterms:created xsi:type="dcterms:W3CDTF">2026-09-29T20:28:08.9510000Z</dcterms:created>
  <dcterms:modified xsi:type="dcterms:W3CDTF">2026-09-29T20:28:08.9510000Z</dcterms:modified>
</coreProperties>
</file>