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89a8595a5b04054" /><Relationship Type="http://schemas.openxmlformats.org/officeDocument/2006/relationships/extended-properties" Target="/docProps/app.xml" Id="Rb3a6ce96f9574a8a" /><Relationship Type="http://schemas.openxmlformats.org/officeDocument/2006/relationships/officeDocument" Target="/ppt/presentation.xml" Id="Rc18fd66c94374f3a" /></Relationships>
</file>

<file path=ppt/presentation.xml><?xml version="1.0" encoding="utf-8"?>
<p:presentation xmlns:p="http://schemas.openxmlformats.org/presentationml/2006/main">
  <p:sldMasterIdLst>
    <p:sldMasterId xmlns:r="http://schemas.openxmlformats.org/officeDocument/2006/relationships" id="2147483648" r:id="R189507ebe1de472b"/>
  </p:sldMasterIdLst>
  <p:notesMasterIdLst>
    <p:notesMasterId xmlns:r="http://schemas.openxmlformats.org/officeDocument/2006/relationships" r:id="Rfa6c74b8260d4afe"/>
  </p:notesMasterIdLst>
  <p:sldIdLst>
    <p:sldId xmlns:r="http://schemas.openxmlformats.org/officeDocument/2006/relationships" id="256" r:id="R6660d611b8014919"/>
    <p:sldId xmlns:r="http://schemas.openxmlformats.org/officeDocument/2006/relationships" id="257" r:id="R1c9c8cea20de4e88"/>
    <p:sldId xmlns:r="http://schemas.openxmlformats.org/officeDocument/2006/relationships" id="258" r:id="R3ce1ee9ed41c4ebb"/>
    <p:sldId xmlns:r="http://schemas.openxmlformats.org/officeDocument/2006/relationships" id="259" r:id="R5712e11238144280"/>
    <p:sldId xmlns:r="http://schemas.openxmlformats.org/officeDocument/2006/relationships" id="260" r:id="R6af7f82d6d9a4e21"/>
    <p:sldId xmlns:r="http://schemas.openxmlformats.org/officeDocument/2006/relationships" id="261" r:id="Rf60c7ed14b004259"/>
    <p:sldId xmlns:r="http://schemas.openxmlformats.org/officeDocument/2006/relationships" id="262" r:id="R309fa09281d84e8f"/>
    <p:sldId xmlns:r="http://schemas.openxmlformats.org/officeDocument/2006/relationships" id="263" r:id="R0481d5474c5e4311"/>
    <p:sldId xmlns:r="http://schemas.openxmlformats.org/officeDocument/2006/relationships" id="264" r:id="Reacb8753f12a4a02"/>
    <p:sldId xmlns:r="http://schemas.openxmlformats.org/officeDocument/2006/relationships" id="265" r:id="R148cc4e067a74bba"/>
    <p:sldId xmlns:r="http://schemas.openxmlformats.org/officeDocument/2006/relationships" id="266" r:id="R31b3cd5de90d4dfe"/>
    <p:sldId xmlns:r="http://schemas.openxmlformats.org/officeDocument/2006/relationships" id="267" r:id="Ref0a66fff6e04e9d"/>
    <p:sldId xmlns:r="http://schemas.openxmlformats.org/officeDocument/2006/relationships" id="268" r:id="Ra3aeb9a51b534a3a"/>
    <p:sldId xmlns:r="http://schemas.openxmlformats.org/officeDocument/2006/relationships" id="269" r:id="R98ccf95b058f43d1"/>
    <p:sldId xmlns:r="http://schemas.openxmlformats.org/officeDocument/2006/relationships" id="270" r:id="R41d7ef3640ab408a"/>
    <p:sldId xmlns:r="http://schemas.openxmlformats.org/officeDocument/2006/relationships" id="271" r:id="R1f14620171824ac2"/>
    <p:sldId xmlns:r="http://schemas.openxmlformats.org/officeDocument/2006/relationships" id="272" r:id="R4c1cbf84695a4cc4"/>
    <p:sldId xmlns:r="http://schemas.openxmlformats.org/officeDocument/2006/relationships" id="273" r:id="R3bf0f47578ee4b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0ab59b27d84cea" /><Relationship Type="http://schemas.openxmlformats.org/officeDocument/2006/relationships/slideMaster" Target="/ppt/slideMasters/slideMaster1.xml" Id="R189507ebe1de472b" /><Relationship Type="http://schemas.openxmlformats.org/officeDocument/2006/relationships/notesMaster" Target="/ppt/notesMasters/notesMaster1.xml" Id="Rfa6c74b8260d4afe" /><Relationship Type="http://schemas.openxmlformats.org/officeDocument/2006/relationships/presProps" Target="/ppt/presProps.xml" Id="Rc3434393b4114320" /><Relationship Type="http://schemas.openxmlformats.org/officeDocument/2006/relationships/tableStyles" Target="/ppt/tableStyles.xml" Id="R8a34cc23bb8342a2" /><Relationship Type="http://schemas.openxmlformats.org/officeDocument/2006/relationships/slide" Target="/ppt/slides/slide1.xml" Id="R6660d611b8014919" /><Relationship Type="http://schemas.openxmlformats.org/officeDocument/2006/relationships/slide" Target="/ppt/slides/slide2.xml" Id="R1c9c8cea20de4e88" /><Relationship Type="http://schemas.openxmlformats.org/officeDocument/2006/relationships/slide" Target="/ppt/slides/slide3.xml" Id="R3ce1ee9ed41c4ebb" /><Relationship Type="http://schemas.openxmlformats.org/officeDocument/2006/relationships/slide" Target="/ppt/slides/slide4.xml" Id="R5712e11238144280" /><Relationship Type="http://schemas.openxmlformats.org/officeDocument/2006/relationships/slide" Target="/ppt/slides/slide5.xml" Id="R6af7f82d6d9a4e21" /><Relationship Type="http://schemas.openxmlformats.org/officeDocument/2006/relationships/slide" Target="/ppt/slides/slide6.xml" Id="Rf60c7ed14b004259" /><Relationship Type="http://schemas.openxmlformats.org/officeDocument/2006/relationships/slide" Target="/ppt/slides/slide7.xml" Id="R309fa09281d84e8f" /><Relationship Type="http://schemas.openxmlformats.org/officeDocument/2006/relationships/slide" Target="/ppt/slides/slide8.xml" Id="R0481d5474c5e4311" /><Relationship Type="http://schemas.openxmlformats.org/officeDocument/2006/relationships/slide" Target="/ppt/slides/slide9.xml" Id="Reacb8753f12a4a02" /><Relationship Type="http://schemas.openxmlformats.org/officeDocument/2006/relationships/slide" Target="/ppt/slides/slide10.xml" Id="R148cc4e067a74bba" /><Relationship Type="http://schemas.openxmlformats.org/officeDocument/2006/relationships/slide" Target="/ppt/slides/slide11.xml" Id="R31b3cd5de90d4dfe" /><Relationship Type="http://schemas.openxmlformats.org/officeDocument/2006/relationships/slide" Target="/ppt/slides/slide12.xml" Id="Ref0a66fff6e04e9d" /><Relationship Type="http://schemas.openxmlformats.org/officeDocument/2006/relationships/slide" Target="/ppt/slides/slide13.xml" Id="Ra3aeb9a51b534a3a" /><Relationship Type="http://schemas.openxmlformats.org/officeDocument/2006/relationships/slide" Target="/ppt/slides/slide14.xml" Id="R98ccf95b058f43d1" /><Relationship Type="http://schemas.openxmlformats.org/officeDocument/2006/relationships/slide" Target="/ppt/slides/slide15.xml" Id="R41d7ef3640ab408a" /><Relationship Type="http://schemas.openxmlformats.org/officeDocument/2006/relationships/slide" Target="/ppt/slides/slide16.xml" Id="R1f14620171824ac2" /><Relationship Type="http://schemas.openxmlformats.org/officeDocument/2006/relationships/slide" Target="/ppt/slides/slide17.xml" Id="R4c1cbf84695a4cc4" /><Relationship Type="http://schemas.openxmlformats.org/officeDocument/2006/relationships/slide" Target="/ppt/slides/slide18.xml" Id="R3bf0f47578ee4b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ba4107f59040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584ca21f184630" /><Relationship Type="http://schemas.openxmlformats.org/officeDocument/2006/relationships/notesMaster" Target="/ppt/notesMasters/notesMaster1.xml" Id="Rfd0c37f9694a46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db9c33c93f48fc" /><Relationship Type="http://schemas.openxmlformats.org/officeDocument/2006/relationships/notesMaster" Target="/ppt/notesMasters/notesMaster1.xml" Id="R2640d5ea960a47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559c2fc5a04642" /><Relationship Type="http://schemas.openxmlformats.org/officeDocument/2006/relationships/notesMaster" Target="/ppt/notesMasters/notesMaster1.xml" Id="R30f502597de74e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10ff95258e4651" /><Relationship Type="http://schemas.openxmlformats.org/officeDocument/2006/relationships/notesMaster" Target="/ppt/notesMasters/notesMaster1.xml" Id="R27fd2e426e0846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13006d897449d5" /><Relationship Type="http://schemas.openxmlformats.org/officeDocument/2006/relationships/notesMaster" Target="/ppt/notesMasters/notesMaster1.xml" Id="R31b440acdb1e49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8d6b4fac0c4fb1" /><Relationship Type="http://schemas.openxmlformats.org/officeDocument/2006/relationships/notesMaster" Target="/ppt/notesMasters/notesMaster1.xml" Id="R7332d6002eb944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f6d851ca2c43f0" /><Relationship Type="http://schemas.openxmlformats.org/officeDocument/2006/relationships/notesMaster" Target="/ppt/notesMasters/notesMaster1.xml" Id="Rfa52f129b80e48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3d23d886e3419c" /><Relationship Type="http://schemas.openxmlformats.org/officeDocument/2006/relationships/notesMaster" Target="/ppt/notesMasters/notesMaster1.xml" Id="R3d766ae99c844a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7bfce6be564626" /><Relationship Type="http://schemas.openxmlformats.org/officeDocument/2006/relationships/notesMaster" Target="/ppt/notesMasters/notesMaster1.xml" Id="Rafd7c48cdfd34b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097c36c48140d3" /><Relationship Type="http://schemas.openxmlformats.org/officeDocument/2006/relationships/notesMaster" Target="/ppt/notesMasters/notesMaster1.xml" Id="R12056572e4104a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08ea48f6e245e2" /><Relationship Type="http://schemas.openxmlformats.org/officeDocument/2006/relationships/notesMaster" Target="/ppt/notesMasters/notesMaster1.xml" Id="Rc369e4dfdd85462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101addb9fea49c9" /><Relationship Type="http://schemas.openxmlformats.org/officeDocument/2006/relationships/notesMaster" Target="/ppt/notesMasters/notesMaster1.xml" Id="Rb89ffd63a5ed497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bc98bbc836d47ad" /><Relationship Type="http://schemas.openxmlformats.org/officeDocument/2006/relationships/notesMaster" Target="/ppt/notesMasters/notesMaster1.xml" Id="Rc9ad49a9e1da451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29cd0ca8ede48a8" /><Relationship Type="http://schemas.openxmlformats.org/officeDocument/2006/relationships/notesMaster" Target="/ppt/notesMasters/notesMaster1.xml" Id="R5e675265d942480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a0c96e2913d48a2" /><Relationship Type="http://schemas.openxmlformats.org/officeDocument/2006/relationships/notesMaster" Target="/ppt/notesMasters/notesMaster1.xml" Id="Ra8e86501d4424b1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da10b38f57045c2" /><Relationship Type="http://schemas.openxmlformats.org/officeDocument/2006/relationships/notesMaster" Target="/ppt/notesMasters/notesMaster1.xml" Id="Rc8712aa051144f0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686187e744e4f2e" /><Relationship Type="http://schemas.openxmlformats.org/officeDocument/2006/relationships/notesMaster" Target="/ppt/notesMasters/notesMaster1.xml" Id="Rc0682f73488c4cf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0a18b9761b447f0" /><Relationship Type="http://schemas.openxmlformats.org/officeDocument/2006/relationships/notesMaster" Target="/ppt/notesMasters/notesMaster1.xml" Id="R86090c7336e342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Команда «Бананчики». Сервис прогнозирования аварий и управления ремонтными работами инженерных коллекторов Москвы, ЛЦТ 2026. Обложка: сгенерированная концептуальная иллюстрация коллектора, не фотография объекта.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 models/experiments/temporal_stack_20260929/report.json. Разработка апрель-декабрь 2025. Проверка январь-июнь 2026 на 22 групповых диагностических инцидентах. Периоды ранее исследовались. Это ретроспективная проверка, не независимый скрытый тест. Кандидат не заменил действующую модель API. Снижение FP: (12-7)/12=41,67%. Оба решения нашли 9 инцидентов из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 манифесты импорта data/state_parts/2024.json, 2025.json, 2026.json. 135261069 исходных строк, включая один повторный заголовок. 25678884 дискретных состояния после фильтрации числовых показаний. Модель работает на 26 группах дымовых датчиков.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Скриншот docs/prototype/real-desktop.png. Настоящий исторический срез на 29.03.2026: 26 групп и сохранённые прогнозы ансамбля восьми моделей. Группа 553-1 получила предложенный моделью черновик. Решения сохраняются локально в браузере, фактические выезды не создаются.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 models/experiments/temporal_stack_20260929/report.json. Разработка апрель-декабрь 2025. Проверка январь-июнь 2026 на 22 групповых диагностических инцидентах. Периоды ранее исследовались. Это ретроспективная проверка, не независимый скрытый тест. Кандидат не заменил действующую модель API. Выбран один успешный случай группы 553-1. Предупреждение 29.03.2026 в конце дня. Начало инцидента 13.04.2026 14:00, упреждение 350,012778 часа. Это иллюстрация, полные ошибки и пропуски учтены в общей оценке. Значения риска не калиброваны как вероятность физического отказа.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Исследовательский пайплайн ml/temporal_stack.py и ml/renewal_ensemble.py. 8 сохранённых OOF-моделей плюс 10 новых, 238 признаков у расширенных моделей. Среди альтернатив усреднение, CatBoost meta, Logistic meta, условная вероятность следующего инцидента. Фактический выбор только по отчёту разработки.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ml/temporal_stack.py: novel_features; ml/renewal_ensemble.py: renewal_features. Все признаки используют наблюдения не позднее конца дня прогноза. Подтверждение причинно-следственных связей не заявляется.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 models/experiments/temporal_stack_20260929/report.json. Разработка апрель-декабрь 2025. Проверка январь-июнь 2026 на 22 групповых диагностических инцидентах. Периоды ранее исследовались. Это ретроспективная проверка, не независимый скрытый тест. Кандидат не заменил действующую модель API. Базовые OOF-прогнозы: май 2024-июнь 2026, месячное переобучение. В обеих моделях сравнения одинаковый график переобучения. Запрет на обучающие строки, метка которых не созрела до начала следующего периода. Граф совместных сбоев исключён из OOF из-за более поздней даты его построения.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 models/experiments/temporal_stack_20260929/report.json. Разработка апрель-декабрь 2025. Проверка январь-июнь 2026 на 22 групповых диагностических инцидентах. Периоды ранее исследовались. Это ретроспективная проверка, не независимый скрытый тест. Кандидат не заменил действующую модель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api/routes_work_orders.py, api/static/piket.js, api/static/demo.js. Публичный прототип показывает реальный архивный срез на 29.03.2026 и сохраняет решения локально в браузере. Серверный контур имеет собственные роли и историю заявок. Новый исследовательский ансамбль пока не подключён к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Предложение команды, не заключённая договорённость. Экономический эффект требует стоимости проверки и последствий пропуска. В доступных журналах эти величины отсутствуют.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Команда «Бананчики». Предлагаем пилот на 26 группах с регистрацией результата каждого предупреждения. Репозиторий: https://github.com/Valle-ds/lct2026-moskollektor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 ml/incidents.py и ml/replay.py. Предсказание в конце дня D. Целевое окно D+2..D+15. Минимальное упреждение больше 24 часов, верхняя граница 15 суток относительно времени прогноза.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 models/experiments/temporal_stack_20260929/report.json. Разработка апрель-декабрь 2025. Проверка январь-июнь 2026 на 22 групповых диагностических инцидентах. Периоды ранее исследовались. Это ретроспективная проверка, не независимый скрытый тест. Кандидат не заменил действующую модель API. Реализация ml/temporal_stack.py, mature_before, generate_oof, meta_split. Мета-модель обучается только на OOF-ответах базовых алгоритмов. Для проверочных прогнозов применяется ежемесячное переобучение на созревших прошлых метках.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 models/experiments/temporal_stack_20260929/report.json. Разработка апрель-декабрь 2025. Проверка январь-июнь 2026 на 22 групповых диагностических инцидентах. Периоды ранее исследовались. Это ретроспективная проверка, не независимый скрытый тест. Кандидат не заменил действующую модель API. Эти результаты использованы для выбора. Сравнение по событийному F1 и нагрузке не выше legacy. Полные параметры и прогнозы сохранены рядом с 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README.md, api/main.py, api/routes_work_orders.py, models/production.json. Исследовательский ансамбль пока не заменил production bundle. Для промышленного внедрения необходимы новый закрытый период, интеграция inference и признаки свежести.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 ml/renewal_ensemble.py, renewal_features. Возраст a измеряется от последнего наблюдённого начала. F_D строится только по уже наблюдённым интервалам группы к концу дня D. Оценка усредняет нормальные ядра шириной 7,14,21 день, использует исторические интервалы 20..180 дней и усадку n/(n+3). Это исследовательский компонент, не подтверждение физической причины.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models/experiments/temporal_stack_20260929/report.json, renewal_ensemble_20260929/report.json, renewal_policy_20260929/report.json, signal_policy_20260929/report.json. Проверка январь-июнь 2026,22инцидента. Разные варианты выбраны по разработке, но это последовательные исследования ранее исследованных дат. Скрытый независимый тест отсутствует.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d62886b22440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50d2e0163c4db0" /><Relationship Type="http://schemas.openxmlformats.org/officeDocument/2006/relationships/slideLayout" Target="/ppt/slideLayouts/slideLayout1.xml" Id="R657776b0b63849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7776b0b63849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cd3a4dc5f94f59" /><Relationship Type="http://schemas.openxmlformats.org/officeDocument/2006/relationships/image" Target="/ppt/media/image.png" Id="R2a4c8cde6a384cea" /><Relationship Type="http://schemas.openxmlformats.org/officeDocument/2006/relationships/notesSlide" Target="/ppt/notesSlides/notesSlide1.xml" Id="R6ecfed6b76ce4a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7d764f6c6ed4922" /><Relationship Type="http://schemas.openxmlformats.org/officeDocument/2006/relationships/notesSlide" Target="/ppt/notesSlides/notesSlide2.xml" Id="Ra8b560f78af94f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9af19fa408a4edb" /><Relationship Type="http://schemas.openxmlformats.org/officeDocument/2006/relationships/notesSlide" Target="/ppt/notesSlides/notesSlide3.xml" Id="R44fb06198d6140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eb233483a5a4c60" /><Relationship Type="http://schemas.openxmlformats.org/officeDocument/2006/relationships/image" Target="/ppt/media/image.jpeg" Id="Rde1066cfd6714622" /><Relationship Type="http://schemas.openxmlformats.org/officeDocument/2006/relationships/notesSlide" Target="/ppt/notesSlides/notesSlide4.xml" Id="R2e7147a46d1f42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8ab8885f7804176" /><Relationship Type="http://schemas.openxmlformats.org/officeDocument/2006/relationships/chart" Target="/ppt/slides/charts/chart1.xml" Id="Rd6ad760abfc443b5" /><Relationship Type="http://schemas.openxmlformats.org/officeDocument/2006/relationships/notesSlide" Target="/ppt/notesSlides/notesSlide5.xml" Id="R125f7143ea00482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291ff78cd3b47c6" /><Relationship Type="http://schemas.openxmlformats.org/officeDocument/2006/relationships/notesSlide" Target="/ppt/notesSlides/notesSlide6.xml" Id="Ra7f45edb305842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75e8fd73bb4e41" /><Relationship Type="http://schemas.openxmlformats.org/officeDocument/2006/relationships/notesSlide" Target="/ppt/notesSlides/notesSlide7.xml" Id="R9e167cbfe4b749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57452a326fa45fc" /><Relationship Type="http://schemas.openxmlformats.org/officeDocument/2006/relationships/notesSlide" Target="/ppt/notesSlides/notesSlide8.xml" Id="R63631653a54344a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a5bf1fdfd454ef4" /><Relationship Type="http://schemas.openxmlformats.org/officeDocument/2006/relationships/chart" Target="/ppt/slides/charts/chart2.xml" Id="R96de10a66f7a488d" /><Relationship Type="http://schemas.openxmlformats.org/officeDocument/2006/relationships/notesSlide" Target="/ppt/notesSlides/notesSlide9.xml" Id="Re44ba57eb74f43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c0225777fe64da8" /><Relationship Type="http://schemas.openxmlformats.org/officeDocument/2006/relationships/image" Target="/ppt/media/image2.jpeg" Id="R6fd3b971986d481b" /><Relationship Type="http://schemas.openxmlformats.org/officeDocument/2006/relationships/notesSlide" Target="/ppt/notesSlides/notesSlide10.xml" Id="R58fe50a85e2d420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9fbcb76742c44d9" /><Relationship Type="http://schemas.openxmlformats.org/officeDocument/2006/relationships/notesSlide" Target="/ppt/notesSlides/notesSlide11.xml" Id="Rbd78bba911c849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2436ba038d347b1" /><Relationship Type="http://schemas.openxmlformats.org/officeDocument/2006/relationships/notesSlide" Target="/ppt/notesSlides/notesSlide12.xml" Id="Rbe7602624e5c4a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61787c4d7744244" /><Relationship Type="http://schemas.openxmlformats.org/officeDocument/2006/relationships/notesSlide" Target="/ppt/notesSlides/notesSlide13.xml" Id="R1152daee8bbb4fc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74d4c131fbc4e07" /><Relationship Type="http://schemas.openxmlformats.org/officeDocument/2006/relationships/notesSlide" Target="/ppt/notesSlides/notesSlide14.xml" Id="Rdf8cced6a0bf426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2f55ad88eeb4810" /><Relationship Type="http://schemas.openxmlformats.org/officeDocument/2006/relationships/notesSlide" Target="/ppt/notesSlides/notesSlide15.xml" Id="R29cafd315d0c4d5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411dd76fea3458b" /><Relationship Type="http://schemas.openxmlformats.org/officeDocument/2006/relationships/notesSlide" Target="/ppt/notesSlides/notesSlide16.xml" Id="R5003a5b65c8144a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0f8fe33f1c240fe" /><Relationship Type="http://schemas.openxmlformats.org/officeDocument/2006/relationships/notesSlide" Target="/ppt/notesSlides/notesSlide17.xml" Id="R39a968e0e1c043d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0cd642a37bc4918" /><Relationship Type="http://schemas.openxmlformats.org/officeDocument/2006/relationships/notesSlide" Target="/ppt/notesSlides/notesSlide18.xml" Id="R0857d579f380438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Оценка риска</c:v>
          </c:tx>
          <c:spPr>
            <a:ln xmlns:a="http://schemas.openxmlformats.org/drawingml/2006/main" w="28575">
              <a:solidFill>
                <a:srgbClr val="D8F77B"/>
              </a:solidFill>
            </a:ln>
          </c:spPr>
          <c:marker>
            <c:symbol val="none"/>
          </c:marker>
          <c:xVal>
            <c:numRef>
              <c:f>'Chart Data'!$A$2:$A$46</c:f>
              <c:numCache>
                <c:formatCode>General</c:formatCode>
                <c:ptCount val="4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numCache>
            </c:numRef>
          </c:xVal>
          <c:yVal>
            <c:numRef>
              <c:f>'Chart Data'!$B$2:$B$46</c:f>
              <c:numCache>
                <c:formatCode>0.0</c:formatCode>
                <c:ptCount val="45"/>
                <c:pt idx="0">
                  <c:v>0.03113323</c:v>
                </c:pt>
                <c:pt idx="1">
                  <c:v>0.03164814</c:v>
                </c:pt>
                <c:pt idx="2">
                  <c:v>0.03683929</c:v>
                </c:pt>
                <c:pt idx="3">
                  <c:v>0.04066043</c:v>
                </c:pt>
                <c:pt idx="4">
                  <c:v>0.0471833</c:v>
                </c:pt>
                <c:pt idx="5">
                  <c:v>0.04804692</c:v>
                </c:pt>
                <c:pt idx="6">
                  <c:v>0.15069908</c:v>
                </c:pt>
                <c:pt idx="7">
                  <c:v>0.17020425</c:v>
                </c:pt>
                <c:pt idx="8">
                  <c:v>0.17479585</c:v>
                </c:pt>
                <c:pt idx="9">
                  <c:v>0.17799131</c:v>
                </c:pt>
                <c:pt idx="10">
                  <c:v>0.19420958</c:v>
                </c:pt>
                <c:pt idx="11">
                  <c:v>0.21555726</c:v>
                </c:pt>
                <c:pt idx="12">
                  <c:v>0.2172598</c:v>
                </c:pt>
                <c:pt idx="13">
                  <c:v>0.21915171</c:v>
                </c:pt>
                <c:pt idx="14">
                  <c:v>0.22626842</c:v>
                </c:pt>
                <c:pt idx="15">
                  <c:v>0.23332204</c:v>
                </c:pt>
                <c:pt idx="16">
                  <c:v>0.23517413</c:v>
                </c:pt>
                <c:pt idx="17">
                  <c:v>0.24821862</c:v>
                </c:pt>
                <c:pt idx="18">
                  <c:v>0.25004884</c:v>
                </c:pt>
                <c:pt idx="19">
                  <c:v>0.25711282</c:v>
                </c:pt>
                <c:pt idx="20">
                  <c:v>0.27013854</c:v>
                </c:pt>
                <c:pt idx="21">
                  <c:v>0.27616723</c:v>
                </c:pt>
                <c:pt idx="22">
                  <c:v>0.28188034</c:v>
                </c:pt>
                <c:pt idx="23">
                  <c:v>0.29202418</c:v>
                </c:pt>
                <c:pt idx="24">
                  <c:v>0.31098914</c:v>
                </c:pt>
                <c:pt idx="25">
                  <c:v>0.35261529</c:v>
                </c:pt>
                <c:pt idx="26">
                  <c:v>0.36703157</c:v>
                </c:pt>
                <c:pt idx="27">
                  <c:v>0.38499407</c:v>
                </c:pt>
                <c:pt idx="28">
                  <c:v>0.43438901</c:v>
                </c:pt>
                <c:pt idx="29">
                  <c:v>0.47006908</c:v>
                </c:pt>
                <c:pt idx="30">
                  <c:v>0.51279221</c:v>
                </c:pt>
                <c:pt idx="31">
                  <c:v>0.5365639</c:v>
                </c:pt>
                <c:pt idx="32">
                  <c:v>0.54621592</c:v>
                </c:pt>
                <c:pt idx="33">
                  <c:v>0.55002523</c:v>
                </c:pt>
                <c:pt idx="34">
                  <c:v>0.56286056</c:v>
                </c:pt>
                <c:pt idx="35">
                  <c:v>0.55860187</c:v>
                </c:pt>
                <c:pt idx="36">
                  <c:v>0.55926537</c:v>
                </c:pt>
                <c:pt idx="37">
                  <c:v>0.56274252</c:v>
                </c:pt>
                <c:pt idx="38">
                  <c:v>0.55983325</c:v>
                </c:pt>
                <c:pt idx="39">
                  <c:v>0.553974</c:v>
                </c:pt>
                <c:pt idx="40">
                  <c:v>0.16378969</c:v>
                </c:pt>
                <c:pt idx="41">
                  <c:v>0.15760717</c:v>
                </c:pt>
                <c:pt idx="42">
                  <c:v>0.1561917</c:v>
                </c:pt>
                <c:pt idx="43">
                  <c:v>0.08189701</c:v>
                </c:pt>
                <c:pt idx="44">
                  <c:v>0.04901565</c:v>
                </c:pt>
              </c:numCache>
            </c:numRef>
          </c:yVal>
        </c:ser>
        <c:ser>
          <c:idx val="1"/>
          <c:order val="1"/>
          <c:tx>
            <c:v>Порог заявки</c:v>
          </c:tx>
          <c:spPr>
            <a:ln xmlns:a="http://schemas.openxmlformats.org/drawingml/2006/main" w="19050">
              <a:solidFill>
                <a:srgbClr val="DCA083"/>
              </a:solidFill>
              <a:prstDash val="dash"/>
            </a:ln>
          </c:spPr>
          <c:marker>
            <c:symbol val="none"/>
          </c:marker>
          <c:xVal>
            <c:numRef>
              <c:f>'Chart Data'!$C$2:$C$46</c:f>
              <c:numCache>
                <c:formatCode>General</c:formatCode>
                <c:ptCount val="4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numCache>
            </c:numRef>
          </c:xVal>
          <c:yVal>
            <c:numRef>
              <c:f>'Chart Data'!$D$2:$D$46</c:f>
              <c:numCache>
                <c:formatCode>0.0</c:formatCode>
                <c:ptCount val="45"/>
                <c:pt idx="0">
                  <c:v>0.40705894</c:v>
                </c:pt>
                <c:pt idx="1">
                  <c:v>0.40705894</c:v>
                </c:pt>
                <c:pt idx="2">
                  <c:v>0.40705894</c:v>
                </c:pt>
                <c:pt idx="3">
                  <c:v>0.40705894</c:v>
                </c:pt>
                <c:pt idx="4">
                  <c:v>0.40705894</c:v>
                </c:pt>
                <c:pt idx="5">
                  <c:v>0.40705894</c:v>
                </c:pt>
                <c:pt idx="6">
                  <c:v>0.40705894</c:v>
                </c:pt>
                <c:pt idx="7">
                  <c:v>0.40705894</c:v>
                </c:pt>
                <c:pt idx="8">
                  <c:v>0.40705894</c:v>
                </c:pt>
                <c:pt idx="9">
                  <c:v>0.40705894</c:v>
                </c:pt>
                <c:pt idx="10">
                  <c:v>0.40705894</c:v>
                </c:pt>
                <c:pt idx="11">
                  <c:v>0.40705894</c:v>
                </c:pt>
                <c:pt idx="12">
                  <c:v>0.40705894</c:v>
                </c:pt>
                <c:pt idx="13">
                  <c:v>0.40705894</c:v>
                </c:pt>
                <c:pt idx="14">
                  <c:v>0.40705894</c:v>
                </c:pt>
                <c:pt idx="15">
                  <c:v>0.40705894</c:v>
                </c:pt>
                <c:pt idx="16">
                  <c:v>0.40705894</c:v>
                </c:pt>
                <c:pt idx="17">
                  <c:v>0.40705894</c:v>
                </c:pt>
                <c:pt idx="18">
                  <c:v>0.40705894</c:v>
                </c:pt>
                <c:pt idx="19">
                  <c:v>0.40705894</c:v>
                </c:pt>
                <c:pt idx="20">
                  <c:v>0.40705894</c:v>
                </c:pt>
                <c:pt idx="21">
                  <c:v>0.40705894</c:v>
                </c:pt>
                <c:pt idx="22">
                  <c:v>0.40705894</c:v>
                </c:pt>
                <c:pt idx="23">
                  <c:v>0.40705894</c:v>
                </c:pt>
                <c:pt idx="24">
                  <c:v>0.40705894</c:v>
                </c:pt>
                <c:pt idx="25">
                  <c:v>0.40705894</c:v>
                </c:pt>
                <c:pt idx="26">
                  <c:v>0.40705894</c:v>
                </c:pt>
                <c:pt idx="27">
                  <c:v>0.40705894</c:v>
                </c:pt>
                <c:pt idx="28">
                  <c:v>0.40705894</c:v>
                </c:pt>
                <c:pt idx="29">
                  <c:v>0.40705894</c:v>
                </c:pt>
                <c:pt idx="30">
                  <c:v>0.40705894</c:v>
                </c:pt>
                <c:pt idx="31">
                  <c:v>0.40705894</c:v>
                </c:pt>
                <c:pt idx="32">
                  <c:v>0.40705894</c:v>
                </c:pt>
                <c:pt idx="33">
                  <c:v>0.40705894</c:v>
                </c:pt>
                <c:pt idx="34">
                  <c:v>0.40705894</c:v>
                </c:pt>
                <c:pt idx="35">
                  <c:v>0.40705894</c:v>
                </c:pt>
                <c:pt idx="36">
                  <c:v>0.40705894</c:v>
                </c:pt>
                <c:pt idx="37">
                  <c:v>0.40705894</c:v>
                </c:pt>
                <c:pt idx="38">
                  <c:v>0.40705894</c:v>
                </c:pt>
                <c:pt idx="39">
                  <c:v>0.40705894</c:v>
                </c:pt>
                <c:pt idx="40">
                  <c:v>0.40705894</c:v>
                </c:pt>
                <c:pt idx="41">
                  <c:v>0.40705894</c:v>
                </c:pt>
                <c:pt idx="42">
                  <c:v>0.40705894</c:v>
                </c:pt>
                <c:pt idx="43">
                  <c:v>0.40705894</c:v>
                </c:pt>
                <c:pt idx="44">
                  <c:v>0.40705894</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65"/>
          <c:min val="0"/>
        </c:scaling>
        <c:delete val="0"/>
        <c:axPos val="l"/>
        <c:majorGridlines>
          <c:spPr>
            <a:ln xmlns:a="http://schemas.openxmlformats.org/drawingml/2006/main" w="9525">
              <a:solidFill>
                <a:srgbClr val="284036"/>
              </a:solidFill>
            </a:ln>
          </c:spPr>
        </c:majorGridlines>
        <c:numFmt formatCode="0.0"/>
        <c:majorTickMark val="none"/>
        <c:minorTickMark val="none"/>
        <c:spPr>
          <a:ln xmlns:a="http://schemas.openxmlformats.org/drawingml/2006/main" w="9525">
            <a:solidFill>
              <a:srgbClr val="82958A"/>
            </a:solidFill>
          </a:ln>
        </c:spPr>
        <c:txPr>
          <a:bodyPr xmlns:a="http://schemas.openxmlformats.org/drawingml/2006/main" anchorCtr="1"/>
          <a:lstStyle xmlns:a="http://schemas.openxmlformats.org/drawingml/2006/main"/>
          <a:p xmlns:a="http://schemas.openxmlformats.org/drawingml/2006/main">
            <a:pPr>
              <a:defRPr sz="1500">
                <a:solidFill>
                  <a:srgbClr val="D7DFD6"/>
                </a:solidFill>
                <a:latin typeface="Arial"/>
                <a:ea typeface="Arial"/>
                <a:cs typeface="Arial"/>
              </a:defRPr>
            </a:pPr>
          </a:p>
        </c:txPr>
        <c:crossAx val="48650112"/>
        <c:majorUnit val="0.2"/>
      </c:valAx>
      <c:valAx>
        <c:axId val="48650112"/>
        <c:scaling>
          <c:orientation val="minMax"/>
          <c:max val="44"/>
          <c:min val="0"/>
        </c:scaling>
        <c:delete val="0"/>
        <c:axPos val="b"/>
        <c:majorGridlines>
          <c:spPr>
            <a:ln xmlns:a="http://schemas.openxmlformats.org/drawingml/2006/main" w="9525">
              <a:solidFill>
                <a:srgbClr val="284036"/>
              </a:solidFill>
            </a:ln>
          </c:spPr>
        </c:majorGridlines>
        <c:title>
          <c:tx>
            <c:rich>
              <a:bodyPr xmlns:a="http://schemas.openxmlformats.org/drawingml/2006/main"/>
              <a:lstStyle xmlns:a="http://schemas.openxmlformats.org/drawingml/2006/main"/>
              <a:p xmlns:a="http://schemas.openxmlformats.org/drawingml/2006/main">
                <a:r>
                  <a:rPr sz="1350">
                    <a:solidFill>
                      <a:srgbClr val="D7DFD6"/>
                    </a:solidFill>
                    <a:latin typeface="Arial"/>
                    <a:ea typeface="Arial"/>
                    <a:cs typeface="Arial"/>
                  </a:rPr>
                  <a:t>Дни после 1 марта 2026</a:t>
                </a:r>
              </a:p>
            </c:rich>
          </c:tx>
          <c:overlay val="0"/>
          <c:txPr>
            <a:bodyPr xmlns:a="http://schemas.openxmlformats.org/drawingml/2006/main" anchorCtr="1"/>
            <a:lstStyle xmlns:a="http://schemas.openxmlformats.org/drawingml/2006/main"/>
            <a:p xmlns:a="http://schemas.openxmlformats.org/drawingml/2006/main">
              <a:pPr>
                <a:defRPr sz="1350">
                  <a:solidFill>
                    <a:srgbClr val="D7DFD6"/>
                  </a:solidFill>
                  <a:latin typeface="Arial"/>
                  <a:ea typeface="Arial"/>
                  <a:cs typeface="Arial"/>
                </a:defRPr>
              </a:pPr>
            </a:p>
          </c:txPr>
        </c:title>
        <c:numFmt formatCode="0"/>
        <c:majorTickMark val="none"/>
        <c:minorTickMark val="none"/>
        <c:spPr>
          <a:ln xmlns:a="http://schemas.openxmlformats.org/drawingml/2006/main" w="9525">
            <a:solidFill>
              <a:srgbClr val="82958A"/>
            </a:solidFill>
          </a:ln>
        </c:spPr>
        <c:txPr>
          <a:bodyPr xmlns:a="http://schemas.openxmlformats.org/drawingml/2006/main" anchorCtr="1"/>
          <a:lstStyle xmlns:a="http://schemas.openxmlformats.org/drawingml/2006/main"/>
          <a:p xmlns:a="http://schemas.openxmlformats.org/drawingml/2006/main">
            <a:pPr>
              <a:defRPr sz="1500">
                <a:solidFill>
                  <a:srgbClr val="D7DFD6"/>
                </a:solidFill>
                <a:latin typeface="Arial"/>
                <a:ea typeface="Arial"/>
                <a:cs typeface="Arial"/>
              </a:defRPr>
            </a:pPr>
          </a:p>
        </c:txPr>
        <c:crossAx val="48672768"/>
        <c:majorUnit val="7"/>
      </c:valAx>
      <c:spPr>
        <a:solidFill xmlns:a="http://schemas.openxmlformats.org/drawingml/2006/main">
          <a:srgbClr val="0D201B"/>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D7DFD6"/>
              </a:solidFill>
              <a:latin typeface="Arial"/>
              <a:ea typeface="Arial"/>
              <a:cs typeface="Arial"/>
            </a:defRPr>
          </a:pPr>
        </a:p>
      </c:txPr>
    </c:legend>
    <c:plotVisOnly val="1"/>
  </c:chart>
  <c:spPr>
    <a:solidFill xmlns:a="http://schemas.openxmlformats.org/drawingml/2006/main">
      <a:srgbClr val="0D201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Верные</c:v>
          </c:tx>
          <c:spPr>
            <a:solidFill xmlns:a="http://schemas.openxmlformats.org/drawingml/2006/main">
              <a:srgbClr val="D8F77B"/>
            </a:solidFill>
          </c:spPr>
          <c:cat>
            <c:strRef>
              <c:f>'Chart Data'!$A$2:$A$3</c:f>
              <c:strCache>
                <c:ptCount val="2"/>
                <c:pt idx="0">
                  <c:v>LightGBM</c:v>
                </c:pt>
                <c:pt idx="1">
                  <c:v>Ансамбль 8 моделей</c:v>
                </c:pt>
              </c:strCache>
            </c:strRef>
          </c:cat>
          <c:val>
            <c:numRef>
              <c:f>'Chart Data'!$B$2:$B$3</c:f>
              <c:numCache>
                <c:formatCode>0</c:formatCode>
                <c:ptCount val="2"/>
                <c:pt idx="0">
                  <c:v>9</c:v>
                </c:pt>
                <c:pt idx="1">
                  <c:v>9</c:v>
                </c:pt>
              </c:numCache>
            </c:numRef>
          </c:val>
        </c:ser>
        <c:ser>
          <c:idx val="1"/>
          <c:order val="1"/>
          <c:tx>
            <c:v>Ложные</c:v>
          </c:tx>
          <c:spPr>
            <a:solidFill xmlns:a="http://schemas.openxmlformats.org/drawingml/2006/main">
              <a:srgbClr val="DCA083"/>
            </a:solidFill>
          </c:spPr>
          <c:cat>
            <c:strRef>
              <c:f>'Chart Data'!$C$2:$C$3</c:f>
              <c:strCache>
                <c:ptCount val="2"/>
                <c:pt idx="0">
                  <c:v>LightGBM</c:v>
                </c:pt>
                <c:pt idx="1">
                  <c:v>Ансамбль 8 моделей</c:v>
                </c:pt>
              </c:strCache>
            </c:strRef>
          </c:cat>
          <c:val>
            <c:numRef>
              <c:f>'Chart Data'!$D$2:$D$3</c:f>
              <c:numCache>
                <c:formatCode>0</c:formatCode>
                <c:ptCount val="2"/>
                <c:pt idx="0">
                  <c:v>12</c:v>
                </c:pt>
                <c:pt idx="1">
                  <c:v>7</c:v>
                </c:pt>
              </c:numCache>
            </c:numRef>
          </c:val>
        </c:ser>
        <c:dLbls>
          <c:txPr>
            <a:bodyPr xmlns:a="http://schemas.openxmlformats.org/drawingml/2006/main" anchorCtr="1"/>
            <a:lstStyle xmlns:a="http://schemas.openxmlformats.org/drawingml/2006/main"/>
            <a:p xmlns:a="http://schemas.openxmlformats.org/drawingml/2006/main">
              <a:pPr>
                <a:defRPr sz="2100">
                  <a:solidFill>
                    <a:srgbClr val="0D201B"/>
                  </a:solidFill>
                  <a:latin typeface="Arial"/>
                  <a:ea typeface="Arial"/>
                  <a:cs typeface="Arial"/>
                </a:defRPr>
              </a:pPr>
            </a:p>
          </c:txPr>
          <c:dLblPos val="ctr"/>
          <c:showLegendKey val="0"/>
          <c:showVal val="1"/>
          <c:showCatName val="0"/>
          <c:showSerName val="0"/>
          <c:showPercent val="0"/>
          <c:showBubbleSize val="0"/>
          <c:showLeaderLines val="0"/>
        </c:dLbls>
        <c:gapWidth val="145"/>
        <c:overlap val="100"/>
        <c:axId val="48650112"/>
        <c:axId val="48672768"/>
      </c:barChart>
      <c:catAx>
        <c:axId val="48650112"/>
        <c:scaling>
          <c:orientation val="minMax"/>
        </c:scaling>
        <c:delete val="0"/>
        <c:axPos val="b"/>
        <c:majorGridlines>
          <c:spPr>
            <a:ln xmlns:a="http://schemas.openxmlformats.org/drawingml/2006/main" w="9525">
              <a:solidFill>
                <a:srgbClr val="284036"/>
              </a:solidFill>
            </a:ln>
          </c:spPr>
        </c:majorGridlines>
        <c:numFmt formatCode="General"/>
        <c:majorTickMark val="none"/>
        <c:minorTickMark val="none"/>
        <c:spPr>
          <a:ln xmlns:a="http://schemas.openxmlformats.org/drawingml/2006/main" w="9525">
            <a:solidFill>
              <a:srgbClr val="82958A"/>
            </a:solidFill>
          </a:ln>
        </c:spPr>
        <c:txPr>
          <a:bodyPr xmlns:a="http://schemas.openxmlformats.org/drawingml/2006/main" anchorCtr="1"/>
          <a:lstStyle xmlns:a="http://schemas.openxmlformats.org/drawingml/2006/main"/>
          <a:p xmlns:a="http://schemas.openxmlformats.org/drawingml/2006/main">
            <a:pPr>
              <a:defRPr sz="1500">
                <a:solidFill>
                  <a:srgbClr val="D7DFD6"/>
                </a:solidFill>
                <a:latin typeface="Arial"/>
                <a:ea typeface="Arial"/>
                <a:cs typeface="Arial"/>
              </a:defRPr>
            </a:pPr>
          </a:p>
        </c:txPr>
        <c:crossAx val="48672768"/>
      </c:catAx>
      <c:valAx>
        <c:axId val="48672768"/>
        <c:scaling>
          <c:orientation val="minMax"/>
          <c:max val="25"/>
          <c:min val="0"/>
        </c:scaling>
        <c:delete val="0"/>
        <c:axPos val="l"/>
        <c:majorGridlines>
          <c:spPr>
            <a:ln xmlns:a="http://schemas.openxmlformats.org/drawingml/2006/main" w="9525">
              <a:solidFill>
                <a:srgbClr val="284036"/>
              </a:solidFill>
            </a:ln>
          </c:spPr>
        </c:majorGridlines>
        <c:numFmt formatCode="0"/>
        <c:majorTickMark val="none"/>
        <c:minorTickMark val="none"/>
        <c:spPr>
          <a:ln xmlns:a="http://schemas.openxmlformats.org/drawingml/2006/main" w="9525">
            <a:solidFill>
              <a:srgbClr val="82958A"/>
            </a:solidFill>
          </a:ln>
        </c:spPr>
        <c:txPr>
          <a:bodyPr xmlns:a="http://schemas.openxmlformats.org/drawingml/2006/main" anchorCtr="1"/>
          <a:lstStyle xmlns:a="http://schemas.openxmlformats.org/drawingml/2006/main"/>
          <a:p xmlns:a="http://schemas.openxmlformats.org/drawingml/2006/main">
            <a:pPr>
              <a:defRPr sz="1500">
                <a:solidFill>
                  <a:srgbClr val="D7DFD6"/>
                </a:solidFill>
                <a:latin typeface="Arial"/>
                <a:ea typeface="Arial"/>
                <a:cs typeface="Arial"/>
              </a:defRPr>
            </a:pPr>
          </a:p>
        </c:txPr>
        <c:crossAx val="48650112"/>
        <c:crossBetween val="between"/>
        <c:majorUnit val="5"/>
      </c:valAx>
      <c:spPr>
        <a:solidFill xmlns:a="http://schemas.openxmlformats.org/drawingml/2006/main">
          <a:srgbClr val="0D201B"/>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D7DFD6"/>
              </a:solidFill>
              <a:latin typeface="Arial"/>
              <a:ea typeface="Arial"/>
              <a:cs typeface="Arial"/>
            </a:defRPr>
          </a:pPr>
        </a:p>
      </c:txPr>
    </c:legend>
    <c:plotVisOnly val="1"/>
  </c:chart>
  <c:spPr>
    <a:solidFill xmlns:a="http://schemas.openxmlformats.org/drawingml/2006/main">
      <a:srgbClr val="0D201B"/>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D201B"/>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a4c8cde6a384cea"/>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435BDA5-8B39-4369-A00B-1084028B4120}"/>
              </a:ext>
            </a:extLst>
          </p:cNvPr>
          <p:cNvSpPr>
            <a:spLocks xmlns:a="http://schemas.openxmlformats.org/drawingml/2006/main" noGrp="1"/>
          </p:cNvSpPr>
          <p:nvPr/>
        </p:nvSpPr>
        <p:spPr>
          <a:xfrm xmlns:a="http://schemas.openxmlformats.org/drawingml/2006/main">
            <a:off x="609600" y="752475"/>
            <a:ext cx="77152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150" b="1">
                <a:solidFill>
                  <a:srgbClr val="F3F1E9"/>
                </a:solidFill>
                <a:latin typeface="Arial"/>
                <a:ea typeface="Arial"/>
                <a:cs typeface="Arial"/>
              </a:defRPr>
            </a:pPr>
            <a:r>
              <a:rPr sz="9150" b="1">
                <a:solidFill>
                  <a:srgbClr val="F3F1E9"/>
                </a:solidFill>
                <a:latin typeface="Arial"/>
                <a:ea typeface="Arial"/>
                <a:cs typeface="Arial"/>
              </a:rPr>
              <a:t>ПИКЕТ</a:t>
            </a:r>
          </a:p>
        </p:txBody>
      </p:sp>
      <p:sp>
        <p:nvSpPr>
          <p:cNvPr id="3" name="">
            <a:extLst xmlns:a="http://schemas.openxmlformats.org/drawingml/2006/main">
              <a:ext uri="{FF2B5EF4-FFF2-40B4-BE49-F238E27FC236}">
                <a16:creationId xmlns:a16="http://schemas.microsoft.com/office/drawing/2014/main" id="{3AA55EB5-91F8-43FD-8D9A-48FF3306D9F3}"/>
              </a:ext>
            </a:extLst>
          </p:cNvPr>
          <p:cNvSpPr>
            <a:spLocks xmlns:a="http://schemas.openxmlformats.org/drawingml/2006/main" noGrp="1"/>
          </p:cNvSpPr>
          <p:nvPr/>
        </p:nvSpPr>
        <p:spPr>
          <a:xfrm xmlns:a="http://schemas.openxmlformats.org/drawingml/2006/main">
            <a:off x="666750" y="2619375"/>
            <a:ext cx="6096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D8F77B"/>
                </a:solidFill>
                <a:latin typeface="Arial"/>
                <a:ea typeface="Arial"/>
                <a:cs typeface="Arial"/>
              </a:defRPr>
            </a:pPr>
            <a:r>
              <a:rPr sz="3675" b="1">
                <a:solidFill>
                  <a:srgbClr val="D8F77B"/>
                </a:solidFill>
                <a:latin typeface="Arial"/>
                <a:ea typeface="Arial"/>
                <a:cs typeface="Arial"/>
              </a:rPr>
              <a:t>Проверить раньше</a:t>
            </a:r>
          </a:p>
        </p:txBody>
      </p:sp>
      <p:sp>
        <p:nvSpPr>
          <p:cNvPr id="4" name="">
            <a:extLst xmlns:a="http://schemas.openxmlformats.org/drawingml/2006/main">
              <a:ext uri="{FF2B5EF4-FFF2-40B4-BE49-F238E27FC236}">
                <a16:creationId xmlns:a16="http://schemas.microsoft.com/office/drawing/2014/main" id="{F646377C-BC70-4845-96F1-10AE608A2B2C}"/>
              </a:ext>
            </a:extLst>
          </p:cNvPr>
          <p:cNvSpPr>
            <a:spLocks xmlns:a="http://schemas.openxmlformats.org/drawingml/2006/main" noGrp="1"/>
          </p:cNvSpPr>
          <p:nvPr/>
        </p:nvSpPr>
        <p:spPr>
          <a:xfrm xmlns:a="http://schemas.openxmlformats.org/drawingml/2006/main">
            <a:off x="695325" y="3638550"/>
            <a:ext cx="6096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3F1E9"/>
                </a:solidFill>
                <a:latin typeface="Arial"/>
                <a:ea typeface="Arial"/>
                <a:cs typeface="Arial"/>
              </a:defRPr>
            </a:pPr>
            <a:r>
              <a:rPr sz="2325" b="0">
                <a:solidFill>
                  <a:srgbClr val="F3F1E9"/>
                </a:solidFill>
                <a:latin typeface="Arial"/>
                <a:ea typeface="Arial"/>
                <a:cs typeface="Arial"/>
              </a:rPr>
              <a:t>Прогноз риска и рабочее место</a:t>
            </a:r>
          </a:p>
          <a:p xmlns:a="http://schemas.openxmlformats.org/drawingml/2006/main">
            <a:pPr>
              <a:defRPr sz="2325" b="0">
                <a:solidFill>
                  <a:srgbClr val="F3F1E9"/>
                </a:solidFill>
                <a:latin typeface="Arial"/>
                <a:ea typeface="Arial"/>
                <a:cs typeface="Arial"/>
              </a:defRPr>
            </a:pPr>
            <a:r>
              <a:rPr sz="2325" b="0">
                <a:solidFill>
                  <a:srgbClr val="F3F1E9"/>
                </a:solidFill>
                <a:latin typeface="Arial"/>
                <a:ea typeface="Arial"/>
                <a:cs typeface="Arial"/>
              </a:rPr>
              <a:t>диспетчера инженерных коллекторов</a:t>
            </a:r>
          </a:p>
        </p:txBody>
      </p:sp>
      <p:sp>
        <p:nvSpPr>
          <p:cNvPr id="5" name="">
            <a:extLst xmlns:a="http://schemas.openxmlformats.org/drawingml/2006/main">
              <a:ext uri="{FF2B5EF4-FFF2-40B4-BE49-F238E27FC236}">
                <a16:creationId xmlns:a16="http://schemas.microsoft.com/office/drawing/2014/main" id="{F25AEA3C-05D6-481D-AF95-931993D0689A}"/>
              </a:ext>
            </a:extLst>
          </p:cNvPr>
          <p:cNvSpPr>
            <a:spLocks xmlns:a="http://schemas.openxmlformats.org/drawingml/2006/main" noGrp="1"/>
          </p:cNvSpPr>
          <p:nvPr/>
        </p:nvSpPr>
        <p:spPr>
          <a:xfrm xmlns:a="http://schemas.openxmlformats.org/drawingml/2006/main">
            <a:off x="714375" y="5810250"/>
            <a:ext cx="609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7DFD6"/>
                </a:solidFill>
                <a:latin typeface="Arial"/>
                <a:ea typeface="Arial"/>
                <a:cs typeface="Arial"/>
              </a:defRPr>
            </a:pPr>
            <a:r>
              <a:rPr sz="1725" b="0">
                <a:solidFill>
                  <a:srgbClr val="D7DFD6"/>
                </a:solidFill>
                <a:latin typeface="Arial"/>
                <a:ea typeface="Arial"/>
                <a:cs typeface="Arial"/>
              </a:rPr>
              <a:t>Бананчики</a:t>
            </a:r>
          </a:p>
          <a:p xmlns:a="http://schemas.openxmlformats.org/drawingml/2006/main">
            <a:pPr>
              <a:defRPr sz="1725" b="0">
                <a:solidFill>
                  <a:srgbClr val="D7DFD6"/>
                </a:solidFill>
                <a:latin typeface="Arial"/>
                <a:ea typeface="Arial"/>
                <a:cs typeface="Arial"/>
              </a:defRPr>
            </a:pPr>
            <a:r>
              <a:rPr sz="1725" b="0">
                <a:solidFill>
                  <a:srgbClr val="D7DFD6"/>
                </a:solidFill>
                <a:latin typeface="Arial"/>
                <a:ea typeface="Arial"/>
                <a:cs typeface="Arial"/>
              </a:rPr>
              <a:t>ЛЦТ 2026 / Москоллектор</a:t>
            </a:r>
          </a:p>
        </p:txBody>
      </p:sp>
    </p:spTree>
    <p:extLst>
      <p:ext uri="{BB962C8B-B14F-4D97-AF65-F5344CB8AC3E}">
        <p14:creationId xmlns:p14="http://schemas.microsoft.com/office/powerpoint/2010/main" val="182670903"/>
      </p:ext>
    </p:extLst>
  </p:cSld>
</p:sld>
</file>

<file path=ppt/slides/slide2.xml><?xml version="1.0" encoding="utf-8"?>
<p:sld xmlns:p="http://schemas.openxmlformats.org/presentationml/2006/main">
  <p:cSld>
    <p:bg>
      <p:bgPr>
        <a:solidFill xmlns:a="http://schemas.openxmlformats.org/drawingml/2006/main">
          <a:srgbClr val="0D201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5287397-DD24-4B1F-94FA-3701B54BD283}"/>
              </a:ext>
            </a:extLst>
          </p:cNvPr>
          <p:cNvSpPr>
            <a:spLocks xmlns:a="http://schemas.openxmlformats.org/drawingml/2006/main" noGrp="1"/>
          </p:cNvSpPr>
          <p:nvPr/>
        </p:nvSpPr>
        <p:spPr>
          <a:xfrm xmlns:a="http://schemas.openxmlformats.org/drawingml/2006/main">
            <a:off x="609600" y="4000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Меньше ложных заявок</a:t>
            </a:r>
          </a:p>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при том же числе найденных инцидентов</a:t>
            </a:r>
          </a:p>
        </p:txBody>
      </p:sp>
      <p:sp>
        <p:nvSpPr>
          <p:cNvPr id="2" name="">
            <a:extLst xmlns:a="http://schemas.openxmlformats.org/drawingml/2006/main">
              <a:ext uri="{FF2B5EF4-FFF2-40B4-BE49-F238E27FC236}">
                <a16:creationId xmlns:a16="http://schemas.microsoft.com/office/drawing/2014/main" id="{103387C4-400A-422F-B289-883015EBF302}"/>
              </a:ext>
            </a:extLst>
          </p:cNvPr>
          <p:cNvSpPr>
            <a:spLocks xmlns:a="http://schemas.openxmlformats.org/drawingml/2006/main" noGrp="1"/>
          </p:cNvSpPr>
          <p:nvPr/>
        </p:nvSpPr>
        <p:spPr>
          <a:xfrm xmlns:a="http://schemas.openxmlformats.org/drawingml/2006/main">
            <a:off x="590550" y="1828800"/>
            <a:ext cx="6286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850" b="1">
                <a:solidFill>
                  <a:srgbClr val="D8F77B"/>
                </a:solidFill>
                <a:latin typeface="Arial"/>
                <a:ea typeface="Arial"/>
                <a:cs typeface="Arial"/>
              </a:defRPr>
            </a:pPr>
            <a:r>
              <a:rPr sz="11850" b="1">
                <a:solidFill>
                  <a:srgbClr val="D8F77B"/>
                </a:solidFill>
                <a:latin typeface="Arial"/>
                <a:ea typeface="Arial"/>
                <a:cs typeface="Arial"/>
              </a:rPr>
              <a:t>−42%</a:t>
            </a:r>
          </a:p>
        </p:txBody>
      </p:sp>
      <p:sp>
        <p:nvSpPr>
          <p:cNvPr id="3" name="">
            <a:extLst xmlns:a="http://schemas.openxmlformats.org/drawingml/2006/main">
              <a:ext uri="{FF2B5EF4-FFF2-40B4-BE49-F238E27FC236}">
                <a16:creationId xmlns:a16="http://schemas.microsoft.com/office/drawing/2014/main" id="{E7A85FDB-A13F-496D-9355-C4A4FCEA374A}"/>
              </a:ext>
            </a:extLst>
          </p:cNvPr>
          <p:cNvSpPr>
            <a:spLocks xmlns:a="http://schemas.openxmlformats.org/drawingml/2006/main" noGrp="1"/>
          </p:cNvSpPr>
          <p:nvPr/>
        </p:nvSpPr>
        <p:spPr>
          <a:xfrm xmlns:a="http://schemas.openxmlformats.org/drawingml/2006/main">
            <a:off x="685800" y="3762375"/>
            <a:ext cx="685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3F1E9"/>
                </a:solidFill>
                <a:latin typeface="Arial"/>
                <a:ea typeface="Arial"/>
                <a:cs typeface="Arial"/>
              </a:defRPr>
            </a:pPr>
            <a:r>
              <a:rPr sz="2625" b="0">
                <a:solidFill>
                  <a:srgbClr val="F3F1E9"/>
                </a:solidFill>
                <a:latin typeface="Arial"/>
                <a:ea typeface="Arial"/>
                <a:cs typeface="Arial"/>
              </a:rPr>
              <a:t>ложных предупреждений</a:t>
            </a:r>
          </a:p>
        </p:txBody>
      </p:sp>
      <p:sp>
        <p:nvSpPr>
          <p:cNvPr id="4" name="">
            <a:extLst xmlns:a="http://schemas.openxmlformats.org/drawingml/2006/main">
              <a:ext uri="{FF2B5EF4-FFF2-40B4-BE49-F238E27FC236}">
                <a16:creationId xmlns:a16="http://schemas.microsoft.com/office/drawing/2014/main" id="{3E0EF037-5458-434C-A43F-2562CAE17A91}"/>
              </a:ext>
            </a:extLst>
          </p:cNvPr>
          <p:cNvSpPr>
            <a:spLocks xmlns:a="http://schemas.openxmlformats.org/drawingml/2006/main" noGrp="1"/>
          </p:cNvSpPr>
          <p:nvPr/>
        </p:nvSpPr>
        <p:spPr>
          <a:xfrm xmlns:a="http://schemas.openxmlformats.org/drawingml/2006/main">
            <a:off x="8115300" y="2124075"/>
            <a:ext cx="352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12 стало 7</a:t>
            </a:r>
          </a:p>
        </p:txBody>
      </p:sp>
      <p:sp>
        <p:nvSpPr>
          <p:cNvPr id="5" name="">
            <a:extLst xmlns:a="http://schemas.openxmlformats.org/drawingml/2006/main">
              <a:ext uri="{FF2B5EF4-FFF2-40B4-BE49-F238E27FC236}">
                <a16:creationId xmlns:a16="http://schemas.microsoft.com/office/drawing/2014/main" id="{4451C953-EC2E-4F7F-8E5A-E7246EB85759}"/>
              </a:ext>
            </a:extLst>
          </p:cNvPr>
          <p:cNvSpPr>
            <a:spLocks xmlns:a="http://schemas.openxmlformats.org/drawingml/2006/main" noGrp="1"/>
          </p:cNvSpPr>
          <p:nvPr/>
        </p:nvSpPr>
        <p:spPr>
          <a:xfrm xmlns:a="http://schemas.openxmlformats.org/drawingml/2006/main">
            <a:off x="8286750" y="3105150"/>
            <a:ext cx="319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7DFD6"/>
                </a:solidFill>
                <a:latin typeface="Arial"/>
                <a:ea typeface="Arial"/>
                <a:cs typeface="Arial"/>
              </a:defRPr>
            </a:pPr>
            <a:r>
              <a:rPr sz="2025" b="0">
                <a:solidFill>
                  <a:srgbClr val="D7DFD6"/>
                </a:solidFill>
                <a:latin typeface="Arial"/>
                <a:ea typeface="Arial"/>
                <a:cs typeface="Arial"/>
              </a:rPr>
              <a:t>ложных заявок</a:t>
            </a:r>
          </a:p>
        </p:txBody>
      </p:sp>
      <p:sp>
        <p:nvSpPr>
          <p:cNvPr id="6" name="">
            <a:extLst xmlns:a="http://schemas.openxmlformats.org/drawingml/2006/main">
              <a:ext uri="{FF2B5EF4-FFF2-40B4-BE49-F238E27FC236}">
                <a16:creationId xmlns:a16="http://schemas.microsoft.com/office/drawing/2014/main" id="{BA8ABD65-6A60-4951-9258-DBAB7D7D3C33}"/>
              </a:ext>
            </a:extLst>
          </p:cNvPr>
          <p:cNvSpPr>
            <a:spLocks xmlns:a="http://schemas.openxmlformats.org/drawingml/2006/main" noGrp="1"/>
          </p:cNvSpPr>
          <p:nvPr/>
        </p:nvSpPr>
        <p:spPr>
          <a:xfrm xmlns:a="http://schemas.openxmlformats.org/drawingml/2006/main">
            <a:off x="8239125" y="4229100"/>
            <a:ext cx="333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1E9"/>
                </a:solidFill>
                <a:latin typeface="Arial"/>
                <a:ea typeface="Arial"/>
                <a:cs typeface="Arial"/>
              </a:defRPr>
            </a:pPr>
            <a:r>
              <a:rPr sz="3375" b="1">
                <a:solidFill>
                  <a:srgbClr val="F3F1E9"/>
                </a:solidFill>
                <a:latin typeface="Arial"/>
                <a:ea typeface="Arial"/>
                <a:cs typeface="Arial"/>
              </a:rPr>
              <a:t>9 из 22</a:t>
            </a:r>
          </a:p>
        </p:txBody>
      </p:sp>
      <p:sp>
        <p:nvSpPr>
          <p:cNvPr id="7" name="">
            <a:extLst xmlns:a="http://schemas.openxmlformats.org/drawingml/2006/main">
              <a:ext uri="{FF2B5EF4-FFF2-40B4-BE49-F238E27FC236}">
                <a16:creationId xmlns:a16="http://schemas.microsoft.com/office/drawing/2014/main" id="{FE97E8DC-CFB6-4734-8A87-D520C50C8DA6}"/>
              </a:ext>
            </a:extLst>
          </p:cNvPr>
          <p:cNvSpPr>
            <a:spLocks xmlns:a="http://schemas.openxmlformats.org/drawingml/2006/main" noGrp="1"/>
          </p:cNvSpPr>
          <p:nvPr/>
        </p:nvSpPr>
        <p:spPr>
          <a:xfrm xmlns:a="http://schemas.openxmlformats.org/drawingml/2006/main">
            <a:off x="8286750" y="5057775"/>
            <a:ext cx="31718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7DFD6"/>
                </a:solidFill>
                <a:latin typeface="Arial"/>
                <a:ea typeface="Arial"/>
                <a:cs typeface="Arial"/>
              </a:defRPr>
            </a:pPr>
            <a:r>
              <a:rPr sz="2025" b="0">
                <a:solidFill>
                  <a:srgbClr val="D7DFD6"/>
                </a:solidFill>
                <a:latin typeface="Arial"/>
                <a:ea typeface="Arial"/>
                <a:cs typeface="Arial"/>
              </a:rPr>
              <a:t>найдено в обоих вариантах</a:t>
            </a:r>
          </a:p>
        </p:txBody>
      </p:sp>
      <p:sp>
        <p:nvSpPr>
          <p:cNvPr id="8" name="">
            <a:extLst xmlns:a="http://schemas.openxmlformats.org/drawingml/2006/main">
              <a:ext uri="{FF2B5EF4-FFF2-40B4-BE49-F238E27FC236}">
                <a16:creationId xmlns:a16="http://schemas.microsoft.com/office/drawing/2014/main" id="{4F0FEDC7-C212-4D36-918D-14C7F64155A8}"/>
              </a:ext>
            </a:extLst>
          </p:cNvPr>
          <p:cNvSpPr>
            <a:spLocks xmlns:a="http://schemas.openxmlformats.org/drawingml/2006/main" noGrp="1"/>
          </p:cNvSpPr>
          <p:nvPr/>
        </p:nvSpPr>
        <p:spPr>
          <a:xfrm xmlns:a="http://schemas.openxmlformats.org/drawingml/2006/main">
            <a:off x="609600" y="6305550"/>
            <a:ext cx="10648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2958A"/>
                </a:solidFill>
                <a:latin typeface="Arial"/>
                <a:ea typeface="Arial"/>
                <a:cs typeface="Arial"/>
              </a:defRPr>
            </a:pPr>
            <a:r>
              <a:rPr sz="1200" b="0">
                <a:solidFill>
                  <a:srgbClr val="82958A"/>
                </a:solidFill>
                <a:latin typeface="Arial"/>
                <a:ea typeface="Arial"/>
                <a:cs typeface="Arial"/>
              </a:rPr>
              <a:t>Ансамбль 8 моделей против LightGBM. Январь–июнь 2026, ретроспективный replay.</a:t>
            </a:r>
          </a:p>
        </p:txBody>
      </p:sp>
      <p:sp>
        <p:nvSpPr>
          <p:cNvPr id="9" name="">
            <a:extLst xmlns:a="http://schemas.openxmlformats.org/drawingml/2006/main">
              <a:ext uri="{FF2B5EF4-FFF2-40B4-BE49-F238E27FC236}">
                <a16:creationId xmlns:a16="http://schemas.microsoft.com/office/drawing/2014/main" id="{1B92B93B-D642-408F-B233-18313EEFEE4F}"/>
              </a:ext>
            </a:extLst>
          </p:cNvPr>
          <p:cNvSpPr>
            <a:spLocks xmlns:a="http://schemas.openxmlformats.org/drawingml/2006/main" noGrp="1"/>
          </p:cNvSpPr>
          <p:nvPr/>
        </p:nvSpPr>
        <p:spPr>
          <a:xfrm xmlns:a="http://schemas.openxmlformats.org/drawingml/2006/main">
            <a:off x="11334750" y="63150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2958A"/>
                </a:solidFill>
                <a:latin typeface="Arial"/>
                <a:ea typeface="Arial"/>
                <a:cs typeface="Arial"/>
              </a:defRPr>
            </a:pPr>
            <a:r>
              <a:rPr sz="1275" b="0">
                <a:solidFill>
                  <a:srgbClr val="82958A"/>
                </a:solidFill>
                <a:latin typeface="Arial"/>
                <a:ea typeface="Arial"/>
                <a:cs typeface="Arial"/>
              </a:rPr>
              <a:t>02</a:t>
            </a:r>
          </a:p>
        </p:txBody>
      </p:sp>
    </p:spTree>
    <p:extLst>
      <p:ext uri="{BB962C8B-B14F-4D97-AF65-F5344CB8AC3E}">
        <p14:creationId xmlns:p14="http://schemas.microsoft.com/office/powerpoint/2010/main" val="386744656"/>
      </p:ext>
    </p:extLst>
  </p:cSld>
</p:sld>
</file>

<file path=ppt/slides/slide3.xml><?xml version="1.0" encoding="utf-8"?>
<p:sld xmlns:p="http://schemas.openxmlformats.org/presentationml/2006/main">
  <p:cSld>
    <p:bg>
      <p:bgPr>
        <a:solidFill xmlns:a="http://schemas.openxmlformats.org/drawingml/2006/main">
          <a:srgbClr val="F3F1E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AA0359-6399-403E-9072-1E71910DDF03}"/>
              </a:ext>
            </a:extLst>
          </p:cNvPr>
          <p:cNvSpPr>
            <a:spLocks xmlns:a="http://schemas.openxmlformats.org/drawingml/2006/main" noGrp="1"/>
          </p:cNvSpPr>
          <p:nvPr/>
        </p:nvSpPr>
        <p:spPr>
          <a:xfrm xmlns:a="http://schemas.openxmlformats.org/drawingml/2006/main">
            <a:off x="609600" y="4000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3C30"/>
                </a:solidFill>
                <a:latin typeface="Arial"/>
                <a:ea typeface="Arial"/>
                <a:cs typeface="Arial"/>
              </a:defRPr>
            </a:pPr>
            <a:r>
              <a:rPr sz="3600" b="1">
                <a:solidFill>
                  <a:srgbClr val="183C30"/>
                </a:solidFill>
                <a:latin typeface="Arial"/>
                <a:ea typeface="Arial"/>
                <a:cs typeface="Arial"/>
              </a:rPr>
              <a:t>135,3 млн событий</a:t>
            </a:r>
          </a:p>
          <a:p xmlns:a="http://schemas.openxmlformats.org/drawingml/2006/main">
            <a:pPr>
              <a:defRPr sz="3600" b="1">
                <a:solidFill>
                  <a:srgbClr val="183C30"/>
                </a:solidFill>
                <a:latin typeface="Arial"/>
                <a:ea typeface="Arial"/>
                <a:cs typeface="Arial"/>
              </a:defRPr>
            </a:pPr>
            <a:r>
              <a:rPr sz="3600" b="1">
                <a:solidFill>
                  <a:srgbClr val="183C30"/>
                </a:solidFill>
                <a:latin typeface="Arial"/>
                <a:ea typeface="Arial"/>
                <a:cs typeface="Arial"/>
              </a:rPr>
              <a:t>в одной очереди внимания</a:t>
            </a:r>
          </a:p>
        </p:txBody>
      </p:sp>
      <p:sp>
        <p:nvSpPr>
          <p:cNvPr id="2" name="">
            <a:extLst xmlns:a="http://schemas.openxmlformats.org/drawingml/2006/main">
              <a:ext uri="{FF2B5EF4-FFF2-40B4-BE49-F238E27FC236}">
                <a16:creationId xmlns:a16="http://schemas.microsoft.com/office/drawing/2014/main" id="{0880EFF4-FD85-478E-B7E6-4E86D032B8AC}"/>
              </a:ext>
            </a:extLst>
          </p:cNvPr>
          <p:cNvSpPr>
            <a:spLocks xmlns:a="http://schemas.openxmlformats.org/drawingml/2006/main" noGrp="1"/>
          </p:cNvSpPr>
          <p:nvPr/>
        </p:nvSpPr>
        <p:spPr>
          <a:xfrm xmlns:a="http://schemas.openxmlformats.org/drawingml/2006/main">
            <a:off x="609600" y="1962150"/>
            <a:ext cx="64293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900" b="1">
                <a:solidFill>
                  <a:srgbClr val="183C30"/>
                </a:solidFill>
                <a:latin typeface="Arial"/>
                <a:ea typeface="Arial"/>
                <a:cs typeface="Arial"/>
              </a:defRPr>
            </a:pPr>
            <a:r>
              <a:rPr sz="9900" b="1">
                <a:solidFill>
                  <a:srgbClr val="183C30"/>
                </a:solidFill>
                <a:latin typeface="Arial"/>
                <a:ea typeface="Arial"/>
                <a:cs typeface="Arial"/>
              </a:rPr>
              <a:t>135,3</a:t>
            </a:r>
          </a:p>
        </p:txBody>
      </p:sp>
      <p:sp>
        <p:nvSpPr>
          <p:cNvPr id="3" name="">
            <a:extLst xmlns:a="http://schemas.openxmlformats.org/drawingml/2006/main">
              <a:ext uri="{FF2B5EF4-FFF2-40B4-BE49-F238E27FC236}">
                <a16:creationId xmlns:a16="http://schemas.microsoft.com/office/drawing/2014/main" id="{47DF8F2A-F581-4A17-9D5B-E47460E2B851}"/>
              </a:ext>
            </a:extLst>
          </p:cNvPr>
          <p:cNvSpPr>
            <a:spLocks xmlns:a="http://schemas.openxmlformats.org/drawingml/2006/main" noGrp="1"/>
          </p:cNvSpPr>
          <p:nvPr/>
        </p:nvSpPr>
        <p:spPr>
          <a:xfrm xmlns:a="http://schemas.openxmlformats.org/drawingml/2006/main">
            <a:off x="723900" y="3657600"/>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65766B"/>
                </a:solidFill>
                <a:latin typeface="Arial"/>
                <a:ea typeface="Arial"/>
                <a:cs typeface="Arial"/>
              </a:defRPr>
            </a:pPr>
            <a:r>
              <a:rPr sz="2475" b="0">
                <a:solidFill>
                  <a:srgbClr val="65766B"/>
                </a:solidFill>
                <a:latin typeface="Arial"/>
                <a:ea typeface="Arial"/>
                <a:cs typeface="Arial"/>
              </a:rPr>
              <a:t>млн строк за 2024–2026</a:t>
            </a:r>
          </a:p>
        </p:txBody>
      </p:sp>
      <p:sp>
        <p:nvSpPr>
          <p:cNvPr id="4" name="">
            <a:extLst xmlns:a="http://schemas.openxmlformats.org/drawingml/2006/main">
              <a:ext uri="{FF2B5EF4-FFF2-40B4-BE49-F238E27FC236}">
                <a16:creationId xmlns:a16="http://schemas.microsoft.com/office/drawing/2014/main" id="{D38D3F1B-FC23-4609-A34D-23B3B5DBE711}"/>
              </a:ext>
            </a:extLst>
          </p:cNvPr>
          <p:cNvSpPr>
            <a:spLocks xmlns:a="http://schemas.openxmlformats.org/drawingml/2006/main" noGrp="1"/>
          </p:cNvSpPr>
          <p:nvPr/>
        </p:nvSpPr>
        <p:spPr>
          <a:xfrm xmlns:a="http://schemas.openxmlformats.org/drawingml/2006/main">
            <a:off x="7543800" y="1866900"/>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83C30"/>
                </a:solidFill>
                <a:latin typeface="Arial"/>
                <a:ea typeface="Arial"/>
                <a:cs typeface="Arial"/>
              </a:defRPr>
            </a:pPr>
            <a:r>
              <a:rPr sz="2625" b="1">
                <a:solidFill>
                  <a:srgbClr val="183C30"/>
                </a:solidFill>
                <a:latin typeface="Arial"/>
                <a:ea typeface="Arial"/>
                <a:cs typeface="Arial"/>
              </a:rPr>
              <a:t>Смена получает</a:t>
            </a:r>
          </a:p>
        </p:txBody>
      </p:sp>
      <p:sp>
        <p:nvSpPr>
          <p:cNvPr id="5" name="">
            <a:extLst xmlns:a="http://schemas.openxmlformats.org/drawingml/2006/main">
              <a:ext uri="{FF2B5EF4-FFF2-40B4-BE49-F238E27FC236}">
                <a16:creationId xmlns:a16="http://schemas.microsoft.com/office/drawing/2014/main" id="{3A3315C9-C60B-4B44-9DE1-18A8E77D7CB2}"/>
              </a:ext>
            </a:extLst>
          </p:cNvPr>
          <p:cNvSpPr>
            <a:spLocks xmlns:a="http://schemas.openxmlformats.org/drawingml/2006/main" noGrp="1"/>
          </p:cNvSpPr>
          <p:nvPr/>
        </p:nvSpPr>
        <p:spPr>
          <a:xfrm xmlns:a="http://schemas.openxmlformats.org/drawingml/2006/main">
            <a:off x="7591425" y="2781300"/>
            <a:ext cx="3952875" cy="2552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C30"/>
                </a:solidFill>
                <a:latin typeface="Arial"/>
                <a:ea typeface="Arial"/>
                <a:cs typeface="Arial"/>
              </a:defRPr>
            </a:pPr>
            <a:r>
              <a:rPr sz="2100" b="0">
                <a:solidFill>
                  <a:srgbClr val="183C30"/>
                </a:solidFill>
                <a:latin typeface="Arial"/>
                <a:ea typeface="Arial"/>
                <a:cs typeface="Arial"/>
              </a:rPr>
              <a:t>Приоритет проверки</a:t>
            </a:r>
          </a:p>
          <a:p xmlns:a="http://schemas.openxmlformats.org/drawingml/2006/main">
            <a:r>
              <a:t/>
            </a:r>
          </a:p>
          <a:p xmlns:a="http://schemas.openxmlformats.org/drawingml/2006/main">
            <a:pPr>
              <a:defRPr sz="2100" b="0">
                <a:solidFill>
                  <a:srgbClr val="183C30"/>
                </a:solidFill>
                <a:latin typeface="Arial"/>
                <a:ea typeface="Arial"/>
                <a:cs typeface="Arial"/>
              </a:defRPr>
            </a:pPr>
            <a:r>
              <a:rPr sz="2100" b="0">
                <a:solidFill>
                  <a:srgbClr val="183C30"/>
                </a:solidFill>
                <a:latin typeface="Arial"/>
                <a:ea typeface="Arial"/>
                <a:cs typeface="Arial"/>
              </a:rPr>
              <a:t>События, объясняющие риск</a:t>
            </a:r>
          </a:p>
          <a:p xmlns:a="http://schemas.openxmlformats.org/drawingml/2006/main">
            <a:r>
              <a:t/>
            </a:r>
          </a:p>
          <a:p xmlns:a="http://schemas.openxmlformats.org/drawingml/2006/main">
            <a:pPr>
              <a:defRPr sz="2100" b="0">
                <a:solidFill>
                  <a:srgbClr val="183C30"/>
                </a:solidFill>
                <a:latin typeface="Arial"/>
                <a:ea typeface="Arial"/>
                <a:cs typeface="Arial"/>
              </a:defRPr>
            </a:pPr>
            <a:r>
              <a:rPr sz="2100" b="0">
                <a:solidFill>
                  <a:srgbClr val="183C30"/>
                </a:solidFill>
                <a:latin typeface="Arial"/>
                <a:ea typeface="Arial"/>
                <a:cs typeface="Arial"/>
              </a:rPr>
              <a:t>Историю решений по группе</a:t>
            </a:r>
          </a:p>
        </p:txBody>
      </p:sp>
      <p:sp>
        <p:nvSpPr>
          <p:cNvPr id="6" name="">
            <a:extLst xmlns:a="http://schemas.openxmlformats.org/drawingml/2006/main">
              <a:ext uri="{FF2B5EF4-FFF2-40B4-BE49-F238E27FC236}">
                <a16:creationId xmlns:a16="http://schemas.microsoft.com/office/drawing/2014/main" id="{1B2535AF-057E-4BAC-AFD7-092081BE6104}"/>
              </a:ext>
            </a:extLst>
          </p:cNvPr>
          <p:cNvSpPr>
            <a:spLocks xmlns:a="http://schemas.openxmlformats.org/drawingml/2006/main" noGrp="1"/>
          </p:cNvSpPr>
          <p:nvPr/>
        </p:nvSpPr>
        <p:spPr>
          <a:xfrm xmlns:a="http://schemas.openxmlformats.org/drawingml/2006/main">
            <a:off x="609600" y="6305550"/>
            <a:ext cx="10648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766B"/>
                </a:solidFill>
                <a:latin typeface="Arial"/>
                <a:ea typeface="Arial"/>
                <a:cs typeface="Arial"/>
              </a:defRPr>
            </a:pPr>
            <a:r>
              <a:rPr sz="1200" b="0">
                <a:solidFill>
                  <a:srgbClr val="65766B"/>
                </a:solidFill>
                <a:latin typeface="Arial"/>
                <a:ea typeface="Arial"/>
                <a:cs typeface="Arial"/>
              </a:rPr>
              <a:t>Объём журналов сам по себе не определяет качество. Единица результата: полезная заявка.</a:t>
            </a:r>
          </a:p>
        </p:txBody>
      </p:sp>
      <p:sp>
        <p:nvSpPr>
          <p:cNvPr id="7" name="">
            <a:extLst xmlns:a="http://schemas.openxmlformats.org/drawingml/2006/main">
              <a:ext uri="{FF2B5EF4-FFF2-40B4-BE49-F238E27FC236}">
                <a16:creationId xmlns:a16="http://schemas.microsoft.com/office/drawing/2014/main" id="{D95C47F6-07E0-426C-B466-278864D841F0}"/>
              </a:ext>
            </a:extLst>
          </p:cNvPr>
          <p:cNvSpPr>
            <a:spLocks xmlns:a="http://schemas.openxmlformats.org/drawingml/2006/main" noGrp="1"/>
          </p:cNvSpPr>
          <p:nvPr/>
        </p:nvSpPr>
        <p:spPr>
          <a:xfrm xmlns:a="http://schemas.openxmlformats.org/drawingml/2006/main">
            <a:off x="11334750" y="63150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66B"/>
                </a:solidFill>
                <a:latin typeface="Arial"/>
                <a:ea typeface="Arial"/>
                <a:cs typeface="Arial"/>
              </a:defRPr>
            </a:pPr>
            <a:r>
              <a:rPr sz="1275" b="0">
                <a:solidFill>
                  <a:srgbClr val="65766B"/>
                </a:solidFill>
                <a:latin typeface="Arial"/>
                <a:ea typeface="Arial"/>
                <a:cs typeface="Arial"/>
              </a:rPr>
              <a:t>03</a:t>
            </a:r>
          </a:p>
        </p:txBody>
      </p:sp>
    </p:spTree>
    <p:extLst>
      <p:ext uri="{BB962C8B-B14F-4D97-AF65-F5344CB8AC3E}">
        <p14:creationId xmlns:p14="http://schemas.microsoft.com/office/powerpoint/2010/main" val="393925908"/>
      </p:ext>
    </p:extLst>
  </p:cSld>
</p:sld>
</file>

<file path=ppt/slides/slide4.xml><?xml version="1.0" encoding="utf-8"?>
<p:sld xmlns:p="http://schemas.openxmlformats.org/presentationml/2006/main">
  <p:cSld>
    <p:bg>
      <p:bgPr>
        <a:solidFill xmlns:a="http://schemas.openxmlformats.org/drawingml/2006/main">
          <a:srgbClr val="F3F1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58CDB6-8EE3-430F-B0D1-778DC9D483D3}"/>
              </a:ext>
            </a:extLst>
          </p:cNvPr>
          <p:cNvSpPr>
            <a:spLocks xmlns:a="http://schemas.openxmlformats.org/drawingml/2006/main" noGrp="1"/>
          </p:cNvSpPr>
          <p:nvPr/>
        </p:nvSpPr>
        <p:spPr>
          <a:xfrm xmlns:a="http://schemas.openxmlformats.org/drawingml/2006/main">
            <a:off x="609600" y="4000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3C30"/>
                </a:solidFill>
                <a:latin typeface="Arial"/>
                <a:ea typeface="Arial"/>
                <a:cs typeface="Arial"/>
              </a:defRPr>
            </a:pPr>
            <a:r>
              <a:rPr sz="3600" b="1">
                <a:solidFill>
                  <a:srgbClr val="183C30"/>
                </a:solidFill>
                <a:latin typeface="Arial"/>
                <a:ea typeface="Arial"/>
                <a:cs typeface="Arial"/>
              </a:rPr>
              <a:t>Рабочее место диспетчера</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e1066cfd6714622"/>
          <a:stretch xmlns:a="http://schemas.openxmlformats.org/drawingml/2006/main"/>
        </p:blipFill>
        <p:spPr>
          <a:xfrm xmlns:a="http://schemas.openxmlformats.org/drawingml/2006/main">
            <a:off x="4422648" y="1476375"/>
            <a:ext cx="6775704" cy="4705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E183929-02C1-4C46-AC51-E7E67648C706}"/>
              </a:ext>
            </a:extLst>
          </p:cNvPr>
          <p:cNvSpPr>
            <a:spLocks xmlns:a="http://schemas.openxmlformats.org/drawingml/2006/main" noGrp="1"/>
          </p:cNvSpPr>
          <p:nvPr/>
        </p:nvSpPr>
        <p:spPr>
          <a:xfrm xmlns:a="http://schemas.openxmlformats.org/drawingml/2006/main">
            <a:off x="619125" y="1924050"/>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315E4B"/>
                </a:solidFill>
                <a:latin typeface="Arial"/>
                <a:ea typeface="Arial"/>
                <a:cs typeface="Arial"/>
              </a:defRPr>
            </a:pPr>
            <a:r>
              <a:rPr sz="2625" b="1">
                <a:solidFill>
                  <a:srgbClr val="315E4B"/>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68748E8C-25EA-4752-88D4-F4DA5F6107B0}"/>
              </a:ext>
            </a:extLst>
          </p:cNvPr>
          <p:cNvSpPr>
            <a:spLocks xmlns:a="http://schemas.openxmlformats.org/drawingml/2006/main" noGrp="1"/>
          </p:cNvSpPr>
          <p:nvPr/>
        </p:nvSpPr>
        <p:spPr>
          <a:xfrm xmlns:a="http://schemas.openxmlformats.org/drawingml/2006/main">
            <a:off x="619125" y="2552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3C30"/>
                </a:solidFill>
                <a:latin typeface="Arial"/>
                <a:ea typeface="Arial"/>
                <a:cs typeface="Arial"/>
              </a:defRPr>
            </a:pPr>
            <a:r>
              <a:rPr sz="2325" b="1">
                <a:solidFill>
                  <a:srgbClr val="183C30"/>
                </a:solidFill>
                <a:latin typeface="Arial"/>
                <a:ea typeface="Arial"/>
                <a:cs typeface="Arial"/>
              </a:rPr>
              <a:t>Очередь групп</a:t>
            </a:r>
          </a:p>
        </p:txBody>
      </p:sp>
      <p:sp>
        <p:nvSpPr>
          <p:cNvPr id="5" name="">
            <a:extLst xmlns:a="http://schemas.openxmlformats.org/drawingml/2006/main">
              <a:ext uri="{FF2B5EF4-FFF2-40B4-BE49-F238E27FC236}">
                <a16:creationId xmlns:a16="http://schemas.microsoft.com/office/drawing/2014/main" id="{5CB3E775-6172-4C02-AA8B-6D1872799D88}"/>
              </a:ext>
            </a:extLst>
          </p:cNvPr>
          <p:cNvSpPr>
            <a:spLocks xmlns:a="http://schemas.openxmlformats.org/drawingml/2006/main" noGrp="1"/>
          </p:cNvSpPr>
          <p:nvPr/>
        </p:nvSpPr>
        <p:spPr>
          <a:xfrm xmlns:a="http://schemas.openxmlformats.org/drawingml/2006/main">
            <a:off x="619125" y="3590925"/>
            <a:ext cx="95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315E4B"/>
                </a:solidFill>
                <a:latin typeface="Arial"/>
                <a:ea typeface="Arial"/>
                <a:cs typeface="Arial"/>
              </a:defRPr>
            </a:pPr>
            <a:r>
              <a:rPr sz="2625" b="1">
                <a:solidFill>
                  <a:srgbClr val="315E4B"/>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20984F67-FB4E-41A6-BAAA-D56E9E0F0141}"/>
              </a:ext>
            </a:extLst>
          </p:cNvPr>
          <p:cNvSpPr>
            <a:spLocks xmlns:a="http://schemas.openxmlformats.org/drawingml/2006/main" noGrp="1"/>
          </p:cNvSpPr>
          <p:nvPr/>
        </p:nvSpPr>
        <p:spPr>
          <a:xfrm xmlns:a="http://schemas.openxmlformats.org/drawingml/2006/main">
            <a:off x="619125" y="420052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3C30"/>
                </a:solidFill>
                <a:latin typeface="Arial"/>
                <a:ea typeface="Arial"/>
                <a:cs typeface="Arial"/>
              </a:defRPr>
            </a:pPr>
            <a:r>
              <a:rPr sz="2325" b="1">
                <a:solidFill>
                  <a:srgbClr val="183C30"/>
                </a:solidFill>
                <a:latin typeface="Arial"/>
                <a:ea typeface="Arial"/>
                <a:cs typeface="Arial"/>
              </a:rPr>
              <a:t>Основания риска</a:t>
            </a:r>
          </a:p>
        </p:txBody>
      </p:sp>
      <p:sp>
        <p:nvSpPr>
          <p:cNvPr id="7" name="">
            <a:extLst xmlns:a="http://schemas.openxmlformats.org/drawingml/2006/main">
              <a:ext uri="{FF2B5EF4-FFF2-40B4-BE49-F238E27FC236}">
                <a16:creationId xmlns:a16="http://schemas.microsoft.com/office/drawing/2014/main" id="{8534D3E4-C081-4183-BC15-C26D581CF26D}"/>
              </a:ext>
            </a:extLst>
          </p:cNvPr>
          <p:cNvSpPr>
            <a:spLocks xmlns:a="http://schemas.openxmlformats.org/drawingml/2006/main" noGrp="1"/>
          </p:cNvSpPr>
          <p:nvPr/>
        </p:nvSpPr>
        <p:spPr>
          <a:xfrm xmlns:a="http://schemas.openxmlformats.org/drawingml/2006/main">
            <a:off x="619125" y="5257800"/>
            <a:ext cx="95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315E4B"/>
                </a:solidFill>
                <a:latin typeface="Arial"/>
                <a:ea typeface="Arial"/>
                <a:cs typeface="Arial"/>
              </a:defRPr>
            </a:pPr>
            <a:r>
              <a:rPr sz="2625" b="1">
                <a:solidFill>
                  <a:srgbClr val="315E4B"/>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800302EF-2EF1-4A39-968C-82D6A6E83C3F}"/>
              </a:ext>
            </a:extLst>
          </p:cNvPr>
          <p:cNvSpPr>
            <a:spLocks xmlns:a="http://schemas.openxmlformats.org/drawingml/2006/main" noGrp="1"/>
          </p:cNvSpPr>
          <p:nvPr/>
        </p:nvSpPr>
        <p:spPr>
          <a:xfrm xmlns:a="http://schemas.openxmlformats.org/drawingml/2006/main">
            <a:off x="619125" y="5819775"/>
            <a:ext cx="3371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C30"/>
                </a:solidFill>
                <a:latin typeface="Arial"/>
                <a:ea typeface="Arial"/>
                <a:cs typeface="Arial"/>
              </a:defRPr>
            </a:pPr>
            <a:r>
              <a:rPr sz="2100" b="1">
                <a:solidFill>
                  <a:srgbClr val="183C30"/>
                </a:solidFill>
                <a:latin typeface="Arial"/>
                <a:ea typeface="Arial"/>
                <a:cs typeface="Arial"/>
              </a:rPr>
              <a:t>Решение о проверке</a:t>
            </a:r>
          </a:p>
        </p:txBody>
      </p:sp>
    </p:spTree>
    <p:extLst>
      <p:ext uri="{BB962C8B-B14F-4D97-AF65-F5344CB8AC3E}">
        <p14:creationId xmlns:p14="http://schemas.microsoft.com/office/powerpoint/2010/main" val="405503024"/>
      </p:ext>
    </p:extLst>
  </p:cSld>
</p:sld>
</file>

<file path=ppt/slides/slide5.xml><?xml version="1.0" encoding="utf-8"?>
<p:sld xmlns:p="http://schemas.openxmlformats.org/presentationml/2006/main">
  <p:cSld>
    <p:bg>
      <p:bgPr>
        <a:solidFill xmlns:a="http://schemas.openxmlformats.org/drawingml/2006/main">
          <a:srgbClr val="0D201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171D51-D817-414C-8DD5-E32C371BE682}"/>
              </a:ext>
            </a:extLst>
          </p:cNvPr>
          <p:cNvSpPr>
            <a:spLocks xmlns:a="http://schemas.openxmlformats.org/drawingml/2006/main" noGrp="1"/>
          </p:cNvSpPr>
          <p:nvPr/>
        </p:nvSpPr>
        <p:spPr>
          <a:xfrm xmlns:a="http://schemas.openxmlformats.org/drawingml/2006/main">
            <a:off x="609600" y="4000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Предупреждение за 14,6 дня</a:t>
            </a:r>
          </a:p>
        </p:txBody>
      </p:sp>
      <p:graphicFrame>
        <p:nvGraphicFramePr>
          <p:cNvPr id="9" name="Chart"/>
          <p:cNvGraphicFramePr/>
          <p:nvPr/>
        </p:nvGraphicFramePr>
        <p:xfrm>
          <a:off xmlns:a="http://schemas.openxmlformats.org/drawingml/2006/main" x="609600" y="1752600"/>
          <a:ext xmlns:a="http://schemas.openxmlformats.org/drawingml/2006/main" cx="7543800" cy="4124325"/>
        </p:xfrm>
        <a:graphic xmlns:a="http://schemas.openxmlformats.org/drawingml/2006/main">
          <a:graphicData uri="http://schemas.openxmlformats.org/drawingml/2006/chart">
            <c:chart xmlns:r="http://schemas.openxmlformats.org/officeDocument/2006/relationships" xmlns:c="http://schemas.openxmlformats.org/drawingml/2006/chart" r:id="Rd6ad760abfc443b5"/>
          </a:graphicData>
        </a:graphic>
      </p:graphicFrame>
      <p:sp>
        <p:nvSpPr>
          <p:cNvPr id="3" name="">
            <a:extLst xmlns:a="http://schemas.openxmlformats.org/drawingml/2006/main">
              <a:ext uri="{FF2B5EF4-FFF2-40B4-BE49-F238E27FC236}">
                <a16:creationId xmlns:a16="http://schemas.microsoft.com/office/drawing/2014/main" id="{B29C0568-5EDA-4626-AC57-1183DC5B1AAE}"/>
              </a:ext>
            </a:extLst>
          </p:cNvPr>
          <p:cNvSpPr>
            <a:spLocks xmlns:a="http://schemas.openxmlformats.org/drawingml/2006/main" noGrp="1"/>
          </p:cNvSpPr>
          <p:nvPr/>
        </p:nvSpPr>
        <p:spPr>
          <a:xfrm xmlns:a="http://schemas.openxmlformats.org/drawingml/2006/main">
            <a:off x="8534400" y="1905000"/>
            <a:ext cx="304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D8F77B"/>
                </a:solidFill>
                <a:latin typeface="Arial"/>
                <a:ea typeface="Arial"/>
                <a:cs typeface="Arial"/>
              </a:defRPr>
            </a:pPr>
            <a:r>
              <a:rPr sz="3375" b="1">
                <a:solidFill>
                  <a:srgbClr val="D8F77B"/>
                </a:solidFill>
                <a:latin typeface="Arial"/>
                <a:ea typeface="Arial"/>
                <a:cs typeface="Arial"/>
              </a:rPr>
              <a:t>553-1</a:t>
            </a:r>
          </a:p>
        </p:txBody>
      </p:sp>
      <p:sp>
        <p:nvSpPr>
          <p:cNvPr id="4" name="">
            <a:extLst xmlns:a="http://schemas.openxmlformats.org/drawingml/2006/main">
              <a:ext uri="{FF2B5EF4-FFF2-40B4-BE49-F238E27FC236}">
                <a16:creationId xmlns:a16="http://schemas.microsoft.com/office/drawing/2014/main" id="{67B4ED50-031F-41E1-9673-15C2743910B0}"/>
              </a:ext>
            </a:extLst>
          </p:cNvPr>
          <p:cNvSpPr>
            <a:spLocks xmlns:a="http://schemas.openxmlformats.org/drawingml/2006/main" noGrp="1"/>
          </p:cNvSpPr>
          <p:nvPr/>
        </p:nvSpPr>
        <p:spPr>
          <a:xfrm xmlns:a="http://schemas.openxmlformats.org/drawingml/2006/main">
            <a:off x="8572500" y="2876550"/>
            <a:ext cx="285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3F1E9"/>
                </a:solidFill>
                <a:latin typeface="Arial"/>
                <a:ea typeface="Arial"/>
                <a:cs typeface="Arial"/>
              </a:defRPr>
            </a:pPr>
            <a:r>
              <a:rPr sz="2250" b="0">
                <a:solidFill>
                  <a:srgbClr val="F3F1E9"/>
                </a:solidFill>
                <a:latin typeface="Arial"/>
                <a:ea typeface="Arial"/>
                <a:cs typeface="Arial"/>
              </a:rPr>
              <a:t>29 марта</a:t>
            </a:r>
          </a:p>
          <a:p xmlns:a="http://schemas.openxmlformats.org/drawingml/2006/main">
            <a:pPr>
              <a:defRPr sz="2250" b="0">
                <a:solidFill>
                  <a:srgbClr val="F3F1E9"/>
                </a:solidFill>
                <a:latin typeface="Arial"/>
                <a:ea typeface="Arial"/>
                <a:cs typeface="Arial"/>
              </a:defRPr>
            </a:pPr>
            <a:r>
              <a:rPr sz="2250" b="0">
                <a:solidFill>
                  <a:srgbClr val="F3F1E9"/>
                </a:solidFill>
                <a:latin typeface="Arial"/>
                <a:ea typeface="Arial"/>
                <a:cs typeface="Arial"/>
              </a:rPr>
              <a:t>предупреждение</a:t>
            </a:r>
          </a:p>
        </p:txBody>
      </p:sp>
      <p:sp>
        <p:nvSpPr>
          <p:cNvPr id="5" name="">
            <a:extLst xmlns:a="http://schemas.openxmlformats.org/drawingml/2006/main">
              <a:ext uri="{FF2B5EF4-FFF2-40B4-BE49-F238E27FC236}">
                <a16:creationId xmlns:a16="http://schemas.microsoft.com/office/drawing/2014/main" id="{3497F813-59C8-4096-A4C0-2F73BBF97134}"/>
              </a:ext>
            </a:extLst>
          </p:cNvPr>
          <p:cNvSpPr>
            <a:spLocks xmlns:a="http://schemas.openxmlformats.org/drawingml/2006/main" noGrp="1"/>
          </p:cNvSpPr>
          <p:nvPr/>
        </p:nvSpPr>
        <p:spPr>
          <a:xfrm xmlns:a="http://schemas.openxmlformats.org/drawingml/2006/main">
            <a:off x="8572500" y="4362450"/>
            <a:ext cx="2857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3F1E9"/>
                </a:solidFill>
                <a:latin typeface="Arial"/>
                <a:ea typeface="Arial"/>
                <a:cs typeface="Arial"/>
              </a:defRPr>
            </a:pPr>
            <a:r>
              <a:rPr sz="2250" b="0">
                <a:solidFill>
                  <a:srgbClr val="F3F1E9"/>
                </a:solidFill>
                <a:latin typeface="Arial"/>
                <a:ea typeface="Arial"/>
                <a:cs typeface="Arial"/>
              </a:rPr>
              <a:t>13 апреля</a:t>
            </a:r>
          </a:p>
          <a:p xmlns:a="http://schemas.openxmlformats.org/drawingml/2006/main">
            <a:pPr>
              <a:defRPr sz="2250" b="0">
                <a:solidFill>
                  <a:srgbClr val="F3F1E9"/>
                </a:solidFill>
                <a:latin typeface="Arial"/>
                <a:ea typeface="Arial"/>
                <a:cs typeface="Arial"/>
              </a:defRPr>
            </a:pPr>
            <a:r>
              <a:rPr sz="2250" b="0">
                <a:solidFill>
                  <a:srgbClr val="F3F1E9"/>
                </a:solidFill>
                <a:latin typeface="Arial"/>
                <a:ea typeface="Arial"/>
                <a:cs typeface="Arial"/>
              </a:rPr>
              <a:t>начало инцидента</a:t>
            </a:r>
          </a:p>
        </p:txBody>
      </p:sp>
      <p:sp>
        <p:nvSpPr>
          <p:cNvPr id="6" name="">
            <a:extLst xmlns:a="http://schemas.openxmlformats.org/drawingml/2006/main">
              <a:ext uri="{FF2B5EF4-FFF2-40B4-BE49-F238E27FC236}">
                <a16:creationId xmlns:a16="http://schemas.microsoft.com/office/drawing/2014/main" id="{C31A5EC9-BFC2-4049-9C29-30116DA4E32F}"/>
              </a:ext>
            </a:extLst>
          </p:cNvPr>
          <p:cNvSpPr>
            <a:spLocks xmlns:a="http://schemas.openxmlformats.org/drawingml/2006/main" noGrp="1"/>
          </p:cNvSpPr>
          <p:nvPr/>
        </p:nvSpPr>
        <p:spPr>
          <a:xfrm xmlns:a="http://schemas.openxmlformats.org/drawingml/2006/main">
            <a:off x="609600" y="6305550"/>
            <a:ext cx="10648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2958A"/>
                </a:solidFill>
                <a:latin typeface="Arial"/>
                <a:ea typeface="Arial"/>
                <a:cs typeface="Arial"/>
              </a:defRPr>
            </a:pPr>
            <a:r>
              <a:rPr sz="1200" b="0">
                <a:solidFill>
                  <a:srgbClr val="82958A"/>
                </a:solidFill>
                <a:latin typeface="Arial"/>
                <a:ea typeface="Arial"/>
                <a:cs typeface="Arial"/>
              </a:rPr>
              <a:t>Один успешный пример из полного replay. Групповой диагностический инцидент.</a:t>
            </a:r>
          </a:p>
        </p:txBody>
      </p:sp>
      <p:sp>
        <p:nvSpPr>
          <p:cNvPr id="7" name="">
            <a:extLst xmlns:a="http://schemas.openxmlformats.org/drawingml/2006/main">
              <a:ext uri="{FF2B5EF4-FFF2-40B4-BE49-F238E27FC236}">
                <a16:creationId xmlns:a16="http://schemas.microsoft.com/office/drawing/2014/main" id="{405D396A-625C-477A-A610-AFB4DB8F6C8A}"/>
              </a:ext>
            </a:extLst>
          </p:cNvPr>
          <p:cNvSpPr>
            <a:spLocks xmlns:a="http://schemas.openxmlformats.org/drawingml/2006/main" noGrp="1"/>
          </p:cNvSpPr>
          <p:nvPr/>
        </p:nvSpPr>
        <p:spPr>
          <a:xfrm xmlns:a="http://schemas.openxmlformats.org/drawingml/2006/main">
            <a:off x="11334750" y="63150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2958A"/>
                </a:solidFill>
                <a:latin typeface="Arial"/>
                <a:ea typeface="Arial"/>
                <a:cs typeface="Arial"/>
              </a:defRPr>
            </a:pPr>
            <a:r>
              <a:rPr sz="1275" b="0">
                <a:solidFill>
                  <a:srgbClr val="82958A"/>
                </a:solidFill>
                <a:latin typeface="Arial"/>
                <a:ea typeface="Arial"/>
                <a:cs typeface="Arial"/>
              </a:rPr>
              <a:t>05</a:t>
            </a:r>
          </a:p>
        </p:txBody>
      </p:sp>
    </p:spTree>
    <p:extLst>
      <p:ext uri="{BB962C8B-B14F-4D97-AF65-F5344CB8AC3E}">
        <p14:creationId xmlns:p14="http://schemas.microsoft.com/office/powerpoint/2010/main" val="99444501"/>
      </p:ext>
    </p:extLst>
  </p:cSld>
</p:sld>
</file>

<file path=ppt/slides/slide6.xml><?xml version="1.0" encoding="utf-8"?>
<p:sld xmlns:p="http://schemas.openxmlformats.org/presentationml/2006/main">
  <p:cSld>
    <p:bg>
      <p:bgPr>
        <a:solidFill xmlns:a="http://schemas.openxmlformats.org/drawingml/2006/main">
          <a:srgbClr val="0D201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BB8F3F3-37C9-4CD7-A0A2-04B1C268EA43}"/>
              </a:ext>
            </a:extLst>
          </p:cNvPr>
          <p:cNvSpPr>
            <a:spLocks xmlns:a="http://schemas.openxmlformats.org/drawingml/2006/main" noGrp="1"/>
          </p:cNvSpPr>
          <p:nvPr/>
        </p:nvSpPr>
        <p:spPr>
          <a:xfrm xmlns:a="http://schemas.openxmlformats.org/drawingml/2006/main">
            <a:off x="609600" y="4000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18 моделей на одной истории</a:t>
            </a:r>
          </a:p>
        </p:txBody>
      </p:sp>
      <p:graphicFrame>
        <p:nvGraphicFramePr>
          <p:cNvPr id="6" name=""/>
          <p:cNvGraphicFramePr/>
          <p:nvPr/>
        </p:nvGraphicFramePr>
        <p:xfrm>
          <a:off xmlns:a="http://schemas.openxmlformats.org/drawingml/2006/main" x="609600" y="1885950"/>
          <a:ext xmlns:a="http://schemas.openxmlformats.org/drawingml/2006/main" cx="10972800" cy="3476625"/>
        </p:xfrm>
        <a:graphic xmlns:a="http://schemas.openxmlformats.org/drawingml/2006/main">
          <a:graphicData uri="http://schemas.openxmlformats.org/drawingml/2006/table">
            <a:tbl>
              <a:tblPr/>
              <a:tblGrid>
                <a:gridCol w="3286125"/>
                <a:gridCol w="7686675"/>
              </a:tblGrid>
              <a:tr h="695325">
                <a:tc>
                  <a:txBody>
                    <a:bodyPr/>
                    <a:lstStyle/>
                    <a:p>
                      <a:r>
                        <a:rPr sz="1800" b="1">
                          <a:solidFill>
                            <a:srgbClr val="0D201B"/>
                          </a:solidFill>
                          <a:latin typeface="Arial"/>
                          <a:ea typeface="Arial"/>
                          <a:cs typeface="Arial"/>
                        </a:rPr>
                        <a:t>Слой</a:t>
                      </a:r>
                    </a:p>
                  </a:txBody>
                  <a:tcPr marL="133350" marR="133350" marT="95250" marB="95250">
                    <a:solidFill>
                      <a:srgbClr val="D8F77B"/>
                    </a:solidFill>
                  </a:tcPr>
                </a:tc>
                <a:tc>
                  <a:txBody>
                    <a:bodyPr/>
                    <a:lstStyle/>
                    <a:p>
                      <a:r>
                        <a:rPr sz="1800" b="1">
                          <a:solidFill>
                            <a:srgbClr val="0D201B"/>
                          </a:solidFill>
                          <a:latin typeface="Arial"/>
                          <a:ea typeface="Arial"/>
                          <a:cs typeface="Arial"/>
                        </a:rPr>
                        <a:t>Что он даёт</a:t>
                      </a:r>
                    </a:p>
                  </a:txBody>
                  <a:tcPr marL="133350" marR="133350" marT="95250" marB="95250">
                    <a:solidFill>
                      <a:srgbClr val="D8F77B"/>
                    </a:solidFill>
                  </a:tcPr>
                </a:tc>
              </a:tr>
              <a:tr h="695325">
                <a:tc>
                  <a:txBody>
                    <a:bodyPr/>
                    <a:lstStyle/>
                    <a:p>
                      <a:r>
                        <a:rPr sz="1800">
                          <a:solidFill>
                            <a:srgbClr val="F3F1E9"/>
                          </a:solidFill>
                          <a:latin typeface="Arial"/>
                          <a:ea typeface="Arial"/>
                          <a:cs typeface="Arial"/>
                        </a:rPr>
                        <a:t>18 базовых моделей</a:t>
                      </a:r>
                    </a:p>
                  </a:txBody>
                  <a:tcPr marL="133350" marR="133350" marT="95250" marB="95250">
                    <a:solidFill>
                      <a:srgbClr val="0D201B"/>
                    </a:solidFill>
                  </a:tcPr>
                </a:tc>
                <a:tc>
                  <a:txBody>
                    <a:bodyPr/>
                    <a:lstStyle/>
                    <a:p>
                      <a:r>
                        <a:rPr sz="1800">
                          <a:solidFill>
                            <a:srgbClr val="F3F1E9"/>
                          </a:solidFill>
                          <a:latin typeface="Arial"/>
                          <a:ea typeface="Arial"/>
                          <a:cs typeface="Arial"/>
                        </a:rPr>
                        <a:t>Разные глубины, окна истории и функции потерь</a:t>
                      </a:r>
                    </a:p>
                  </a:txBody>
                  <a:tcPr marL="133350" marR="133350" marT="95250" marB="95250">
                    <a:solidFill>
                      <a:srgbClr val="0D201B"/>
                    </a:solidFill>
                  </a:tcPr>
                </a:tc>
              </a:tr>
              <a:tr h="695325">
                <a:tc>
                  <a:txBody>
                    <a:bodyPr/>
                    <a:lstStyle/>
                    <a:p>
                      <a:r>
                        <a:rPr sz="1800">
                          <a:solidFill>
                            <a:srgbClr val="F3F1E9"/>
                          </a:solidFill>
                          <a:latin typeface="Arial"/>
                          <a:ea typeface="Arial"/>
                          <a:cs typeface="Arial"/>
                        </a:rPr>
                        <a:t>238 признаков</a:t>
                      </a:r>
                    </a:p>
                  </a:txBody>
                  <a:tcPr marL="133350" marR="133350" marT="95250" marB="95250">
                    <a:solidFill>
                      <a:srgbClr val="0D201B"/>
                    </a:solidFill>
                  </a:tcPr>
                </a:tc>
                <a:tc>
                  <a:txBody>
                    <a:bodyPr/>
                    <a:lstStyle/>
                    <a:p>
                      <a:r>
                        <a:rPr sz="1800">
                          <a:solidFill>
                            <a:srgbClr val="F3F1E9"/>
                          </a:solidFill>
                          <a:latin typeface="Arial"/>
                          <a:ea typeface="Arial"/>
                          <a:cs typeface="Arial"/>
                        </a:rPr>
                        <a:t>Динамика состояний и повторяемость инцидентов</a:t>
                      </a:r>
                    </a:p>
                  </a:txBody>
                  <a:tcPr marL="133350" marR="133350" marT="95250" marB="95250">
                    <a:solidFill>
                      <a:srgbClr val="0D201B"/>
                    </a:solidFill>
                  </a:tcPr>
                </a:tc>
              </a:tr>
              <a:tr h="695325">
                <a:tc>
                  <a:txBody>
                    <a:bodyPr/>
                    <a:lstStyle/>
                    <a:p>
                      <a:r>
                        <a:rPr sz="1800">
                          <a:solidFill>
                            <a:srgbClr val="F3F1E9"/>
                          </a:solidFill>
                          <a:latin typeface="Arial"/>
                          <a:ea typeface="Arial"/>
                          <a:cs typeface="Arial"/>
                        </a:rPr>
                        <a:t>Временной OOF</a:t>
                      </a:r>
                    </a:p>
                  </a:txBody>
                  <a:tcPr marL="133350" marR="133350" marT="95250" marB="95250">
                    <a:solidFill>
                      <a:srgbClr val="0D201B"/>
                    </a:solidFill>
                  </a:tcPr>
                </a:tc>
                <a:tc>
                  <a:txBody>
                    <a:bodyPr/>
                    <a:lstStyle/>
                    <a:p>
                      <a:r>
                        <a:rPr sz="1800">
                          <a:solidFill>
                            <a:srgbClr val="F3F1E9"/>
                          </a:solidFill>
                          <a:latin typeface="Arial"/>
                          <a:ea typeface="Arial"/>
                          <a:cs typeface="Arial"/>
                        </a:rPr>
                        <a:t>Прогнозы только на следующих месяцах</a:t>
                      </a:r>
                    </a:p>
                  </a:txBody>
                  <a:tcPr marL="133350" marR="133350" marT="95250" marB="95250">
                    <a:solidFill>
                      <a:srgbClr val="0D201B"/>
                    </a:solidFill>
                  </a:tcPr>
                </a:tc>
              </a:tr>
              <a:tr h="695325">
                <a:tc>
                  <a:txBody>
                    <a:bodyPr/>
                    <a:lstStyle/>
                    <a:p>
                      <a:r>
                        <a:rPr sz="1800">
                          <a:solidFill>
                            <a:srgbClr val="F3F1E9"/>
                          </a:solidFill>
                          <a:latin typeface="Arial"/>
                          <a:ea typeface="Arial"/>
                          <a:cs typeface="Arial"/>
                        </a:rPr>
                        <a:t>Политика заявок</a:t>
                      </a:r>
                    </a:p>
                  </a:txBody>
                  <a:tcPr marL="133350" marR="133350" marT="95250" marB="95250">
                    <a:solidFill>
                      <a:srgbClr val="0D201B"/>
                    </a:solidFill>
                  </a:tcPr>
                </a:tc>
                <a:tc>
                  <a:txBody>
                    <a:bodyPr/>
                    <a:lstStyle/>
                    <a:p>
                      <a:r>
                        <a:rPr sz="1800">
                          <a:solidFill>
                            <a:srgbClr val="F3F1E9"/>
                          </a:solidFill>
                          <a:latin typeface="Arial"/>
                          <a:ea typeface="Arial"/>
                          <a:cs typeface="Arial"/>
                        </a:rPr>
                        <a:t>Порог на калибровке и пауза 14 дней</a:t>
                      </a:r>
                    </a:p>
                  </a:txBody>
                  <a:tcPr marL="133350" marR="133350" marT="95250" marB="95250">
                    <a:solidFill>
                      <a:srgbClr val="0D201B"/>
                    </a:solidFill>
                  </a:tcPr>
                </a:tc>
              </a:tr>
            </a:tbl>
          </a:graphicData>
        </a:graphic>
      </p:graphicFrame>
      <p:sp>
        <p:nvSpPr>
          <p:cNvPr id="3" name="">
            <a:extLst xmlns:a="http://schemas.openxmlformats.org/drawingml/2006/main">
              <a:ext uri="{FF2B5EF4-FFF2-40B4-BE49-F238E27FC236}">
                <a16:creationId xmlns:a16="http://schemas.microsoft.com/office/drawing/2014/main" id="{31D6B961-B01E-4AF7-BD09-F4986991E6EC}"/>
              </a:ext>
            </a:extLst>
          </p:cNvPr>
          <p:cNvSpPr>
            <a:spLocks xmlns:a="http://schemas.openxmlformats.org/drawingml/2006/main" noGrp="1"/>
          </p:cNvSpPr>
          <p:nvPr/>
        </p:nvSpPr>
        <p:spPr>
          <a:xfrm xmlns:a="http://schemas.openxmlformats.org/drawingml/2006/main">
            <a:off x="609600" y="6305550"/>
            <a:ext cx="10648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2958A"/>
                </a:solidFill>
                <a:latin typeface="Arial"/>
                <a:ea typeface="Arial"/>
                <a:cs typeface="Arial"/>
              </a:defRPr>
            </a:pPr>
            <a:r>
              <a:rPr sz="1200" b="0">
                <a:solidFill>
                  <a:srgbClr val="82958A"/>
                </a:solidFill>
                <a:latin typeface="Arial"/>
                <a:ea typeface="Arial"/>
                <a:cs typeface="Arial"/>
              </a:rPr>
              <a:t>Перебор моделей в исследовательском пайплайне. Результат ансамбля 8 моделей показан отдельно.</a:t>
            </a:r>
          </a:p>
        </p:txBody>
      </p:sp>
      <p:sp>
        <p:nvSpPr>
          <p:cNvPr id="4" name="">
            <a:extLst xmlns:a="http://schemas.openxmlformats.org/drawingml/2006/main">
              <a:ext uri="{FF2B5EF4-FFF2-40B4-BE49-F238E27FC236}">
                <a16:creationId xmlns:a16="http://schemas.microsoft.com/office/drawing/2014/main" id="{88BA48AB-6B3D-42F6-B35B-63B7F3EFD716}"/>
              </a:ext>
            </a:extLst>
          </p:cNvPr>
          <p:cNvSpPr>
            <a:spLocks xmlns:a="http://schemas.openxmlformats.org/drawingml/2006/main" noGrp="1"/>
          </p:cNvSpPr>
          <p:nvPr/>
        </p:nvSpPr>
        <p:spPr>
          <a:xfrm xmlns:a="http://schemas.openxmlformats.org/drawingml/2006/main">
            <a:off x="11334750" y="63150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2958A"/>
                </a:solidFill>
                <a:latin typeface="Arial"/>
                <a:ea typeface="Arial"/>
                <a:cs typeface="Arial"/>
              </a:defRPr>
            </a:pPr>
            <a:r>
              <a:rPr sz="1275" b="0">
                <a:solidFill>
                  <a:srgbClr val="82958A"/>
                </a:solidFill>
                <a:latin typeface="Arial"/>
                <a:ea typeface="Arial"/>
                <a:cs typeface="Arial"/>
              </a:rPr>
              <a:t>06</a:t>
            </a:r>
          </a:p>
        </p:txBody>
      </p:sp>
    </p:spTree>
    <p:extLst>
      <p:ext uri="{BB962C8B-B14F-4D97-AF65-F5344CB8AC3E}">
        <p14:creationId xmlns:p14="http://schemas.microsoft.com/office/powerpoint/2010/main" val="330615068"/>
      </p:ext>
    </p:extLst>
  </p:cSld>
</p:sld>
</file>

<file path=ppt/slides/slide7.xml><?xml version="1.0" encoding="utf-8"?>
<p:sld xmlns:p="http://schemas.openxmlformats.org/presentationml/2006/main">
  <p:cSld>
    <p:bg>
      <p:bgPr>
        <a:solidFill xmlns:a="http://schemas.openxmlformats.org/drawingml/2006/main">
          <a:srgbClr val="0D201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37CEA1F-FFD2-4C20-B4EC-8B93C952BCD4}"/>
              </a:ext>
            </a:extLst>
          </p:cNvPr>
          <p:cNvSpPr>
            <a:spLocks xmlns:a="http://schemas.openxmlformats.org/drawingml/2006/main" noGrp="1"/>
          </p:cNvSpPr>
          <p:nvPr/>
        </p:nvSpPr>
        <p:spPr>
          <a:xfrm xmlns:a="http://schemas.openxmlformats.org/drawingml/2006/main">
            <a:off x="609600" y="4000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Признаки, которые знают</a:t>
            </a:r>
          </a:p>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историю конкретного сбоя</a:t>
            </a:r>
          </a:p>
        </p:txBody>
      </p:sp>
      <p:sp>
        <p:nvSpPr>
          <p:cNvPr id="2" name="">
            <a:extLst xmlns:a="http://schemas.openxmlformats.org/drawingml/2006/main">
              <a:ext uri="{FF2B5EF4-FFF2-40B4-BE49-F238E27FC236}">
                <a16:creationId xmlns:a16="http://schemas.microsoft.com/office/drawing/2014/main" id="{133B3C98-F693-46FA-B8BD-2BC47A278204}"/>
              </a:ext>
            </a:extLst>
          </p:cNvPr>
          <p:cNvSpPr>
            <a:spLocks xmlns:a="http://schemas.openxmlformats.org/drawingml/2006/main" noGrp="1"/>
          </p:cNvSpPr>
          <p:nvPr/>
        </p:nvSpPr>
        <p:spPr>
          <a:xfrm xmlns:a="http://schemas.openxmlformats.org/drawingml/2006/main">
            <a:off x="628650" y="1924050"/>
            <a:ext cx="5048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8F77B"/>
                </a:solidFill>
                <a:latin typeface="Arial"/>
                <a:ea typeface="Arial"/>
                <a:cs typeface="Arial"/>
              </a:defRPr>
            </a:pPr>
            <a:r>
              <a:rPr sz="2550" b="1">
                <a:solidFill>
                  <a:srgbClr val="D8F77B"/>
                </a:solidFill>
                <a:latin typeface="Arial"/>
                <a:ea typeface="Arial"/>
                <a:cs typeface="Arial"/>
              </a:rPr>
              <a:t>Плотность повторов</a:t>
            </a:r>
          </a:p>
        </p:txBody>
      </p:sp>
      <p:sp>
        <p:nvSpPr>
          <p:cNvPr id="3" name="">
            <a:extLst xmlns:a="http://schemas.openxmlformats.org/drawingml/2006/main">
              <a:ext uri="{FF2B5EF4-FFF2-40B4-BE49-F238E27FC236}">
                <a16:creationId xmlns:a16="http://schemas.microsoft.com/office/drawing/2014/main" id="{F846A056-F2DB-4ADD-837C-70C11E55AD43}"/>
              </a:ext>
            </a:extLst>
          </p:cNvPr>
          <p:cNvSpPr>
            <a:spLocks xmlns:a="http://schemas.openxmlformats.org/drawingml/2006/main" noGrp="1"/>
          </p:cNvSpPr>
          <p:nvPr/>
        </p:nvSpPr>
        <p:spPr>
          <a:xfrm xmlns:a="http://schemas.openxmlformats.org/drawingml/2006/main">
            <a:off x="647700" y="2647950"/>
            <a:ext cx="4905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7DFD6"/>
                </a:solidFill>
                <a:latin typeface="Arial"/>
                <a:ea typeface="Arial"/>
                <a:cs typeface="Arial"/>
              </a:defRPr>
            </a:pPr>
            <a:r>
              <a:rPr sz="2100" b="0">
                <a:solidFill>
                  <a:srgbClr val="D7DFD6"/>
                </a:solidFill>
                <a:latin typeface="Arial"/>
                <a:ea typeface="Arial"/>
                <a:cs typeface="Arial"/>
              </a:rPr>
              <a:t>Эпизоды за 7 дней /</a:t>
            </a:r>
          </a:p>
          <a:p xmlns:a="http://schemas.openxmlformats.org/drawingml/2006/main">
            <a:pPr>
              <a:defRPr sz="2100" b="0">
                <a:solidFill>
                  <a:srgbClr val="D7DFD6"/>
                </a:solidFill>
                <a:latin typeface="Arial"/>
                <a:ea typeface="Arial"/>
                <a:cs typeface="Arial"/>
              </a:defRPr>
            </a:pPr>
            <a:r>
              <a:rPr sz="2100" b="0">
                <a:solidFill>
                  <a:srgbClr val="D7DFD6"/>
                </a:solidFill>
                <a:latin typeface="Arial"/>
                <a:ea typeface="Arial"/>
                <a:cs typeface="Arial"/>
              </a:rPr>
              <a:t>число затронутых каналов</a:t>
            </a:r>
          </a:p>
        </p:txBody>
      </p:sp>
      <p:sp>
        <p:nvSpPr>
          <p:cNvPr id="4" name="">
            <a:extLst xmlns:a="http://schemas.openxmlformats.org/drawingml/2006/main">
              <a:ext uri="{FF2B5EF4-FFF2-40B4-BE49-F238E27FC236}">
                <a16:creationId xmlns:a16="http://schemas.microsoft.com/office/drawing/2014/main" id="{80F4E31F-43C0-49F1-9635-97ADA8900720}"/>
              </a:ext>
            </a:extLst>
          </p:cNvPr>
          <p:cNvSpPr>
            <a:spLocks xmlns:a="http://schemas.openxmlformats.org/drawingml/2006/main" noGrp="1"/>
          </p:cNvSpPr>
          <p:nvPr/>
        </p:nvSpPr>
        <p:spPr>
          <a:xfrm xmlns:a="http://schemas.openxmlformats.org/drawingml/2006/main">
            <a:off x="6334125" y="1924050"/>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8F77B"/>
                </a:solidFill>
                <a:latin typeface="Arial"/>
                <a:ea typeface="Arial"/>
                <a:cs typeface="Arial"/>
              </a:defRPr>
            </a:pPr>
            <a:r>
              <a:rPr sz="2550" b="1">
                <a:solidFill>
                  <a:srgbClr val="D8F77B"/>
                </a:solidFill>
                <a:latin typeface="Arial"/>
                <a:ea typeface="Arial"/>
                <a:cs typeface="Arial"/>
              </a:rPr>
              <a:t>Хрупкое восстановление</a:t>
            </a:r>
          </a:p>
        </p:txBody>
      </p:sp>
      <p:sp>
        <p:nvSpPr>
          <p:cNvPr id="5" name="">
            <a:extLst xmlns:a="http://schemas.openxmlformats.org/drawingml/2006/main">
              <a:ext uri="{FF2B5EF4-FFF2-40B4-BE49-F238E27FC236}">
                <a16:creationId xmlns:a16="http://schemas.microsoft.com/office/drawing/2014/main" id="{54A46A15-FF62-4827-B75F-EC354693DD1B}"/>
              </a:ext>
            </a:extLst>
          </p:cNvPr>
          <p:cNvSpPr>
            <a:spLocks xmlns:a="http://schemas.openxmlformats.org/drawingml/2006/main" noGrp="1"/>
          </p:cNvSpPr>
          <p:nvPr/>
        </p:nvSpPr>
        <p:spPr>
          <a:xfrm xmlns:a="http://schemas.openxmlformats.org/drawingml/2006/main">
            <a:off x="6362700" y="2647950"/>
            <a:ext cx="51530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7DFD6"/>
                </a:solidFill>
                <a:latin typeface="Arial"/>
                <a:ea typeface="Arial"/>
                <a:cs typeface="Arial"/>
              </a:defRPr>
            </a:pPr>
            <a:r>
              <a:rPr sz="2100" b="0">
                <a:solidFill>
                  <a:srgbClr val="D7DFD6"/>
                </a:solidFill>
                <a:latin typeface="Arial"/>
                <a:ea typeface="Arial"/>
                <a:cs typeface="Arial"/>
              </a:rPr>
              <a:t>Возвраты в неизвестное состояние</a:t>
            </a:r>
          </a:p>
          <a:p xmlns:a="http://schemas.openxmlformats.org/drawingml/2006/main">
            <a:pPr>
              <a:defRPr sz="2100" b="0">
                <a:solidFill>
                  <a:srgbClr val="D7DFD6"/>
                </a:solidFill>
                <a:latin typeface="Arial"/>
                <a:ea typeface="Arial"/>
                <a:cs typeface="Arial"/>
              </a:defRPr>
            </a:pPr>
            <a:r>
              <a:rPr sz="2100" b="0">
                <a:solidFill>
                  <a:srgbClr val="D7DFD6"/>
                </a:solidFill>
                <a:latin typeface="Arial"/>
                <a:ea typeface="Arial"/>
                <a:cs typeface="Arial"/>
              </a:rPr>
              <a:t>после переходов неисправности</a:t>
            </a:r>
          </a:p>
        </p:txBody>
      </p:sp>
      <p:sp>
        <p:nvSpPr>
          <p:cNvPr id="6" name="">
            <a:extLst xmlns:a="http://schemas.openxmlformats.org/drawingml/2006/main">
              <a:ext uri="{FF2B5EF4-FFF2-40B4-BE49-F238E27FC236}">
                <a16:creationId xmlns:a16="http://schemas.microsoft.com/office/drawing/2014/main" id="{3719C41D-5FFB-4060-B24A-70AE8012F7B7}"/>
              </a:ext>
            </a:extLst>
          </p:cNvPr>
          <p:cNvSpPr>
            <a:spLocks xmlns:a="http://schemas.openxmlformats.org/drawingml/2006/main" noGrp="1"/>
          </p:cNvSpPr>
          <p:nvPr/>
        </p:nvSpPr>
        <p:spPr>
          <a:xfrm xmlns:a="http://schemas.openxmlformats.org/drawingml/2006/main">
            <a:off x="619125" y="4114800"/>
            <a:ext cx="5476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D8F77B"/>
                </a:solidFill>
                <a:latin typeface="Arial"/>
                <a:ea typeface="Arial"/>
                <a:cs typeface="Arial"/>
              </a:defRPr>
            </a:pPr>
            <a:r>
              <a:rPr sz="2475" b="1">
                <a:solidFill>
                  <a:srgbClr val="D8F77B"/>
                </a:solidFill>
                <a:latin typeface="Arial"/>
                <a:ea typeface="Arial"/>
                <a:cs typeface="Arial"/>
              </a:rPr>
              <a:t>Фаза повторного инцидента</a:t>
            </a:r>
          </a:p>
        </p:txBody>
      </p:sp>
      <p:sp>
        <p:nvSpPr>
          <p:cNvPr id="7" name="">
            <a:extLst xmlns:a="http://schemas.openxmlformats.org/drawingml/2006/main">
              <a:ext uri="{FF2B5EF4-FFF2-40B4-BE49-F238E27FC236}">
                <a16:creationId xmlns:a16="http://schemas.microsoft.com/office/drawing/2014/main" id="{156CF968-35ED-4C50-A75A-5C64B149259A}"/>
              </a:ext>
            </a:extLst>
          </p:cNvPr>
          <p:cNvSpPr>
            <a:spLocks xmlns:a="http://schemas.openxmlformats.org/drawingml/2006/main" noGrp="1"/>
          </p:cNvSpPr>
          <p:nvPr/>
        </p:nvSpPr>
        <p:spPr>
          <a:xfrm xmlns:a="http://schemas.openxmlformats.org/drawingml/2006/main">
            <a:off x="647700" y="4857750"/>
            <a:ext cx="5105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7DFD6"/>
                </a:solidFill>
                <a:latin typeface="Arial"/>
                <a:ea typeface="Arial"/>
                <a:cs typeface="Arial"/>
              </a:defRPr>
            </a:pPr>
            <a:r>
              <a:rPr sz="2100" b="0">
                <a:solidFill>
                  <a:srgbClr val="D7DFD6"/>
                </a:solidFill>
                <a:latin typeface="Arial"/>
                <a:ea typeface="Arial"/>
                <a:cs typeface="Arial"/>
              </a:rPr>
              <a:t>Время после последнего сбоя /</a:t>
            </a:r>
          </a:p>
          <a:p xmlns:a="http://schemas.openxmlformats.org/drawingml/2006/main">
            <a:pPr>
              <a:defRPr sz="2100" b="0">
                <a:solidFill>
                  <a:srgbClr val="D7DFD6"/>
                </a:solidFill>
                <a:latin typeface="Arial"/>
                <a:ea typeface="Arial"/>
                <a:cs typeface="Arial"/>
              </a:defRPr>
            </a:pPr>
            <a:r>
              <a:rPr sz="2100" b="0">
                <a:solidFill>
                  <a:srgbClr val="D7DFD6"/>
                </a:solidFill>
                <a:latin typeface="Arial"/>
                <a:ea typeface="Arial"/>
                <a:cs typeface="Arial"/>
              </a:rPr>
              <a:t>типичный интервал этой группы</a:t>
            </a:r>
          </a:p>
        </p:txBody>
      </p:sp>
      <p:sp>
        <p:nvSpPr>
          <p:cNvPr id="8" name="">
            <a:extLst xmlns:a="http://schemas.openxmlformats.org/drawingml/2006/main">
              <a:ext uri="{FF2B5EF4-FFF2-40B4-BE49-F238E27FC236}">
                <a16:creationId xmlns:a16="http://schemas.microsoft.com/office/drawing/2014/main" id="{FAE200A5-848C-4D25-8EBB-B1670988479A}"/>
              </a:ext>
            </a:extLst>
          </p:cNvPr>
          <p:cNvSpPr>
            <a:spLocks xmlns:a="http://schemas.openxmlformats.org/drawingml/2006/main" noGrp="1"/>
          </p:cNvSpPr>
          <p:nvPr/>
        </p:nvSpPr>
        <p:spPr>
          <a:xfrm xmlns:a="http://schemas.openxmlformats.org/drawingml/2006/main">
            <a:off x="6334125" y="411480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8F77B"/>
                </a:solidFill>
                <a:latin typeface="Arial"/>
                <a:ea typeface="Arial"/>
                <a:cs typeface="Arial"/>
              </a:defRPr>
            </a:pPr>
            <a:r>
              <a:rPr sz="2550" b="1">
                <a:solidFill>
                  <a:srgbClr val="D8F77B"/>
                </a:solidFill>
                <a:latin typeface="Arial"/>
                <a:ea typeface="Arial"/>
                <a:cs typeface="Arial"/>
              </a:rPr>
              <a:t>Общий фон сети</a:t>
            </a:r>
          </a:p>
        </p:txBody>
      </p:sp>
      <p:sp>
        <p:nvSpPr>
          <p:cNvPr id="9" name="">
            <a:extLst xmlns:a="http://schemas.openxmlformats.org/drawingml/2006/main">
              <a:ext uri="{FF2B5EF4-FFF2-40B4-BE49-F238E27FC236}">
                <a16:creationId xmlns:a16="http://schemas.microsoft.com/office/drawing/2014/main" id="{013069EA-724A-4706-83FF-5CBD36EFA410}"/>
              </a:ext>
            </a:extLst>
          </p:cNvPr>
          <p:cNvSpPr>
            <a:spLocks xmlns:a="http://schemas.openxmlformats.org/drawingml/2006/main" noGrp="1"/>
          </p:cNvSpPr>
          <p:nvPr/>
        </p:nvSpPr>
        <p:spPr>
          <a:xfrm xmlns:a="http://schemas.openxmlformats.org/drawingml/2006/main">
            <a:off x="6362700" y="4857750"/>
            <a:ext cx="51625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7DFD6"/>
                </a:solidFill>
                <a:latin typeface="Arial"/>
                <a:ea typeface="Arial"/>
                <a:cs typeface="Arial"/>
              </a:defRPr>
            </a:pPr>
            <a:r>
              <a:rPr sz="2100" b="0">
                <a:solidFill>
                  <a:srgbClr val="D7DFD6"/>
                </a:solidFill>
                <a:latin typeface="Arial"/>
                <a:ea typeface="Arial"/>
                <a:cs typeface="Arial"/>
              </a:rPr>
              <a:t>Синхронная активность соседних</a:t>
            </a:r>
          </a:p>
          <a:p xmlns:a="http://schemas.openxmlformats.org/drawingml/2006/main">
            <a:pPr>
              <a:defRPr sz="2100" b="0">
                <a:solidFill>
                  <a:srgbClr val="D7DFD6"/>
                </a:solidFill>
                <a:latin typeface="Arial"/>
                <a:ea typeface="Arial"/>
                <a:cs typeface="Arial"/>
              </a:defRPr>
            </a:pPr>
            <a:r>
              <a:rPr sz="2100" b="0">
                <a:solidFill>
                  <a:srgbClr val="D7DFD6"/>
                </a:solidFill>
                <a:latin typeface="Arial"/>
                <a:ea typeface="Arial"/>
                <a:cs typeface="Arial"/>
              </a:rPr>
              <a:t>по времени групп без самой группы</a:t>
            </a:r>
          </a:p>
        </p:txBody>
      </p:sp>
      <p:sp>
        <p:nvSpPr>
          <p:cNvPr id="10" name="">
            <a:extLst xmlns:a="http://schemas.openxmlformats.org/drawingml/2006/main">
              <a:ext uri="{FF2B5EF4-FFF2-40B4-BE49-F238E27FC236}">
                <a16:creationId xmlns:a16="http://schemas.microsoft.com/office/drawing/2014/main" id="{34CD9C4D-B22E-4C89-9E85-AAD8E6F6A136}"/>
              </a:ext>
            </a:extLst>
          </p:cNvPr>
          <p:cNvSpPr>
            <a:spLocks xmlns:a="http://schemas.openxmlformats.org/drawingml/2006/main" noGrp="1"/>
          </p:cNvSpPr>
          <p:nvPr/>
        </p:nvSpPr>
        <p:spPr>
          <a:xfrm xmlns:a="http://schemas.openxmlformats.org/drawingml/2006/main">
            <a:off x="609600" y="6305550"/>
            <a:ext cx="10648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2958A"/>
                </a:solidFill>
                <a:latin typeface="Arial"/>
                <a:ea typeface="Arial"/>
                <a:cs typeface="Arial"/>
              </a:defRPr>
            </a:pPr>
            <a:r>
              <a:rPr sz="1200" b="0">
                <a:solidFill>
                  <a:srgbClr val="82958A"/>
                </a:solidFill>
                <a:latin typeface="Arial"/>
                <a:ea typeface="Arial"/>
                <a:cs typeface="Arial"/>
              </a:rPr>
              <a:t>Доступность признака проверяется на дату прогноза. Будущие интервалы не попадают в историю.</a:t>
            </a:r>
          </a:p>
        </p:txBody>
      </p:sp>
      <p:sp>
        <p:nvSpPr>
          <p:cNvPr id="11" name="">
            <a:extLst xmlns:a="http://schemas.openxmlformats.org/drawingml/2006/main">
              <a:ext uri="{FF2B5EF4-FFF2-40B4-BE49-F238E27FC236}">
                <a16:creationId xmlns:a16="http://schemas.microsoft.com/office/drawing/2014/main" id="{CFEE3D13-246B-4AF9-8AF5-1D0D6627A344}"/>
              </a:ext>
            </a:extLst>
          </p:cNvPr>
          <p:cNvSpPr>
            <a:spLocks xmlns:a="http://schemas.openxmlformats.org/drawingml/2006/main" noGrp="1"/>
          </p:cNvSpPr>
          <p:nvPr/>
        </p:nvSpPr>
        <p:spPr>
          <a:xfrm xmlns:a="http://schemas.openxmlformats.org/drawingml/2006/main">
            <a:off x="11334750" y="63150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2958A"/>
                </a:solidFill>
                <a:latin typeface="Arial"/>
                <a:ea typeface="Arial"/>
                <a:cs typeface="Arial"/>
              </a:defRPr>
            </a:pPr>
            <a:r>
              <a:rPr sz="1275" b="0">
                <a:solidFill>
                  <a:srgbClr val="82958A"/>
                </a:solidFill>
                <a:latin typeface="Arial"/>
                <a:ea typeface="Arial"/>
                <a:cs typeface="Arial"/>
              </a:rPr>
              <a:t>07</a:t>
            </a:r>
          </a:p>
        </p:txBody>
      </p:sp>
    </p:spTree>
    <p:extLst>
      <p:ext uri="{BB962C8B-B14F-4D97-AF65-F5344CB8AC3E}">
        <p14:creationId xmlns:p14="http://schemas.microsoft.com/office/powerpoint/2010/main" val="25633071"/>
      </p:ext>
    </p:extLst>
  </p:cSld>
</p:sld>
</file>

<file path=ppt/slides/slide8.xml><?xml version="1.0" encoding="utf-8"?>
<p:sld xmlns:p="http://schemas.openxmlformats.org/presentationml/2006/main">
  <p:cSld>
    <p:bg>
      <p:bgPr>
        <a:solidFill xmlns:a="http://schemas.openxmlformats.org/drawingml/2006/main">
          <a:srgbClr val="0D201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8D3C19-3AA0-4356-9DCE-96789C330952}"/>
              </a:ext>
            </a:extLst>
          </p:cNvPr>
          <p:cNvSpPr>
            <a:spLocks xmlns:a="http://schemas.openxmlformats.org/drawingml/2006/main" noGrp="1"/>
          </p:cNvSpPr>
          <p:nvPr/>
        </p:nvSpPr>
        <p:spPr>
          <a:xfrm xmlns:a="http://schemas.openxmlformats.org/drawingml/2006/main">
            <a:off x="609600" y="4000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Проверка идёт вперёд по времени</a:t>
            </a:r>
          </a:p>
        </p:txBody>
      </p:sp>
      <p:graphicFrame>
        <p:nvGraphicFramePr>
          <p:cNvPr id="8" name=""/>
          <p:cNvGraphicFramePr/>
          <p:nvPr/>
        </p:nvGraphicFramePr>
        <p:xfrm>
          <a:off xmlns:a="http://schemas.openxmlformats.org/drawingml/2006/main" x="609600" y="1847850"/>
          <a:ext xmlns:a="http://schemas.openxmlformats.org/drawingml/2006/main" cx="10972800" cy="2800350"/>
        </p:xfrm>
        <a:graphic xmlns:a="http://schemas.openxmlformats.org/drawingml/2006/main">
          <a:graphicData uri="http://schemas.openxmlformats.org/drawingml/2006/table">
            <a:tbl>
              <a:tblPr/>
              <a:tblGrid>
                <a:gridCol w="4048125"/>
                <a:gridCol w="6924675"/>
              </a:tblGrid>
              <a:tr h="700088">
                <a:tc>
                  <a:txBody>
                    <a:bodyPr/>
                    <a:lstStyle/>
                    <a:p>
                      <a:r>
                        <a:rPr sz="1800" b="1">
                          <a:solidFill>
                            <a:srgbClr val="0D201B"/>
                          </a:solidFill>
                          <a:latin typeface="Arial"/>
                          <a:ea typeface="Arial"/>
                          <a:cs typeface="Arial"/>
                        </a:rPr>
                        <a:t>Период</a:t>
                      </a:r>
                    </a:p>
                  </a:txBody>
                  <a:tcPr marL="133350" marR="133350" marT="95250" marB="95250">
                    <a:solidFill>
                      <a:srgbClr val="D8F77B"/>
                    </a:solidFill>
                  </a:tcPr>
                </a:tc>
                <a:tc>
                  <a:txBody>
                    <a:bodyPr/>
                    <a:lstStyle/>
                    <a:p>
                      <a:r>
                        <a:rPr sz="1800" b="1">
                          <a:solidFill>
                            <a:srgbClr val="0D201B"/>
                          </a:solidFill>
                          <a:latin typeface="Arial"/>
                          <a:ea typeface="Arial"/>
                          <a:cs typeface="Arial"/>
                        </a:rPr>
                        <a:t>Роль</a:t>
                      </a:r>
                    </a:p>
                  </a:txBody>
                  <a:tcPr marL="133350" marR="133350" marT="95250" marB="95250">
                    <a:solidFill>
                      <a:srgbClr val="D8F77B"/>
                    </a:solidFill>
                  </a:tcPr>
                </a:tc>
              </a:tr>
              <a:tr h="700088">
                <a:tc>
                  <a:txBody>
                    <a:bodyPr/>
                    <a:lstStyle/>
                    <a:p>
                      <a:r>
                        <a:rPr sz="1800">
                          <a:solidFill>
                            <a:srgbClr val="F3F1E9"/>
                          </a:solidFill>
                          <a:latin typeface="Arial"/>
                          <a:ea typeface="Arial"/>
                          <a:cs typeface="Arial"/>
                        </a:rPr>
                        <a:t>2024</a:t>
                      </a:r>
                    </a:p>
                  </a:txBody>
                  <a:tcPr marL="133350" marR="133350" marT="95250" marB="95250">
                    <a:solidFill>
                      <a:srgbClr val="0D201B"/>
                    </a:solidFill>
                  </a:tcPr>
                </a:tc>
                <a:tc>
                  <a:txBody>
                    <a:bodyPr/>
                    <a:lstStyle/>
                    <a:p>
                      <a:r>
                        <a:rPr sz="1800">
                          <a:solidFill>
                            <a:srgbClr val="F3F1E9"/>
                          </a:solidFill>
                          <a:latin typeface="Arial"/>
                          <a:ea typeface="Arial"/>
                          <a:cs typeface="Arial"/>
                        </a:rPr>
                        <a:t>Начальная история и первые месяцы OOF</a:t>
                      </a:r>
                    </a:p>
                  </a:txBody>
                  <a:tcPr marL="133350" marR="133350" marT="95250" marB="95250">
                    <a:solidFill>
                      <a:srgbClr val="0D201B"/>
                    </a:solidFill>
                  </a:tcPr>
                </a:tc>
              </a:tr>
              <a:tr h="700088">
                <a:tc>
                  <a:txBody>
                    <a:bodyPr/>
                    <a:lstStyle/>
                    <a:p>
                      <a:r>
                        <a:rPr sz="1800">
                          <a:solidFill>
                            <a:srgbClr val="F3F1E9"/>
                          </a:solidFill>
                          <a:latin typeface="Arial"/>
                          <a:ea typeface="Arial"/>
                          <a:cs typeface="Arial"/>
                        </a:rPr>
                        <a:t>Апрель–декабрь 2025</a:t>
                      </a:r>
                    </a:p>
                  </a:txBody>
                  <a:tcPr marL="133350" marR="133350" marT="95250" marB="95250">
                    <a:solidFill>
                      <a:srgbClr val="0D201B"/>
                    </a:solidFill>
                  </a:tcPr>
                </a:tc>
                <a:tc>
                  <a:txBody>
                    <a:bodyPr/>
                    <a:lstStyle/>
                    <a:p>
                      <a:r>
                        <a:rPr sz="1800">
                          <a:solidFill>
                            <a:srgbClr val="F3F1E9"/>
                          </a:solidFill>
                          <a:latin typeface="Arial"/>
                          <a:ea typeface="Arial"/>
                          <a:cs typeface="Arial"/>
                        </a:rPr>
                        <a:t>Выбор модели и политики по трём кварталам</a:t>
                      </a:r>
                    </a:p>
                  </a:txBody>
                  <a:tcPr marL="133350" marR="133350" marT="95250" marB="95250">
                    <a:solidFill>
                      <a:srgbClr val="0D201B"/>
                    </a:solidFill>
                  </a:tcPr>
                </a:tc>
              </a:tr>
              <a:tr h="700088">
                <a:tc>
                  <a:txBody>
                    <a:bodyPr/>
                    <a:lstStyle/>
                    <a:p>
                      <a:r>
                        <a:rPr sz="1800">
                          <a:solidFill>
                            <a:srgbClr val="F3F1E9"/>
                          </a:solidFill>
                          <a:latin typeface="Arial"/>
                          <a:ea typeface="Arial"/>
                          <a:cs typeface="Arial"/>
                        </a:rPr>
                        <a:t>Январь–июнь 2026</a:t>
                      </a:r>
                    </a:p>
                  </a:txBody>
                  <a:tcPr marL="133350" marR="133350" marT="95250" marB="95250">
                    <a:solidFill>
                      <a:srgbClr val="0D201B"/>
                    </a:solidFill>
                  </a:tcPr>
                </a:tc>
                <a:tc>
                  <a:txBody>
                    <a:bodyPr/>
                    <a:lstStyle/>
                    <a:p>
                      <a:r>
                        <a:rPr sz="1800">
                          <a:solidFill>
                            <a:srgbClr val="F3F1E9"/>
                          </a:solidFill>
                          <a:latin typeface="Arial"/>
                          <a:ea typeface="Arial"/>
                          <a:cs typeface="Arial"/>
                        </a:rPr>
                        <a:t>Ретроспективная проверка зафиксированного выбора</a:t>
                      </a:r>
                    </a:p>
                  </a:txBody>
                  <a:tcPr marL="133350" marR="133350" marT="95250" marB="95250">
                    <a:solidFill>
                      <a:srgbClr val="0D201B"/>
                    </a:solidFill>
                  </a:tcPr>
                </a:tc>
              </a:tr>
            </a:tbl>
          </a:graphicData>
        </a:graphic>
      </p:graphicFrame>
      <p:sp>
        <p:nvSpPr>
          <p:cNvPr id="3" name="">
            <a:extLst xmlns:a="http://schemas.openxmlformats.org/drawingml/2006/main">
              <a:ext uri="{FF2B5EF4-FFF2-40B4-BE49-F238E27FC236}">
                <a16:creationId xmlns:a16="http://schemas.microsoft.com/office/drawing/2014/main" id="{DC0CBD80-A5CE-4FCC-9059-C1666C30DABE}"/>
              </a:ext>
            </a:extLst>
          </p:cNvPr>
          <p:cNvSpPr>
            <a:spLocks xmlns:a="http://schemas.openxmlformats.org/drawingml/2006/main" noGrp="1"/>
          </p:cNvSpPr>
          <p:nvPr/>
        </p:nvSpPr>
        <p:spPr>
          <a:xfrm xmlns:a="http://schemas.openxmlformats.org/drawingml/2006/main">
            <a:off x="619125" y="5076825"/>
            <a:ext cx="3476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D8F77B"/>
                </a:solidFill>
                <a:latin typeface="Arial"/>
                <a:ea typeface="Arial"/>
                <a:cs typeface="Arial"/>
              </a:defRPr>
            </a:pPr>
            <a:r>
              <a:rPr sz="4875" b="1">
                <a:solidFill>
                  <a:srgbClr val="D8F77B"/>
                </a:solidFill>
                <a:latin typeface="Arial"/>
                <a:ea typeface="Arial"/>
                <a:cs typeface="Arial"/>
              </a:rPr>
              <a:t>15 дней</a:t>
            </a:r>
          </a:p>
        </p:txBody>
      </p:sp>
      <p:sp>
        <p:nvSpPr>
          <p:cNvPr id="4" name="">
            <a:extLst xmlns:a="http://schemas.openxmlformats.org/drawingml/2006/main">
              <a:ext uri="{FF2B5EF4-FFF2-40B4-BE49-F238E27FC236}">
                <a16:creationId xmlns:a16="http://schemas.microsoft.com/office/drawing/2014/main" id="{65E7D66D-134B-4A72-9780-4C3D2A164AA6}"/>
              </a:ext>
            </a:extLst>
          </p:cNvPr>
          <p:cNvSpPr>
            <a:spLocks xmlns:a="http://schemas.openxmlformats.org/drawingml/2006/main" noGrp="1"/>
          </p:cNvSpPr>
          <p:nvPr/>
        </p:nvSpPr>
        <p:spPr>
          <a:xfrm xmlns:a="http://schemas.openxmlformats.org/drawingml/2006/main">
            <a:off x="4238625" y="5172075"/>
            <a:ext cx="71532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7DFD6"/>
                </a:solidFill>
                <a:latin typeface="Arial"/>
                <a:ea typeface="Arial"/>
                <a:cs typeface="Arial"/>
              </a:defRPr>
            </a:pPr>
            <a:r>
              <a:rPr sz="2100" b="0">
                <a:solidFill>
                  <a:srgbClr val="D7DFD6"/>
                </a:solidFill>
                <a:latin typeface="Arial"/>
                <a:ea typeface="Arial"/>
                <a:cs typeface="Arial"/>
              </a:rPr>
              <a:t>разрыв для созревания меток</a:t>
            </a:r>
          </a:p>
          <a:p xmlns:a="http://schemas.openxmlformats.org/drawingml/2006/main">
            <a:pPr>
              <a:defRPr sz="2100" b="0">
                <a:solidFill>
                  <a:srgbClr val="D7DFD6"/>
                </a:solidFill>
                <a:latin typeface="Arial"/>
                <a:ea typeface="Arial"/>
                <a:cs typeface="Arial"/>
              </a:defRPr>
            </a:pPr>
            <a:r>
              <a:rPr sz="2100" b="0">
                <a:solidFill>
                  <a:srgbClr val="D7DFD6"/>
                </a:solidFill>
                <a:latin typeface="Arial"/>
                <a:ea typeface="Arial"/>
                <a:cs typeface="Arial"/>
              </a:rPr>
              <a:t>между обучением, калибровкой и проверкой</a:t>
            </a:r>
          </a:p>
        </p:txBody>
      </p:sp>
      <p:sp>
        <p:nvSpPr>
          <p:cNvPr id="5" name="">
            <a:extLst xmlns:a="http://schemas.openxmlformats.org/drawingml/2006/main">
              <a:ext uri="{FF2B5EF4-FFF2-40B4-BE49-F238E27FC236}">
                <a16:creationId xmlns:a16="http://schemas.microsoft.com/office/drawing/2014/main" id="{D1CD9B29-6F9F-4389-9013-08D59E8162A5}"/>
              </a:ext>
            </a:extLst>
          </p:cNvPr>
          <p:cNvSpPr>
            <a:spLocks xmlns:a="http://schemas.openxmlformats.org/drawingml/2006/main" noGrp="1"/>
          </p:cNvSpPr>
          <p:nvPr/>
        </p:nvSpPr>
        <p:spPr>
          <a:xfrm xmlns:a="http://schemas.openxmlformats.org/drawingml/2006/main">
            <a:off x="609600" y="6305550"/>
            <a:ext cx="10648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2958A"/>
                </a:solidFill>
                <a:latin typeface="Arial"/>
                <a:ea typeface="Arial"/>
                <a:cs typeface="Arial"/>
              </a:defRPr>
            </a:pPr>
            <a:r>
              <a:rPr sz="1200" b="0">
                <a:solidFill>
                  <a:srgbClr val="82958A"/>
                </a:solidFill>
                <a:latin typeface="Arial"/>
                <a:ea typeface="Arial"/>
                <a:cs typeface="Arial"/>
              </a:rPr>
              <a:t>Исторические даты уже исследовались. Для промышленного решения нужен новый закрытый период.</a:t>
            </a:r>
          </a:p>
        </p:txBody>
      </p:sp>
      <p:sp>
        <p:nvSpPr>
          <p:cNvPr id="6" name="">
            <a:extLst xmlns:a="http://schemas.openxmlformats.org/drawingml/2006/main">
              <a:ext uri="{FF2B5EF4-FFF2-40B4-BE49-F238E27FC236}">
                <a16:creationId xmlns:a16="http://schemas.microsoft.com/office/drawing/2014/main" id="{55904BC8-BB83-4CBE-BFC5-559D04E2DEB1}"/>
              </a:ext>
            </a:extLst>
          </p:cNvPr>
          <p:cNvSpPr>
            <a:spLocks xmlns:a="http://schemas.openxmlformats.org/drawingml/2006/main" noGrp="1"/>
          </p:cNvSpPr>
          <p:nvPr/>
        </p:nvSpPr>
        <p:spPr>
          <a:xfrm xmlns:a="http://schemas.openxmlformats.org/drawingml/2006/main">
            <a:off x="11334750" y="63150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2958A"/>
                </a:solidFill>
                <a:latin typeface="Arial"/>
                <a:ea typeface="Arial"/>
                <a:cs typeface="Arial"/>
              </a:defRPr>
            </a:pPr>
            <a:r>
              <a:rPr sz="1275" b="0">
                <a:solidFill>
                  <a:srgbClr val="82958A"/>
                </a:solidFill>
                <a:latin typeface="Arial"/>
                <a:ea typeface="Arial"/>
                <a:cs typeface="Arial"/>
              </a:rPr>
              <a:t>08</a:t>
            </a:r>
          </a:p>
        </p:txBody>
      </p:sp>
    </p:spTree>
    <p:extLst>
      <p:ext uri="{BB962C8B-B14F-4D97-AF65-F5344CB8AC3E}">
        <p14:creationId xmlns:p14="http://schemas.microsoft.com/office/powerpoint/2010/main" val="640956263"/>
      </p:ext>
    </p:extLst>
  </p:cSld>
</p:sld>
</file>

<file path=ppt/slides/slide9.xml><?xml version="1.0" encoding="utf-8"?>
<p:sld xmlns:p="http://schemas.openxmlformats.org/presentationml/2006/main">
  <p:cSld>
    <p:bg>
      <p:bgPr>
        <a:solidFill xmlns:a="http://schemas.openxmlformats.org/drawingml/2006/main">
          <a:srgbClr val="0D201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9F70084-A3F8-43F0-ADED-ACD6B2AEDFCD}"/>
              </a:ext>
            </a:extLst>
          </p:cNvPr>
          <p:cNvSpPr>
            <a:spLocks xmlns:a="http://schemas.openxmlformats.org/drawingml/2006/main" noGrp="1"/>
          </p:cNvSpPr>
          <p:nvPr/>
        </p:nvSpPr>
        <p:spPr>
          <a:xfrm xmlns:a="http://schemas.openxmlformats.org/drawingml/2006/main">
            <a:off x="609600" y="4000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Каждое предупреждение</a:t>
            </a:r>
          </a:p>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проверяем по реальному событию</a:t>
            </a:r>
          </a:p>
        </p:txBody>
      </p:sp>
      <p:graphicFrame>
        <p:nvGraphicFramePr>
          <p:cNvPr id="10" name="Chart"/>
          <p:cNvGraphicFramePr/>
          <p:nvPr/>
        </p:nvGraphicFramePr>
        <p:xfrm>
          <a:off xmlns:a="http://schemas.openxmlformats.org/drawingml/2006/main" x="609600" y="1714500"/>
          <a:ext xmlns:a="http://schemas.openxmlformats.org/drawingml/2006/main" cx="7296150" cy="4076700"/>
        </p:xfrm>
        <a:graphic xmlns:a="http://schemas.openxmlformats.org/drawingml/2006/main">
          <a:graphicData uri="http://schemas.openxmlformats.org/drawingml/2006/chart">
            <c:chart xmlns:r="http://schemas.openxmlformats.org/officeDocument/2006/relationships" xmlns:c="http://schemas.openxmlformats.org/drawingml/2006/chart" r:id="R96de10a66f7a488d"/>
          </a:graphicData>
        </a:graphic>
      </p:graphicFrame>
      <p:sp>
        <p:nvSpPr>
          <p:cNvPr id="3" name="">
            <a:extLst xmlns:a="http://schemas.openxmlformats.org/drawingml/2006/main">
              <a:ext uri="{FF2B5EF4-FFF2-40B4-BE49-F238E27FC236}">
                <a16:creationId xmlns:a16="http://schemas.microsoft.com/office/drawing/2014/main" id="{BFE47772-E54A-4FE1-9E32-D9E115287C39}"/>
              </a:ext>
            </a:extLst>
          </p:cNvPr>
          <p:cNvSpPr>
            <a:spLocks xmlns:a="http://schemas.openxmlformats.org/drawingml/2006/main" noGrp="1"/>
          </p:cNvSpPr>
          <p:nvPr/>
        </p:nvSpPr>
        <p:spPr>
          <a:xfrm xmlns:a="http://schemas.openxmlformats.org/drawingml/2006/main">
            <a:off x="8305800" y="1914525"/>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D8F77B"/>
                </a:solidFill>
                <a:latin typeface="Arial"/>
                <a:ea typeface="Arial"/>
                <a:cs typeface="Arial"/>
              </a:defRPr>
            </a:pPr>
            <a:r>
              <a:rPr sz="4950" b="1">
                <a:solidFill>
                  <a:srgbClr val="D8F77B"/>
                </a:solidFill>
                <a:latin typeface="Arial"/>
                <a:ea typeface="Arial"/>
                <a:cs typeface="Arial"/>
              </a:rPr>
              <a:t>56,3%</a:t>
            </a:r>
          </a:p>
        </p:txBody>
      </p:sp>
      <p:sp>
        <p:nvSpPr>
          <p:cNvPr id="4" name="">
            <a:extLst xmlns:a="http://schemas.openxmlformats.org/drawingml/2006/main">
              <a:ext uri="{FF2B5EF4-FFF2-40B4-BE49-F238E27FC236}">
                <a16:creationId xmlns:a16="http://schemas.microsoft.com/office/drawing/2014/main" id="{45EF13B4-568B-401B-A07F-3F0737FE8095}"/>
              </a:ext>
            </a:extLst>
          </p:cNvPr>
          <p:cNvSpPr>
            <a:spLocks xmlns:a="http://schemas.openxmlformats.org/drawingml/2006/main" noGrp="1"/>
          </p:cNvSpPr>
          <p:nvPr/>
        </p:nvSpPr>
        <p:spPr>
          <a:xfrm xmlns:a="http://schemas.openxmlformats.org/drawingml/2006/main">
            <a:off x="8362950" y="2828925"/>
            <a:ext cx="31527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7DFD6"/>
                </a:solidFill>
                <a:latin typeface="Arial"/>
                <a:ea typeface="Arial"/>
                <a:cs typeface="Arial"/>
              </a:defRPr>
            </a:pPr>
            <a:r>
              <a:rPr sz="2100" b="0">
                <a:solidFill>
                  <a:srgbClr val="D7DFD6"/>
                </a:solidFill>
                <a:latin typeface="Arial"/>
                <a:ea typeface="Arial"/>
                <a:cs typeface="Arial"/>
              </a:rPr>
              <a:t>точность заявок</a:t>
            </a:r>
          </a:p>
        </p:txBody>
      </p:sp>
      <p:sp>
        <p:nvSpPr>
          <p:cNvPr id="5" name="">
            <a:extLst xmlns:a="http://schemas.openxmlformats.org/drawingml/2006/main">
              <a:ext uri="{FF2B5EF4-FFF2-40B4-BE49-F238E27FC236}">
                <a16:creationId xmlns:a16="http://schemas.microsoft.com/office/drawing/2014/main" id="{CB8EBE80-54F8-4585-A12B-DB4259734123}"/>
              </a:ext>
            </a:extLst>
          </p:cNvPr>
          <p:cNvSpPr>
            <a:spLocks xmlns:a="http://schemas.openxmlformats.org/drawingml/2006/main" noGrp="1"/>
          </p:cNvSpPr>
          <p:nvPr/>
        </p:nvSpPr>
        <p:spPr>
          <a:xfrm xmlns:a="http://schemas.openxmlformats.org/drawingml/2006/main">
            <a:off x="8305800" y="3924300"/>
            <a:ext cx="3238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3F1E9"/>
                </a:solidFill>
                <a:latin typeface="Arial"/>
                <a:ea typeface="Arial"/>
                <a:cs typeface="Arial"/>
              </a:defRPr>
            </a:pPr>
            <a:r>
              <a:rPr sz="4950" b="1">
                <a:solidFill>
                  <a:srgbClr val="F3F1E9"/>
                </a:solidFill>
                <a:latin typeface="Arial"/>
                <a:ea typeface="Arial"/>
                <a:cs typeface="Arial"/>
              </a:rPr>
              <a:t>40,9%</a:t>
            </a:r>
          </a:p>
        </p:txBody>
      </p:sp>
      <p:sp>
        <p:nvSpPr>
          <p:cNvPr id="6" name="">
            <a:extLst xmlns:a="http://schemas.openxmlformats.org/drawingml/2006/main">
              <a:ext uri="{FF2B5EF4-FFF2-40B4-BE49-F238E27FC236}">
                <a16:creationId xmlns:a16="http://schemas.microsoft.com/office/drawing/2014/main" id="{2DF14FA9-9A2A-40A3-B466-0701D7D4DE46}"/>
              </a:ext>
            </a:extLst>
          </p:cNvPr>
          <p:cNvSpPr>
            <a:spLocks xmlns:a="http://schemas.openxmlformats.org/drawingml/2006/main" noGrp="1"/>
          </p:cNvSpPr>
          <p:nvPr/>
        </p:nvSpPr>
        <p:spPr>
          <a:xfrm xmlns:a="http://schemas.openxmlformats.org/drawingml/2006/main">
            <a:off x="8362950" y="4857750"/>
            <a:ext cx="31527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7DFD6"/>
                </a:solidFill>
                <a:latin typeface="Arial"/>
                <a:ea typeface="Arial"/>
                <a:cs typeface="Arial"/>
              </a:defRPr>
            </a:pPr>
            <a:r>
              <a:rPr sz="2100" b="0">
                <a:solidFill>
                  <a:srgbClr val="D7DFD6"/>
                </a:solidFill>
                <a:latin typeface="Arial"/>
                <a:ea typeface="Arial"/>
                <a:cs typeface="Arial"/>
              </a:rPr>
              <a:t>полнота по инцидентам</a:t>
            </a:r>
          </a:p>
        </p:txBody>
      </p:sp>
      <p:sp>
        <p:nvSpPr>
          <p:cNvPr id="7" name="">
            <a:extLst xmlns:a="http://schemas.openxmlformats.org/drawingml/2006/main">
              <a:ext uri="{FF2B5EF4-FFF2-40B4-BE49-F238E27FC236}">
                <a16:creationId xmlns:a16="http://schemas.microsoft.com/office/drawing/2014/main" id="{137177D3-BC90-44B4-9A0F-F01DF978FEA0}"/>
              </a:ext>
            </a:extLst>
          </p:cNvPr>
          <p:cNvSpPr>
            <a:spLocks xmlns:a="http://schemas.openxmlformats.org/drawingml/2006/main" noGrp="1"/>
          </p:cNvSpPr>
          <p:nvPr/>
        </p:nvSpPr>
        <p:spPr>
          <a:xfrm xmlns:a="http://schemas.openxmlformats.org/drawingml/2006/main">
            <a:off x="609600" y="6305550"/>
            <a:ext cx="10648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2958A"/>
                </a:solidFill>
                <a:latin typeface="Arial"/>
                <a:ea typeface="Arial"/>
                <a:cs typeface="Arial"/>
              </a:defRPr>
            </a:pPr>
            <a:r>
              <a:rPr sz="1200" b="0">
                <a:solidFill>
                  <a:srgbClr val="82958A"/>
                </a:solidFill>
                <a:latin typeface="Arial"/>
                <a:ea typeface="Arial"/>
                <a:cs typeface="Arial"/>
              </a:rPr>
              <a:t>9 верных, 7 ложных, 13 пропущенных. 22 инцидента. Медианное упреждение 7,4 дня.</a:t>
            </a:r>
          </a:p>
        </p:txBody>
      </p:sp>
      <p:sp>
        <p:nvSpPr>
          <p:cNvPr id="8" name="">
            <a:extLst xmlns:a="http://schemas.openxmlformats.org/drawingml/2006/main">
              <a:ext uri="{FF2B5EF4-FFF2-40B4-BE49-F238E27FC236}">
                <a16:creationId xmlns:a16="http://schemas.microsoft.com/office/drawing/2014/main" id="{D5EB9667-5118-4B19-8979-16A0DD71E1BA}"/>
              </a:ext>
            </a:extLst>
          </p:cNvPr>
          <p:cNvSpPr>
            <a:spLocks xmlns:a="http://schemas.openxmlformats.org/drawingml/2006/main" noGrp="1"/>
          </p:cNvSpPr>
          <p:nvPr/>
        </p:nvSpPr>
        <p:spPr>
          <a:xfrm xmlns:a="http://schemas.openxmlformats.org/drawingml/2006/main">
            <a:off x="11334750" y="63150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2958A"/>
                </a:solidFill>
                <a:latin typeface="Arial"/>
                <a:ea typeface="Arial"/>
                <a:cs typeface="Arial"/>
              </a:defRPr>
            </a:pPr>
            <a:r>
              <a:rPr sz="1275" b="0">
                <a:solidFill>
                  <a:srgbClr val="82958A"/>
                </a:solidFill>
                <a:latin typeface="Arial"/>
                <a:ea typeface="Arial"/>
                <a:cs typeface="Arial"/>
              </a:rPr>
              <a:t>09</a:t>
            </a:r>
          </a:p>
        </p:txBody>
      </p:sp>
    </p:spTree>
    <p:extLst>
      <p:ext uri="{BB962C8B-B14F-4D97-AF65-F5344CB8AC3E}">
        <p14:creationId xmlns:p14="http://schemas.microsoft.com/office/powerpoint/2010/main" val="1261270232"/>
      </p:ext>
    </p:extLst>
  </p:cSld>
</p:sld>
</file>

<file path=ppt/slides/slide10.xml><?xml version="1.0" encoding="utf-8"?>
<p:sld xmlns:p="http://schemas.openxmlformats.org/presentationml/2006/main">
  <p:cSld>
    <p:bg>
      <p:bgPr>
        <a:solidFill xmlns:a="http://schemas.openxmlformats.org/drawingml/2006/main">
          <a:srgbClr val="F3F1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7032D8-D62E-4FCE-A165-86D80FB30C9A}"/>
              </a:ext>
            </a:extLst>
          </p:cNvPr>
          <p:cNvSpPr>
            <a:spLocks xmlns:a="http://schemas.openxmlformats.org/drawingml/2006/main" noGrp="1"/>
          </p:cNvSpPr>
          <p:nvPr/>
        </p:nvSpPr>
        <p:spPr>
          <a:xfrm xmlns:a="http://schemas.openxmlformats.org/drawingml/2006/main">
            <a:off x="609600" y="4000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3C30"/>
                </a:solidFill>
                <a:latin typeface="Arial"/>
                <a:ea typeface="Arial"/>
                <a:cs typeface="Arial"/>
              </a:defRPr>
            </a:pPr>
            <a:r>
              <a:rPr sz="3600" b="1">
                <a:solidFill>
                  <a:srgbClr val="183C30"/>
                </a:solidFill>
                <a:latin typeface="Arial"/>
                <a:ea typeface="Arial"/>
                <a:cs typeface="Arial"/>
              </a:rPr>
              <a:t>Прогноз заканчивается</a:t>
            </a:r>
          </a:p>
          <a:p xmlns:a="http://schemas.openxmlformats.org/drawingml/2006/main">
            <a:pPr>
              <a:defRPr sz="3600" b="1">
                <a:solidFill>
                  <a:srgbClr val="183C30"/>
                </a:solidFill>
                <a:latin typeface="Arial"/>
                <a:ea typeface="Arial"/>
                <a:cs typeface="Arial"/>
              </a:defRPr>
            </a:pPr>
            <a:r>
              <a:rPr sz="3600" b="1">
                <a:solidFill>
                  <a:srgbClr val="183C30"/>
                </a:solidFill>
                <a:latin typeface="Arial"/>
                <a:ea typeface="Arial"/>
                <a:cs typeface="Arial"/>
              </a:rPr>
              <a:t>решением диспетчера</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fd3b971986d481b"/>
          <a:stretch xmlns:a="http://schemas.openxmlformats.org/drawingml/2006/main"/>
        </p:blipFill>
        <p:spPr>
          <a:xfrm xmlns:a="http://schemas.openxmlformats.org/drawingml/2006/main">
            <a:off x="738086" y="1790700"/>
            <a:ext cx="2029028" cy="43910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32385C5-3604-48FF-AB06-31FCC7B299E3}"/>
              </a:ext>
            </a:extLst>
          </p:cNvPr>
          <p:cNvSpPr>
            <a:spLocks xmlns:a="http://schemas.openxmlformats.org/drawingml/2006/main" noGrp="1"/>
          </p:cNvSpPr>
          <p:nvPr/>
        </p:nvSpPr>
        <p:spPr>
          <a:xfrm xmlns:a="http://schemas.openxmlformats.org/drawingml/2006/main">
            <a:off x="3762375" y="1952625"/>
            <a:ext cx="76295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83C30"/>
                </a:solidFill>
                <a:latin typeface="Arial"/>
                <a:ea typeface="Arial"/>
                <a:cs typeface="Arial"/>
              </a:defRPr>
            </a:pPr>
            <a:r>
              <a:rPr sz="2850" b="1">
                <a:solidFill>
                  <a:srgbClr val="183C30"/>
                </a:solidFill>
                <a:latin typeface="Arial"/>
                <a:ea typeface="Arial"/>
                <a:cs typeface="Arial"/>
              </a:rPr>
              <a:t>Проверка имеет владельца</a:t>
            </a:r>
          </a:p>
        </p:txBody>
      </p:sp>
      <p:sp>
        <p:nvSpPr>
          <p:cNvPr id="4" name="">
            <a:extLst xmlns:a="http://schemas.openxmlformats.org/drawingml/2006/main">
              <a:ext uri="{FF2B5EF4-FFF2-40B4-BE49-F238E27FC236}">
                <a16:creationId xmlns:a16="http://schemas.microsoft.com/office/drawing/2014/main" id="{B512AB7B-E9A7-47BE-B13B-F61BDBF39110}"/>
              </a:ext>
            </a:extLst>
          </p:cNvPr>
          <p:cNvSpPr>
            <a:spLocks xmlns:a="http://schemas.openxmlformats.org/drawingml/2006/main" noGrp="1"/>
          </p:cNvSpPr>
          <p:nvPr/>
        </p:nvSpPr>
        <p:spPr>
          <a:xfrm xmlns:a="http://schemas.openxmlformats.org/drawingml/2006/main">
            <a:off x="3810000" y="2867025"/>
            <a:ext cx="7381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65766B"/>
                </a:solidFill>
                <a:latin typeface="Arial"/>
                <a:ea typeface="Arial"/>
                <a:cs typeface="Arial"/>
              </a:defRPr>
            </a:pPr>
            <a:r>
              <a:rPr sz="2325" b="0">
                <a:solidFill>
                  <a:srgbClr val="65766B"/>
                </a:solidFill>
                <a:latin typeface="Arial"/>
                <a:ea typeface="Arial"/>
                <a:cs typeface="Arial"/>
              </a:rPr>
              <a:t>Сотрудник подтверждает заявку,</a:t>
            </a:r>
          </a:p>
          <a:p xmlns:a="http://schemas.openxmlformats.org/drawingml/2006/main">
            <a:pPr>
              <a:defRPr sz="2325" b="0">
                <a:solidFill>
                  <a:srgbClr val="65766B"/>
                </a:solidFill>
                <a:latin typeface="Arial"/>
                <a:ea typeface="Arial"/>
                <a:cs typeface="Arial"/>
              </a:defRPr>
            </a:pPr>
            <a:r>
              <a:rPr sz="2325" b="0">
                <a:solidFill>
                  <a:srgbClr val="65766B"/>
                </a:solidFill>
                <a:latin typeface="Arial"/>
                <a:ea typeface="Arial"/>
                <a:cs typeface="Arial"/>
              </a:rPr>
              <a:t>видит основания и фиксирует результат.</a:t>
            </a:r>
          </a:p>
        </p:txBody>
      </p:sp>
      <p:sp>
        <p:nvSpPr>
          <p:cNvPr id="5" name="">
            <a:extLst xmlns:a="http://schemas.openxmlformats.org/drawingml/2006/main">
              <a:ext uri="{FF2B5EF4-FFF2-40B4-BE49-F238E27FC236}">
                <a16:creationId xmlns:a16="http://schemas.microsoft.com/office/drawing/2014/main" id="{698FACB5-CF59-43F2-A65C-424F85E4B3B7}"/>
              </a:ext>
            </a:extLst>
          </p:cNvPr>
          <p:cNvSpPr>
            <a:spLocks xmlns:a="http://schemas.openxmlformats.org/drawingml/2006/main" noGrp="1"/>
          </p:cNvSpPr>
          <p:nvPr/>
        </p:nvSpPr>
        <p:spPr>
          <a:xfrm xmlns:a="http://schemas.openxmlformats.org/drawingml/2006/main">
            <a:off x="3762375" y="4438650"/>
            <a:ext cx="76866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83C30"/>
                </a:solidFill>
                <a:latin typeface="Arial"/>
                <a:ea typeface="Arial"/>
                <a:cs typeface="Arial"/>
              </a:defRPr>
            </a:pPr>
            <a:r>
              <a:rPr sz="2625" b="1">
                <a:solidFill>
                  <a:srgbClr val="183C30"/>
                </a:solidFill>
                <a:latin typeface="Arial"/>
                <a:ea typeface="Arial"/>
                <a:cs typeface="Arial"/>
              </a:rPr>
              <a:t>Результат осмотра станет новой меткой</a:t>
            </a:r>
          </a:p>
        </p:txBody>
      </p:sp>
      <p:sp>
        <p:nvSpPr>
          <p:cNvPr id="6" name="">
            <a:extLst xmlns:a="http://schemas.openxmlformats.org/drawingml/2006/main">
              <a:ext uri="{FF2B5EF4-FFF2-40B4-BE49-F238E27FC236}">
                <a16:creationId xmlns:a16="http://schemas.microsoft.com/office/drawing/2014/main" id="{ED75F82B-BAC3-4B68-A127-8C7A768C6C3D}"/>
              </a:ext>
            </a:extLst>
          </p:cNvPr>
          <p:cNvSpPr>
            <a:spLocks xmlns:a="http://schemas.openxmlformats.org/drawingml/2006/main" noGrp="1"/>
          </p:cNvSpPr>
          <p:nvPr/>
        </p:nvSpPr>
        <p:spPr>
          <a:xfrm xmlns:a="http://schemas.openxmlformats.org/drawingml/2006/main">
            <a:off x="3810000" y="5486400"/>
            <a:ext cx="75342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5766B"/>
                </a:solidFill>
                <a:latin typeface="Arial"/>
                <a:ea typeface="Arial"/>
                <a:cs typeface="Arial"/>
              </a:defRPr>
            </a:pPr>
            <a:r>
              <a:rPr sz="2025" b="0">
                <a:solidFill>
                  <a:srgbClr val="65766B"/>
                </a:solidFill>
                <a:latin typeface="Arial"/>
                <a:ea typeface="Arial"/>
                <a:cs typeface="Arial"/>
              </a:rPr>
              <a:t>Связь с журналом ремонта входит в план пилота.</a:t>
            </a:r>
          </a:p>
        </p:txBody>
      </p:sp>
      <p:sp>
        <p:nvSpPr>
          <p:cNvPr id="7" name="">
            <a:extLst xmlns:a="http://schemas.openxmlformats.org/drawingml/2006/main">
              <a:ext uri="{FF2B5EF4-FFF2-40B4-BE49-F238E27FC236}">
                <a16:creationId xmlns:a16="http://schemas.microsoft.com/office/drawing/2014/main" id="{6D188BD5-691C-4009-A715-9AD7B39711CE}"/>
              </a:ext>
            </a:extLst>
          </p:cNvPr>
          <p:cNvSpPr>
            <a:spLocks xmlns:a="http://schemas.openxmlformats.org/drawingml/2006/main" noGrp="1"/>
          </p:cNvSpPr>
          <p:nvPr/>
        </p:nvSpPr>
        <p:spPr>
          <a:xfrm xmlns:a="http://schemas.openxmlformats.org/drawingml/2006/main">
            <a:off x="609600" y="6305550"/>
            <a:ext cx="10648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766B"/>
                </a:solidFill>
                <a:latin typeface="Arial"/>
                <a:ea typeface="Arial"/>
                <a:cs typeface="Arial"/>
              </a:defRPr>
            </a:pPr>
            <a:r>
              <a:rPr sz="1200" b="0">
                <a:solidFill>
                  <a:srgbClr val="65766B"/>
                </a:solidFill>
                <a:latin typeface="Arial"/>
                <a:ea typeface="Arial"/>
                <a:cs typeface="Arial"/>
              </a:rPr>
              <a:t>Архивный срез 29.03.2026. Решения хранятся в браузере. Заявки не означают состоявшийся выезд.</a:t>
            </a:r>
          </a:p>
        </p:txBody>
      </p:sp>
      <p:sp>
        <p:nvSpPr>
          <p:cNvPr id="8" name="">
            <a:extLst xmlns:a="http://schemas.openxmlformats.org/drawingml/2006/main">
              <a:ext uri="{FF2B5EF4-FFF2-40B4-BE49-F238E27FC236}">
                <a16:creationId xmlns:a16="http://schemas.microsoft.com/office/drawing/2014/main" id="{1A43A9E6-0B91-47C6-878C-2CEA38F652AC}"/>
              </a:ext>
            </a:extLst>
          </p:cNvPr>
          <p:cNvSpPr>
            <a:spLocks xmlns:a="http://schemas.openxmlformats.org/drawingml/2006/main" noGrp="1"/>
          </p:cNvSpPr>
          <p:nvPr/>
        </p:nvSpPr>
        <p:spPr>
          <a:xfrm xmlns:a="http://schemas.openxmlformats.org/drawingml/2006/main">
            <a:off x="11334750" y="63150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5766B"/>
                </a:solidFill>
                <a:latin typeface="Arial"/>
                <a:ea typeface="Arial"/>
                <a:cs typeface="Arial"/>
              </a:defRPr>
            </a:pPr>
            <a:r>
              <a:rPr sz="1275" b="0">
                <a:solidFill>
                  <a:srgbClr val="65766B"/>
                </a:solidFill>
                <a:latin typeface="Arial"/>
                <a:ea typeface="Arial"/>
                <a:cs typeface="Arial"/>
              </a:rPr>
              <a:t>10</a:t>
            </a:r>
          </a:p>
        </p:txBody>
      </p:sp>
    </p:spTree>
    <p:extLst>
      <p:ext uri="{BB962C8B-B14F-4D97-AF65-F5344CB8AC3E}">
        <p14:creationId xmlns:p14="http://schemas.microsoft.com/office/powerpoint/2010/main" val="1498978151"/>
      </p:ext>
    </p:extLst>
  </p:cSld>
</p:sld>
</file>

<file path=ppt/slides/slide11.xml><?xml version="1.0" encoding="utf-8"?>
<p:sld xmlns:p="http://schemas.openxmlformats.org/presentationml/2006/main">
  <p:cSld>
    <p:bg>
      <p:bgPr>
        <a:solidFill xmlns:a="http://schemas.openxmlformats.org/drawingml/2006/main">
          <a:srgbClr val="0D201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CA5F68B-BCA4-462D-B7A1-C88EEA8EAD9A}"/>
              </a:ext>
            </a:extLst>
          </p:cNvPr>
          <p:cNvSpPr>
            <a:spLocks xmlns:a="http://schemas.openxmlformats.org/drawingml/2006/main" noGrp="1"/>
          </p:cNvSpPr>
          <p:nvPr/>
        </p:nvSpPr>
        <p:spPr>
          <a:xfrm xmlns:a="http://schemas.openxmlformats.org/drawingml/2006/main">
            <a:off x="609600" y="4000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Пилот, который проверит пользу</a:t>
            </a:r>
          </a:p>
        </p:txBody>
      </p:sp>
      <p:sp>
        <p:nvSpPr>
          <p:cNvPr id="2" name="">
            <a:extLst xmlns:a="http://schemas.openxmlformats.org/drawingml/2006/main">
              <a:ext uri="{FF2B5EF4-FFF2-40B4-BE49-F238E27FC236}">
                <a16:creationId xmlns:a16="http://schemas.microsoft.com/office/drawing/2014/main" id="{EDEE65F3-80BE-461B-84C3-ABFE5711C33A}"/>
              </a:ext>
            </a:extLst>
          </p:cNvPr>
          <p:cNvSpPr>
            <a:spLocks xmlns:a="http://schemas.openxmlformats.org/drawingml/2006/main" noGrp="1"/>
          </p:cNvSpPr>
          <p:nvPr/>
        </p:nvSpPr>
        <p:spPr>
          <a:xfrm xmlns:a="http://schemas.openxmlformats.org/drawingml/2006/main">
            <a:off x="619125" y="1933575"/>
            <a:ext cx="10191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D8F77B"/>
                </a:solidFill>
                <a:latin typeface="Arial"/>
                <a:ea typeface="Arial"/>
                <a:cs typeface="Arial"/>
              </a:defRPr>
            </a:pPr>
            <a:r>
              <a:rPr sz="3525" b="1">
                <a:solidFill>
                  <a:srgbClr val="D8F77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9596F75C-1E53-41E6-814F-0D5C1DACE556}"/>
              </a:ext>
            </a:extLst>
          </p:cNvPr>
          <p:cNvSpPr>
            <a:spLocks xmlns:a="http://schemas.openxmlformats.org/drawingml/2006/main" noGrp="1"/>
          </p:cNvSpPr>
          <p:nvPr/>
        </p:nvSpPr>
        <p:spPr>
          <a:xfrm xmlns:a="http://schemas.openxmlformats.org/drawingml/2006/main">
            <a:off x="2133600" y="1905000"/>
            <a:ext cx="9239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3F1E9"/>
                </a:solidFill>
                <a:latin typeface="Arial"/>
                <a:ea typeface="Arial"/>
                <a:cs typeface="Arial"/>
              </a:defRPr>
            </a:pPr>
            <a:r>
              <a:rPr sz="2700" b="1">
                <a:solidFill>
                  <a:srgbClr val="F3F1E9"/>
                </a:solidFill>
                <a:latin typeface="Arial"/>
                <a:ea typeface="Arial"/>
                <a:cs typeface="Arial"/>
              </a:rPr>
              <a:t>Теневой режим / 2 недели</a:t>
            </a:r>
          </a:p>
        </p:txBody>
      </p:sp>
      <p:sp>
        <p:nvSpPr>
          <p:cNvPr id="4" name="">
            <a:extLst xmlns:a="http://schemas.openxmlformats.org/drawingml/2006/main">
              <a:ext uri="{FF2B5EF4-FFF2-40B4-BE49-F238E27FC236}">
                <a16:creationId xmlns:a16="http://schemas.microsoft.com/office/drawing/2014/main" id="{147EE5BC-8B29-47DC-A67B-508484FF3099}"/>
              </a:ext>
            </a:extLst>
          </p:cNvPr>
          <p:cNvSpPr>
            <a:spLocks xmlns:a="http://schemas.openxmlformats.org/drawingml/2006/main" noGrp="1"/>
          </p:cNvSpPr>
          <p:nvPr/>
        </p:nvSpPr>
        <p:spPr>
          <a:xfrm xmlns:a="http://schemas.openxmlformats.org/drawingml/2006/main">
            <a:off x="2162175" y="2657475"/>
            <a:ext cx="9239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7DFD6"/>
                </a:solidFill>
                <a:latin typeface="Arial"/>
                <a:ea typeface="Arial"/>
                <a:cs typeface="Arial"/>
              </a:defRPr>
            </a:pPr>
            <a:r>
              <a:rPr sz="2100" b="0">
                <a:solidFill>
                  <a:srgbClr val="D7DFD6"/>
                </a:solidFill>
                <a:latin typeface="Arial"/>
                <a:ea typeface="Arial"/>
                <a:cs typeface="Arial"/>
              </a:rPr>
              <a:t>Сопоставляем очередь с действиями смены.</a:t>
            </a:r>
          </a:p>
          <a:p xmlns:a="http://schemas.openxmlformats.org/drawingml/2006/main">
            <a:pPr>
              <a:defRPr sz="2100" b="0">
                <a:solidFill>
                  <a:srgbClr val="D7DFD6"/>
                </a:solidFill>
                <a:latin typeface="Arial"/>
                <a:ea typeface="Arial"/>
                <a:cs typeface="Arial"/>
              </a:defRPr>
            </a:pPr>
            <a:r>
              <a:rPr sz="2100" b="0">
                <a:solidFill>
                  <a:srgbClr val="D7DFD6"/>
                </a:solidFill>
                <a:latin typeface="Arial"/>
                <a:ea typeface="Arial"/>
                <a:cs typeface="Arial"/>
              </a:rPr>
              <a:t>Собираем подтверждённые причины и результаты осмотров.</a:t>
            </a:r>
          </a:p>
        </p:txBody>
      </p:sp>
      <p:sp>
        <p:nvSpPr>
          <p:cNvPr id="5" name="">
            <a:extLst xmlns:a="http://schemas.openxmlformats.org/drawingml/2006/main">
              <a:ext uri="{FF2B5EF4-FFF2-40B4-BE49-F238E27FC236}">
                <a16:creationId xmlns:a16="http://schemas.microsoft.com/office/drawing/2014/main" id="{1DF757CD-88ED-4267-BF9B-14317EBA303F}"/>
              </a:ext>
            </a:extLst>
          </p:cNvPr>
          <p:cNvSpPr>
            <a:spLocks xmlns:a="http://schemas.openxmlformats.org/drawingml/2006/main" noGrp="1"/>
          </p:cNvSpPr>
          <p:nvPr/>
        </p:nvSpPr>
        <p:spPr>
          <a:xfrm xmlns:a="http://schemas.openxmlformats.org/drawingml/2006/main">
            <a:off x="619125" y="4191000"/>
            <a:ext cx="10191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D8F77B"/>
                </a:solidFill>
                <a:latin typeface="Arial"/>
                <a:ea typeface="Arial"/>
                <a:cs typeface="Arial"/>
              </a:defRPr>
            </a:pPr>
            <a:r>
              <a:rPr sz="3525" b="1">
                <a:solidFill>
                  <a:srgbClr val="D8F77B"/>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793ADEC1-FD91-4090-8BA5-3C74575AEFE3}"/>
              </a:ext>
            </a:extLst>
          </p:cNvPr>
          <p:cNvSpPr>
            <a:spLocks xmlns:a="http://schemas.openxmlformats.org/drawingml/2006/main" noGrp="1"/>
          </p:cNvSpPr>
          <p:nvPr/>
        </p:nvSpPr>
        <p:spPr>
          <a:xfrm xmlns:a="http://schemas.openxmlformats.org/drawingml/2006/main">
            <a:off x="2133600" y="4143375"/>
            <a:ext cx="931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F3F1E9"/>
                </a:solidFill>
                <a:latin typeface="Arial"/>
                <a:ea typeface="Arial"/>
                <a:cs typeface="Arial"/>
              </a:defRPr>
            </a:pPr>
            <a:r>
              <a:rPr sz="2625" b="1">
                <a:solidFill>
                  <a:srgbClr val="F3F1E9"/>
                </a:solidFill>
                <a:latin typeface="Arial"/>
                <a:ea typeface="Arial"/>
                <a:cs typeface="Arial"/>
              </a:rPr>
              <a:t>Проверки под контролем диспетчера</a:t>
            </a:r>
          </a:p>
        </p:txBody>
      </p:sp>
      <p:sp>
        <p:nvSpPr>
          <p:cNvPr id="7" name="">
            <a:extLst xmlns:a="http://schemas.openxmlformats.org/drawingml/2006/main">
              <a:ext uri="{FF2B5EF4-FFF2-40B4-BE49-F238E27FC236}">
                <a16:creationId xmlns:a16="http://schemas.microsoft.com/office/drawing/2014/main" id="{C95C20BE-2D8C-47BF-B688-38928C0B41E4}"/>
              </a:ext>
            </a:extLst>
          </p:cNvPr>
          <p:cNvSpPr>
            <a:spLocks xmlns:a="http://schemas.openxmlformats.org/drawingml/2006/main" noGrp="1"/>
          </p:cNvSpPr>
          <p:nvPr/>
        </p:nvSpPr>
        <p:spPr>
          <a:xfrm xmlns:a="http://schemas.openxmlformats.org/drawingml/2006/main">
            <a:off x="2162175" y="4962525"/>
            <a:ext cx="92011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7DFD6"/>
                </a:solidFill>
                <a:latin typeface="Arial"/>
                <a:ea typeface="Arial"/>
                <a:cs typeface="Arial"/>
              </a:defRPr>
            </a:pPr>
            <a:r>
              <a:rPr sz="2100" b="0">
                <a:solidFill>
                  <a:srgbClr val="D7DFD6"/>
                </a:solidFill>
                <a:latin typeface="Arial"/>
                <a:ea typeface="Arial"/>
                <a:cs typeface="Arial"/>
              </a:rPr>
              <a:t>Оцениваем найденные события, лишние выезды</a:t>
            </a:r>
          </a:p>
          <a:p xmlns:a="http://schemas.openxmlformats.org/drawingml/2006/main">
            <a:pPr>
              <a:defRPr sz="2100" b="0">
                <a:solidFill>
                  <a:srgbClr val="D7DFD6"/>
                </a:solidFill>
                <a:latin typeface="Arial"/>
                <a:ea typeface="Arial"/>
                <a:cs typeface="Arial"/>
              </a:defRPr>
            </a:pPr>
            <a:r>
              <a:rPr sz="2100" b="0">
                <a:solidFill>
                  <a:srgbClr val="D7DFD6"/>
                </a:solidFill>
                <a:latin typeface="Arial"/>
                <a:ea typeface="Arial"/>
                <a:cs typeface="Arial"/>
              </a:rPr>
              <a:t>и запас времени при согласованной нагрузке.</a:t>
            </a:r>
          </a:p>
        </p:txBody>
      </p:sp>
      <p:sp>
        <p:nvSpPr>
          <p:cNvPr id="8" name="">
            <a:extLst xmlns:a="http://schemas.openxmlformats.org/drawingml/2006/main">
              <a:ext uri="{FF2B5EF4-FFF2-40B4-BE49-F238E27FC236}">
                <a16:creationId xmlns:a16="http://schemas.microsoft.com/office/drawing/2014/main" id="{58314049-8FED-4FE3-8964-7F5A27A70A9A}"/>
              </a:ext>
            </a:extLst>
          </p:cNvPr>
          <p:cNvSpPr>
            <a:spLocks xmlns:a="http://schemas.openxmlformats.org/drawingml/2006/main" noGrp="1"/>
          </p:cNvSpPr>
          <p:nvPr/>
        </p:nvSpPr>
        <p:spPr>
          <a:xfrm xmlns:a="http://schemas.openxmlformats.org/drawingml/2006/main">
            <a:off x="609600" y="6305550"/>
            <a:ext cx="10648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2958A"/>
                </a:solidFill>
                <a:latin typeface="Arial"/>
                <a:ea typeface="Arial"/>
                <a:cs typeface="Arial"/>
              </a:defRPr>
            </a:pPr>
            <a:r>
              <a:rPr sz="1200" b="0">
                <a:solidFill>
                  <a:srgbClr val="82958A"/>
                </a:solidFill>
                <a:latin typeface="Arial"/>
                <a:ea typeface="Arial"/>
                <a:cs typeface="Arial"/>
              </a:rPr>
              <a:t>Предлагаемый срок пилота: 4 недели. Масштабирование после проверки на новом периоде.</a:t>
            </a:r>
          </a:p>
        </p:txBody>
      </p:sp>
      <p:sp>
        <p:nvSpPr>
          <p:cNvPr id="9" name="">
            <a:extLst xmlns:a="http://schemas.openxmlformats.org/drawingml/2006/main">
              <a:ext uri="{FF2B5EF4-FFF2-40B4-BE49-F238E27FC236}">
                <a16:creationId xmlns:a16="http://schemas.microsoft.com/office/drawing/2014/main" id="{9F36896E-55C0-4229-B274-15458276556C}"/>
              </a:ext>
            </a:extLst>
          </p:cNvPr>
          <p:cNvSpPr>
            <a:spLocks xmlns:a="http://schemas.openxmlformats.org/drawingml/2006/main" noGrp="1"/>
          </p:cNvSpPr>
          <p:nvPr/>
        </p:nvSpPr>
        <p:spPr>
          <a:xfrm xmlns:a="http://schemas.openxmlformats.org/drawingml/2006/main">
            <a:off x="11334750" y="63150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2958A"/>
                </a:solidFill>
                <a:latin typeface="Arial"/>
                <a:ea typeface="Arial"/>
                <a:cs typeface="Arial"/>
              </a:defRPr>
            </a:pPr>
            <a:r>
              <a:rPr sz="1275" b="0">
                <a:solidFill>
                  <a:srgbClr val="82958A"/>
                </a:solidFill>
                <a:latin typeface="Arial"/>
                <a:ea typeface="Arial"/>
                <a:cs typeface="Arial"/>
              </a:rPr>
              <a:t>11</a:t>
            </a:r>
          </a:p>
        </p:txBody>
      </p:sp>
    </p:spTree>
    <p:extLst>
      <p:ext uri="{BB962C8B-B14F-4D97-AF65-F5344CB8AC3E}">
        <p14:creationId xmlns:p14="http://schemas.microsoft.com/office/powerpoint/2010/main" val="224013374"/>
      </p:ext>
    </p:extLst>
  </p:cSld>
</p:sld>
</file>

<file path=ppt/slides/slide12.xml><?xml version="1.0" encoding="utf-8"?>
<p:sld xmlns:p="http://schemas.openxmlformats.org/presentationml/2006/main">
  <p:cSld>
    <p:bg>
      <p:bgPr>
        <a:solidFill xmlns:a="http://schemas.openxmlformats.org/drawingml/2006/main">
          <a:srgbClr val="0D201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238FF6-35E3-467B-A8CC-39D05E9AF75D}"/>
              </a:ext>
            </a:extLst>
          </p:cNvPr>
          <p:cNvSpPr>
            <a:spLocks xmlns:a="http://schemas.openxmlformats.org/drawingml/2006/main" noGrp="1"/>
          </p:cNvSpPr>
          <p:nvPr/>
        </p:nvSpPr>
        <p:spPr>
          <a:xfrm xmlns:a="http://schemas.openxmlformats.org/drawingml/2006/main">
            <a:off x="609600" y="676275"/>
            <a:ext cx="10287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325" b="1">
                <a:solidFill>
                  <a:srgbClr val="F3F1E9"/>
                </a:solidFill>
                <a:latin typeface="Arial"/>
                <a:ea typeface="Arial"/>
                <a:cs typeface="Arial"/>
              </a:defRPr>
            </a:pPr>
            <a:r>
              <a:rPr sz="8325" b="1">
                <a:solidFill>
                  <a:srgbClr val="F3F1E9"/>
                </a:solidFill>
                <a:latin typeface="Arial"/>
                <a:ea typeface="Arial"/>
                <a:cs typeface="Arial"/>
              </a:rPr>
              <a:t>ПИКЕТ</a:t>
            </a:r>
          </a:p>
        </p:txBody>
      </p:sp>
      <p:sp>
        <p:nvSpPr>
          <p:cNvPr id="2" name="">
            <a:extLst xmlns:a="http://schemas.openxmlformats.org/drawingml/2006/main">
              <a:ext uri="{FF2B5EF4-FFF2-40B4-BE49-F238E27FC236}">
                <a16:creationId xmlns:a16="http://schemas.microsoft.com/office/drawing/2014/main" id="{087014B5-6847-427A-9D4F-71B176CD923C}"/>
              </a:ext>
            </a:extLst>
          </p:cNvPr>
          <p:cNvSpPr>
            <a:spLocks xmlns:a="http://schemas.openxmlformats.org/drawingml/2006/main" noGrp="1"/>
          </p:cNvSpPr>
          <p:nvPr/>
        </p:nvSpPr>
        <p:spPr>
          <a:xfrm xmlns:a="http://schemas.openxmlformats.org/drawingml/2006/main">
            <a:off x="628650" y="2619375"/>
            <a:ext cx="105727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700" b="1">
                <a:solidFill>
                  <a:srgbClr val="D8F77B"/>
                </a:solidFill>
                <a:latin typeface="Arial"/>
                <a:ea typeface="Arial"/>
                <a:cs typeface="Arial"/>
              </a:defRPr>
            </a:pPr>
            <a:r>
              <a:rPr sz="8700" b="1">
                <a:solidFill>
                  <a:srgbClr val="D8F77B"/>
                </a:solidFill>
                <a:latin typeface="Arial"/>
                <a:ea typeface="Arial"/>
                <a:cs typeface="Arial"/>
              </a:rPr>
              <a:t>7,4 дня</a:t>
            </a:r>
          </a:p>
        </p:txBody>
      </p:sp>
      <p:sp>
        <p:nvSpPr>
          <p:cNvPr id="3" name="">
            <a:extLst xmlns:a="http://schemas.openxmlformats.org/drawingml/2006/main">
              <a:ext uri="{FF2B5EF4-FFF2-40B4-BE49-F238E27FC236}">
                <a16:creationId xmlns:a16="http://schemas.microsoft.com/office/drawing/2014/main" id="{11388B4E-C95C-4885-94F3-6FD71A203950}"/>
              </a:ext>
            </a:extLst>
          </p:cNvPr>
          <p:cNvSpPr>
            <a:spLocks xmlns:a="http://schemas.openxmlformats.org/drawingml/2006/main" noGrp="1"/>
          </p:cNvSpPr>
          <p:nvPr/>
        </p:nvSpPr>
        <p:spPr>
          <a:xfrm xmlns:a="http://schemas.openxmlformats.org/drawingml/2006/main">
            <a:off x="733425" y="4391025"/>
            <a:ext cx="106203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3F1E9"/>
                </a:solidFill>
                <a:latin typeface="Arial"/>
                <a:ea typeface="Arial"/>
                <a:cs typeface="Arial"/>
              </a:defRPr>
            </a:pPr>
            <a:r>
              <a:rPr sz="3225" b="1">
                <a:solidFill>
                  <a:srgbClr val="F3F1E9"/>
                </a:solidFill>
                <a:latin typeface="Arial"/>
                <a:ea typeface="Arial"/>
                <a:cs typeface="Arial"/>
              </a:rPr>
              <a:t>медианный запас времени</a:t>
            </a:r>
          </a:p>
          <a:p xmlns:a="http://schemas.openxmlformats.org/drawingml/2006/main">
            <a:pPr>
              <a:defRPr sz="3225" b="1">
                <a:solidFill>
                  <a:srgbClr val="F3F1E9"/>
                </a:solidFill>
                <a:latin typeface="Arial"/>
                <a:ea typeface="Arial"/>
                <a:cs typeface="Arial"/>
              </a:defRPr>
            </a:pPr>
            <a:r>
              <a:rPr sz="3225" b="1">
                <a:solidFill>
                  <a:srgbClr val="F3F1E9"/>
                </a:solidFill>
                <a:latin typeface="Arial"/>
                <a:ea typeface="Arial"/>
                <a:cs typeface="Arial"/>
              </a:rPr>
              <a:t>у верных предупреждений</a:t>
            </a:r>
          </a:p>
        </p:txBody>
      </p:sp>
      <p:sp>
        <p:nvSpPr>
          <p:cNvPr id="4" name="">
            <a:extLst xmlns:a="http://schemas.openxmlformats.org/drawingml/2006/main">
              <a:ext uri="{FF2B5EF4-FFF2-40B4-BE49-F238E27FC236}">
                <a16:creationId xmlns:a16="http://schemas.microsoft.com/office/drawing/2014/main" id="{11FFD614-DB61-4468-B83E-246669B43C15}"/>
              </a:ext>
            </a:extLst>
          </p:cNvPr>
          <p:cNvSpPr>
            <a:spLocks xmlns:a="http://schemas.openxmlformats.org/drawingml/2006/main" noGrp="1"/>
          </p:cNvSpPr>
          <p:nvPr/>
        </p:nvSpPr>
        <p:spPr>
          <a:xfrm xmlns:a="http://schemas.openxmlformats.org/drawingml/2006/main">
            <a:off x="742950" y="5905500"/>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F77B"/>
                </a:solidFill>
                <a:latin typeface="Arial"/>
                <a:ea typeface="Arial"/>
                <a:cs typeface="Arial"/>
              </a:defRPr>
            </a:pPr>
            <a:r>
              <a:rPr sz="2100" b="0">
                <a:solidFill>
                  <a:srgbClr val="D8F77B"/>
                </a:solidFill>
                <a:latin typeface="Arial"/>
                <a:ea typeface="Arial"/>
                <a:cs typeface="Arial"/>
              </a:rPr>
              <a:t>mshperling.github.io/piket-lct2026-demo</a:t>
            </a:r>
          </a:p>
        </p:txBody>
      </p:sp>
    </p:spTree>
    <p:extLst>
      <p:ext uri="{BB962C8B-B14F-4D97-AF65-F5344CB8AC3E}">
        <p14:creationId xmlns:p14="http://schemas.microsoft.com/office/powerpoint/2010/main" val="1468663046"/>
      </p:ext>
    </p:extLst>
  </p:cSld>
</p:sld>
</file>

<file path=ppt/slides/slide13.xml><?xml version="1.0" encoding="utf-8"?>
<p:sld xmlns:p="http://schemas.openxmlformats.org/presentationml/2006/main">
  <p:cSld>
    <p:bg>
      <p:bgPr>
        <a:solidFill xmlns:a="http://schemas.openxmlformats.org/drawingml/2006/main">
          <a:srgbClr val="0D201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BFE226F-8E36-486F-86F5-EDCB2F361F3B}"/>
              </a:ext>
            </a:extLst>
          </p:cNvPr>
          <p:cNvSpPr>
            <a:spLocks xmlns:a="http://schemas.openxmlformats.org/drawingml/2006/main" noGrp="1"/>
          </p:cNvSpPr>
          <p:nvPr/>
        </p:nvSpPr>
        <p:spPr>
          <a:xfrm xmlns:a="http://schemas.openxmlformats.org/drawingml/2006/main">
            <a:off x="609600" y="4000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Техническое приложение</a:t>
            </a:r>
          </a:p>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Как определён инцидент</a:t>
            </a:r>
          </a:p>
        </p:txBody>
      </p:sp>
      <p:graphicFrame>
        <p:nvGraphicFramePr>
          <p:cNvPr id="6" name=""/>
          <p:cNvGraphicFramePr/>
          <p:nvPr/>
        </p:nvGraphicFramePr>
        <p:xfrm>
          <a:off xmlns:a="http://schemas.openxmlformats.org/drawingml/2006/main" x="609600" y="1857375"/>
          <a:ext xmlns:a="http://schemas.openxmlformats.org/drawingml/2006/main" cx="10972800" cy="3695700"/>
        </p:xfrm>
        <a:graphic xmlns:a="http://schemas.openxmlformats.org/drawingml/2006/main">
          <a:graphicData uri="http://schemas.openxmlformats.org/drawingml/2006/table">
            <a:tbl>
              <a:tblPr/>
              <a:tblGrid>
                <a:gridCol w="3857625"/>
                <a:gridCol w="7115175"/>
              </a:tblGrid>
              <a:tr h="615950">
                <a:tc>
                  <a:txBody>
                    <a:bodyPr/>
                    <a:lstStyle/>
                    <a:p>
                      <a:r>
                        <a:rPr sz="1725" b="1">
                          <a:solidFill>
                            <a:srgbClr val="0D201B"/>
                          </a:solidFill>
                          <a:latin typeface="Arial"/>
                          <a:ea typeface="Arial"/>
                          <a:cs typeface="Arial"/>
                        </a:rPr>
                        <a:t>Правило</a:t>
                      </a:r>
                    </a:p>
                  </a:txBody>
                  <a:tcPr marL="133350" marR="133350" marT="95250" marB="95250">
                    <a:solidFill>
                      <a:srgbClr val="D8F77B"/>
                    </a:solidFill>
                  </a:tcPr>
                </a:tc>
                <a:tc>
                  <a:txBody>
                    <a:bodyPr/>
                    <a:lstStyle/>
                    <a:p>
                      <a:r>
                        <a:rPr sz="1725" b="1">
                          <a:solidFill>
                            <a:srgbClr val="0D201B"/>
                          </a:solidFill>
                          <a:latin typeface="Arial"/>
                          <a:ea typeface="Arial"/>
                          <a:cs typeface="Arial"/>
                        </a:rPr>
                        <a:t>Параметр</a:t>
                      </a:r>
                    </a:p>
                  </a:txBody>
                  <a:tcPr marL="133350" marR="133350" marT="95250" marB="95250">
                    <a:solidFill>
                      <a:srgbClr val="D8F77B"/>
                    </a:solidFill>
                  </a:tcPr>
                </a:tc>
              </a:tr>
              <a:tr h="615950">
                <a:tc>
                  <a:txBody>
                    <a:bodyPr/>
                    <a:lstStyle/>
                    <a:p>
                      <a:r>
                        <a:rPr sz="1725">
                          <a:solidFill>
                            <a:srgbClr val="F3F1E9"/>
                          </a:solidFill>
                          <a:latin typeface="Arial"/>
                          <a:ea typeface="Arial"/>
                          <a:cs typeface="Arial"/>
                        </a:rPr>
                        <a:t>Групповой всплеск</a:t>
                      </a:r>
                    </a:p>
                  </a:txBody>
                  <a:tcPr marL="133350" marR="133350" marT="95250" marB="95250">
                    <a:solidFill>
                      <a:srgbClr val="0D201B"/>
                    </a:solidFill>
                  </a:tcPr>
                </a:tc>
                <a:tc>
                  <a:txBody>
                    <a:bodyPr/>
                    <a:lstStyle/>
                    <a:p>
                      <a:r>
                        <a:rPr sz="1725">
                          <a:solidFill>
                            <a:srgbClr val="F3F1E9"/>
                          </a:solidFill>
                          <a:latin typeface="Arial"/>
                          <a:ea typeface="Arial"/>
                          <a:cs typeface="Arial"/>
                        </a:rPr>
                        <a:t>Не менее 3 каналов и не менее 10% группы</a:t>
                      </a:r>
                    </a:p>
                  </a:txBody>
                  <a:tcPr marL="133350" marR="133350" marT="95250" marB="95250">
                    <a:solidFill>
                      <a:srgbClr val="0D201B"/>
                    </a:solidFill>
                  </a:tcPr>
                </a:tc>
              </a:tr>
              <a:tr h="615950">
                <a:tc>
                  <a:txBody>
                    <a:bodyPr/>
                    <a:lstStyle/>
                    <a:p>
                      <a:r>
                        <a:rPr sz="1725">
                          <a:solidFill>
                            <a:srgbClr val="F3F1E9"/>
                          </a:solidFill>
                          <a:latin typeface="Arial"/>
                          <a:ea typeface="Arial"/>
                          <a:cs typeface="Arial"/>
                        </a:rPr>
                        <a:t>Синхронность</a:t>
                      </a:r>
                    </a:p>
                  </a:txBody>
                  <a:tcPr marL="133350" marR="133350" marT="95250" marB="95250">
                    <a:solidFill>
                      <a:srgbClr val="0D201B"/>
                    </a:solidFill>
                  </a:tcPr>
                </a:tc>
                <a:tc>
                  <a:txBody>
                    <a:bodyPr/>
                    <a:lstStyle/>
                    <a:p>
                      <a:r>
                        <a:rPr sz="1725">
                          <a:solidFill>
                            <a:srgbClr val="F3F1E9"/>
                          </a:solidFill>
                          <a:latin typeface="Arial"/>
                          <a:ea typeface="Arial"/>
                          <a:cs typeface="Arial"/>
                        </a:rPr>
                        <a:t>Скользящее окно 10 минут</a:t>
                      </a:r>
                    </a:p>
                  </a:txBody>
                  <a:tcPr marL="133350" marR="133350" marT="95250" marB="95250">
                    <a:solidFill>
                      <a:srgbClr val="0D201B"/>
                    </a:solidFill>
                  </a:tcPr>
                </a:tc>
              </a:tr>
              <a:tr h="615950">
                <a:tc>
                  <a:txBody>
                    <a:bodyPr/>
                    <a:lstStyle/>
                    <a:p>
                      <a:r>
                        <a:rPr sz="1725">
                          <a:solidFill>
                            <a:srgbClr val="F3F1E9"/>
                          </a:solidFill>
                          <a:latin typeface="Arial"/>
                          <a:ea typeface="Arial"/>
                          <a:cs typeface="Arial"/>
                        </a:rPr>
                        <a:t>Разделение серий</a:t>
                      </a:r>
                    </a:p>
                  </a:txBody>
                  <a:tcPr marL="133350" marR="133350" marT="95250" marB="95250">
                    <a:solidFill>
                      <a:srgbClr val="0D201B"/>
                    </a:solidFill>
                  </a:tcPr>
                </a:tc>
                <a:tc>
                  <a:txBody>
                    <a:bodyPr/>
                    <a:lstStyle/>
                    <a:p>
                      <a:r>
                        <a:rPr sz="1725">
                          <a:solidFill>
                            <a:srgbClr val="F3F1E9"/>
                          </a:solidFill>
                          <a:latin typeface="Arial"/>
                          <a:ea typeface="Arial"/>
                          <a:cs typeface="Arial"/>
                        </a:rPr>
                        <a:t>24 часа без квалифицирующего всплеска</a:t>
                      </a:r>
                    </a:p>
                  </a:txBody>
                  <a:tcPr marL="133350" marR="133350" marT="95250" marB="95250">
                    <a:solidFill>
                      <a:srgbClr val="0D201B"/>
                    </a:solidFill>
                  </a:tcPr>
                </a:tc>
              </a:tr>
              <a:tr h="615950">
                <a:tc>
                  <a:txBody>
                    <a:bodyPr/>
                    <a:lstStyle/>
                    <a:p>
                      <a:r>
                        <a:rPr sz="1725">
                          <a:solidFill>
                            <a:srgbClr val="F3F1E9"/>
                          </a:solidFill>
                          <a:latin typeface="Arial"/>
                          <a:ea typeface="Arial"/>
                          <a:cs typeface="Arial"/>
                        </a:rPr>
                        <a:t>Окно прогноза</a:t>
                      </a:r>
                    </a:p>
                  </a:txBody>
                  <a:tcPr marL="133350" marR="133350" marT="95250" marB="95250">
                    <a:solidFill>
                      <a:srgbClr val="0D201B"/>
                    </a:solidFill>
                  </a:tcPr>
                </a:tc>
                <a:tc>
                  <a:txBody>
                    <a:bodyPr/>
                    <a:lstStyle/>
                    <a:p>
                      <a:r>
                        <a:rPr sz="1725">
                          <a:solidFill>
                            <a:srgbClr val="F3F1E9"/>
                          </a:solidFill>
                          <a:latin typeface="Arial"/>
                          <a:ea typeface="Arial"/>
                          <a:cs typeface="Arial"/>
                        </a:rPr>
                        <a:t>D+2…D+15 при решении в конце дня D</a:t>
                      </a:r>
                    </a:p>
                  </a:txBody>
                  <a:tcPr marL="133350" marR="133350" marT="95250" marB="95250">
                    <a:solidFill>
                      <a:srgbClr val="0D201B"/>
                    </a:solidFill>
                  </a:tcPr>
                </a:tc>
              </a:tr>
              <a:tr h="615950">
                <a:tc>
                  <a:txBody>
                    <a:bodyPr/>
                    <a:lstStyle/>
                    <a:p>
                      <a:r>
                        <a:rPr sz="1725">
                          <a:solidFill>
                            <a:srgbClr val="F3F1E9"/>
                          </a:solidFill>
                          <a:latin typeface="Arial"/>
                          <a:ea typeface="Arial"/>
                          <a:cs typeface="Arial"/>
                        </a:rPr>
                        <a:t>Заявки</a:t>
                      </a:r>
                    </a:p>
                  </a:txBody>
                  <a:tcPr marL="133350" marR="133350" marT="95250" marB="95250">
                    <a:solidFill>
                      <a:srgbClr val="0D201B"/>
                    </a:solidFill>
                  </a:tcPr>
                </a:tc>
                <a:tc>
                  <a:txBody>
                    <a:bodyPr/>
                    <a:lstStyle/>
                    <a:p>
                      <a:r>
                        <a:rPr sz="1725">
                          <a:solidFill>
                            <a:srgbClr val="F3F1E9"/>
                          </a:solidFill>
                          <a:latin typeface="Arial"/>
                          <a:ea typeface="Arial"/>
                          <a:cs typeface="Arial"/>
                        </a:rPr>
                        <a:t>Одно предупреждение соответствует одному инциденту</a:t>
                      </a:r>
                    </a:p>
                  </a:txBody>
                  <a:tcPr marL="133350" marR="133350" marT="95250" marB="95250">
                    <a:solidFill>
                      <a:srgbClr val="0D201B"/>
                    </a:solidFill>
                  </a:tcPr>
                </a:tc>
              </a:tr>
            </a:tbl>
          </a:graphicData>
        </a:graphic>
      </p:graphicFrame>
      <p:sp>
        <p:nvSpPr>
          <p:cNvPr id="3" name="">
            <a:extLst xmlns:a="http://schemas.openxmlformats.org/drawingml/2006/main">
              <a:ext uri="{FF2B5EF4-FFF2-40B4-BE49-F238E27FC236}">
                <a16:creationId xmlns:a16="http://schemas.microsoft.com/office/drawing/2014/main" id="{D8970A10-56AF-4E20-B8DD-098654149E94}"/>
              </a:ext>
            </a:extLst>
          </p:cNvPr>
          <p:cNvSpPr>
            <a:spLocks xmlns:a="http://schemas.openxmlformats.org/drawingml/2006/main" noGrp="1"/>
          </p:cNvSpPr>
          <p:nvPr/>
        </p:nvSpPr>
        <p:spPr>
          <a:xfrm xmlns:a="http://schemas.openxmlformats.org/drawingml/2006/main">
            <a:off x="609600" y="6305550"/>
            <a:ext cx="10648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2958A"/>
                </a:solidFill>
                <a:latin typeface="Arial"/>
                <a:ea typeface="Arial"/>
                <a:cs typeface="Arial"/>
              </a:defRPr>
            </a:pPr>
            <a:r>
              <a:rPr sz="1200" b="0">
                <a:solidFill>
                  <a:srgbClr val="82958A"/>
                </a:solidFill>
                <a:latin typeface="Arial"/>
                <a:ea typeface="Arial"/>
                <a:cs typeface="Arial"/>
              </a:rPr>
              <a:t>Это диагностическая цель. Физическую аварию необходимо подтвердить отдельным журналом осмотров.</a:t>
            </a:r>
          </a:p>
        </p:txBody>
      </p:sp>
      <p:sp>
        <p:nvSpPr>
          <p:cNvPr id="4" name="">
            <a:extLst xmlns:a="http://schemas.openxmlformats.org/drawingml/2006/main">
              <a:ext uri="{FF2B5EF4-FFF2-40B4-BE49-F238E27FC236}">
                <a16:creationId xmlns:a16="http://schemas.microsoft.com/office/drawing/2014/main" id="{D605B136-815B-4729-9769-018A36F61416}"/>
              </a:ext>
            </a:extLst>
          </p:cNvPr>
          <p:cNvSpPr>
            <a:spLocks xmlns:a="http://schemas.openxmlformats.org/drawingml/2006/main" noGrp="1"/>
          </p:cNvSpPr>
          <p:nvPr/>
        </p:nvSpPr>
        <p:spPr>
          <a:xfrm xmlns:a="http://schemas.openxmlformats.org/drawingml/2006/main">
            <a:off x="11334750" y="63150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2958A"/>
                </a:solidFill>
                <a:latin typeface="Arial"/>
                <a:ea typeface="Arial"/>
                <a:cs typeface="Arial"/>
              </a:defRPr>
            </a:pPr>
            <a:r>
              <a:rPr sz="1275" b="0">
                <a:solidFill>
                  <a:srgbClr val="82958A"/>
                </a:solidFill>
                <a:latin typeface="Arial"/>
                <a:ea typeface="Arial"/>
                <a:cs typeface="Arial"/>
              </a:rPr>
              <a:t>13</a:t>
            </a:r>
          </a:p>
        </p:txBody>
      </p:sp>
    </p:spTree>
    <p:extLst>
      <p:ext uri="{BB962C8B-B14F-4D97-AF65-F5344CB8AC3E}">
        <p14:creationId xmlns:p14="http://schemas.microsoft.com/office/powerpoint/2010/main" val="1165920062"/>
      </p:ext>
    </p:extLst>
  </p:cSld>
</p:sld>
</file>

<file path=ppt/slides/slide14.xml><?xml version="1.0" encoding="utf-8"?>
<p:sld xmlns:p="http://schemas.openxmlformats.org/presentationml/2006/main">
  <p:cSld>
    <p:bg>
      <p:bgPr>
        <a:solidFill xmlns:a="http://schemas.openxmlformats.org/drawingml/2006/main">
          <a:srgbClr val="0D201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CA54359-5761-40AD-A08A-47F58F1AA68E}"/>
              </a:ext>
            </a:extLst>
          </p:cNvPr>
          <p:cNvSpPr>
            <a:spLocks xmlns:a="http://schemas.openxmlformats.org/drawingml/2006/main" noGrp="1"/>
          </p:cNvSpPr>
          <p:nvPr/>
        </p:nvSpPr>
        <p:spPr>
          <a:xfrm xmlns:a="http://schemas.openxmlformats.org/drawingml/2006/main">
            <a:off x="609600" y="4000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OOF-стэкинг без подглядывания</a:t>
            </a:r>
          </a:p>
        </p:txBody>
      </p:sp>
      <p:sp>
        <p:nvSpPr>
          <p:cNvPr id="2" name="">
            <a:extLst xmlns:a="http://schemas.openxmlformats.org/drawingml/2006/main">
              <a:ext uri="{FF2B5EF4-FFF2-40B4-BE49-F238E27FC236}">
                <a16:creationId xmlns:a16="http://schemas.microsoft.com/office/drawing/2014/main" id="{03AFD325-789F-4B94-96AA-F80816A3DE81}"/>
              </a:ext>
            </a:extLst>
          </p:cNvPr>
          <p:cNvSpPr>
            <a:spLocks xmlns:a="http://schemas.openxmlformats.org/drawingml/2006/main" noGrp="1"/>
          </p:cNvSpPr>
          <p:nvPr/>
        </p:nvSpPr>
        <p:spPr>
          <a:xfrm xmlns:a="http://schemas.openxmlformats.org/drawingml/2006/main">
            <a:off x="628650" y="193357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8F77B"/>
                </a:solidFill>
                <a:latin typeface="Arial"/>
                <a:ea typeface="Arial"/>
                <a:cs typeface="Arial"/>
              </a:defRPr>
            </a:pPr>
            <a:r>
              <a:rPr sz="2550" b="1">
                <a:solidFill>
                  <a:srgbClr val="D8F77B"/>
                </a:solidFill>
                <a:latin typeface="Arial"/>
                <a:ea typeface="Arial"/>
                <a:cs typeface="Arial"/>
              </a:rPr>
              <a:t>Базовая модель</a:t>
            </a:r>
          </a:p>
        </p:txBody>
      </p:sp>
      <p:sp>
        <p:nvSpPr>
          <p:cNvPr id="3" name="">
            <a:extLst xmlns:a="http://schemas.openxmlformats.org/drawingml/2006/main">
              <a:ext uri="{FF2B5EF4-FFF2-40B4-BE49-F238E27FC236}">
                <a16:creationId xmlns:a16="http://schemas.microsoft.com/office/drawing/2014/main" id="{BF91386C-07E2-4E76-B095-B25442AA038E}"/>
              </a:ext>
            </a:extLst>
          </p:cNvPr>
          <p:cNvSpPr>
            <a:spLocks xmlns:a="http://schemas.openxmlformats.org/drawingml/2006/main" noGrp="1"/>
          </p:cNvSpPr>
          <p:nvPr/>
        </p:nvSpPr>
        <p:spPr>
          <a:xfrm xmlns:a="http://schemas.openxmlformats.org/drawingml/2006/main">
            <a:off x="628650" y="27051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3F1E9"/>
                </a:solidFill>
                <a:latin typeface="Arial"/>
                <a:ea typeface="Arial"/>
                <a:cs typeface="Arial"/>
              </a:defRPr>
            </a:pPr>
            <a:r>
              <a:rPr sz="2925" b="1">
                <a:solidFill>
                  <a:srgbClr val="F3F1E9"/>
                </a:solidFill>
                <a:latin typeface="Arial"/>
                <a:ea typeface="Arial"/>
                <a:cs typeface="Arial"/>
              </a:rPr>
              <a:t>max(date_train) + 15 дней &lt; date_OOF</a:t>
            </a:r>
          </a:p>
        </p:txBody>
      </p:sp>
      <p:sp>
        <p:nvSpPr>
          <p:cNvPr id="4" name="">
            <a:extLst xmlns:a="http://schemas.openxmlformats.org/drawingml/2006/main">
              <a:ext uri="{FF2B5EF4-FFF2-40B4-BE49-F238E27FC236}">
                <a16:creationId xmlns:a16="http://schemas.microsoft.com/office/drawing/2014/main" id="{40DC600E-BAA0-431C-928D-30E78272EA43}"/>
              </a:ext>
            </a:extLst>
          </p:cNvPr>
          <p:cNvSpPr>
            <a:spLocks xmlns:a="http://schemas.openxmlformats.org/drawingml/2006/main" noGrp="1"/>
          </p:cNvSpPr>
          <p:nvPr/>
        </p:nvSpPr>
        <p:spPr>
          <a:xfrm xmlns:a="http://schemas.openxmlformats.org/drawingml/2006/main">
            <a:off x="628650" y="391477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8F77B"/>
                </a:solidFill>
                <a:latin typeface="Arial"/>
                <a:ea typeface="Arial"/>
                <a:cs typeface="Arial"/>
              </a:defRPr>
            </a:pPr>
            <a:r>
              <a:rPr sz="2550" b="1">
                <a:solidFill>
                  <a:srgbClr val="D8F77B"/>
                </a:solidFill>
                <a:latin typeface="Arial"/>
                <a:ea typeface="Arial"/>
                <a:cs typeface="Arial"/>
              </a:rPr>
              <a:t>Мета-модель</a:t>
            </a:r>
          </a:p>
        </p:txBody>
      </p:sp>
      <p:sp>
        <p:nvSpPr>
          <p:cNvPr id="5" name="">
            <a:extLst xmlns:a="http://schemas.openxmlformats.org/drawingml/2006/main">
              <a:ext uri="{FF2B5EF4-FFF2-40B4-BE49-F238E27FC236}">
                <a16:creationId xmlns:a16="http://schemas.microsoft.com/office/drawing/2014/main" id="{6EF82A42-A7BE-453C-AAE1-884610E59030}"/>
              </a:ext>
            </a:extLst>
          </p:cNvPr>
          <p:cNvSpPr>
            <a:spLocks xmlns:a="http://schemas.openxmlformats.org/drawingml/2006/main" noGrp="1"/>
          </p:cNvSpPr>
          <p:nvPr/>
        </p:nvSpPr>
        <p:spPr>
          <a:xfrm xmlns:a="http://schemas.openxmlformats.org/drawingml/2006/main">
            <a:off x="657225" y="4667250"/>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D7DFD6"/>
                </a:solidFill>
                <a:latin typeface="Arial"/>
                <a:ea typeface="Arial"/>
                <a:cs typeface="Arial"/>
              </a:defRPr>
            </a:pPr>
            <a:r>
              <a:rPr sz="2325" b="0">
                <a:solidFill>
                  <a:srgbClr val="D7DFD6"/>
                </a:solidFill>
                <a:latin typeface="Arial"/>
                <a:ea typeface="Arial"/>
                <a:cs typeface="Arial"/>
              </a:rPr>
              <a:t>Обучение только на прошлых OOF-ответах.</a:t>
            </a:r>
          </a:p>
          <a:p xmlns:a="http://schemas.openxmlformats.org/drawingml/2006/main">
            <a:pPr>
              <a:defRPr sz="2325" b="0">
                <a:solidFill>
                  <a:srgbClr val="D7DFD6"/>
                </a:solidFill>
                <a:latin typeface="Arial"/>
                <a:ea typeface="Arial"/>
                <a:cs typeface="Arial"/>
              </a:defRPr>
            </a:pPr>
            <a:r>
              <a:rPr sz="2325" b="0">
                <a:solidFill>
                  <a:srgbClr val="D7DFD6"/>
                </a:solidFill>
                <a:latin typeface="Arial"/>
                <a:ea typeface="Arial"/>
                <a:cs typeface="Arial"/>
              </a:rPr>
              <a:t>Калибровка порога отделена таким же разрывом.</a:t>
            </a:r>
          </a:p>
        </p:txBody>
      </p:sp>
      <p:sp>
        <p:nvSpPr>
          <p:cNvPr id="6" name="">
            <a:extLst xmlns:a="http://schemas.openxmlformats.org/drawingml/2006/main">
              <a:ext uri="{FF2B5EF4-FFF2-40B4-BE49-F238E27FC236}">
                <a16:creationId xmlns:a16="http://schemas.microsoft.com/office/drawing/2014/main" id="{3826511D-60B2-44B1-A035-B2B2420B85E5}"/>
              </a:ext>
            </a:extLst>
          </p:cNvPr>
          <p:cNvSpPr>
            <a:spLocks xmlns:a="http://schemas.openxmlformats.org/drawingml/2006/main" noGrp="1"/>
          </p:cNvSpPr>
          <p:nvPr/>
        </p:nvSpPr>
        <p:spPr>
          <a:xfrm xmlns:a="http://schemas.openxmlformats.org/drawingml/2006/main">
            <a:off x="609600" y="6305550"/>
            <a:ext cx="10648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2958A"/>
                </a:solidFill>
                <a:latin typeface="Arial"/>
                <a:ea typeface="Arial"/>
                <a:cs typeface="Arial"/>
              </a:defRPr>
            </a:pPr>
            <a:r>
              <a:rPr sz="1200" b="0">
                <a:solidFill>
                  <a:srgbClr val="82958A"/>
                </a:solidFill>
                <a:latin typeface="Arial"/>
                <a:ea typeface="Arial"/>
                <a:cs typeface="Arial"/>
              </a:rPr>
              <a:t>Граф, построенный позже ранних OOF-периодов, исключён из этого эксперимента.</a:t>
            </a:r>
          </a:p>
        </p:txBody>
      </p:sp>
      <p:sp>
        <p:nvSpPr>
          <p:cNvPr id="7" name="">
            <a:extLst xmlns:a="http://schemas.openxmlformats.org/drawingml/2006/main">
              <a:ext uri="{FF2B5EF4-FFF2-40B4-BE49-F238E27FC236}">
                <a16:creationId xmlns:a16="http://schemas.microsoft.com/office/drawing/2014/main" id="{B3AC31FD-2415-4FA1-9656-6BB718EF65BC}"/>
              </a:ext>
            </a:extLst>
          </p:cNvPr>
          <p:cNvSpPr>
            <a:spLocks xmlns:a="http://schemas.openxmlformats.org/drawingml/2006/main" noGrp="1"/>
          </p:cNvSpPr>
          <p:nvPr/>
        </p:nvSpPr>
        <p:spPr>
          <a:xfrm xmlns:a="http://schemas.openxmlformats.org/drawingml/2006/main">
            <a:off x="11334750" y="63150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2958A"/>
                </a:solidFill>
                <a:latin typeface="Arial"/>
                <a:ea typeface="Arial"/>
                <a:cs typeface="Arial"/>
              </a:defRPr>
            </a:pPr>
            <a:r>
              <a:rPr sz="1275" b="0">
                <a:solidFill>
                  <a:srgbClr val="82958A"/>
                </a:solidFill>
                <a:latin typeface="Arial"/>
                <a:ea typeface="Arial"/>
                <a:cs typeface="Arial"/>
              </a:rPr>
              <a:t>14</a:t>
            </a:r>
          </a:p>
        </p:txBody>
      </p:sp>
    </p:spTree>
    <p:extLst>
      <p:ext uri="{BB962C8B-B14F-4D97-AF65-F5344CB8AC3E}">
        <p14:creationId xmlns:p14="http://schemas.microsoft.com/office/powerpoint/2010/main" val="914274376"/>
      </p:ext>
    </p:extLst>
  </p:cSld>
</p:sld>
</file>

<file path=ppt/slides/slide15.xml><?xml version="1.0" encoding="utf-8"?>
<p:sld xmlns:p="http://schemas.openxmlformats.org/presentationml/2006/main">
  <p:cSld>
    <p:bg>
      <p:bgPr>
        <a:solidFill xmlns:a="http://schemas.openxmlformats.org/drawingml/2006/main">
          <a:srgbClr val="0D201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9B8DA2-8030-4994-B38A-F21530D41424}"/>
              </a:ext>
            </a:extLst>
          </p:cNvPr>
          <p:cNvSpPr>
            <a:spLocks xmlns:a="http://schemas.openxmlformats.org/drawingml/2006/main" noGrp="1"/>
          </p:cNvSpPr>
          <p:nvPr/>
        </p:nvSpPr>
        <p:spPr>
          <a:xfrm xmlns:a="http://schemas.openxmlformats.org/drawingml/2006/main">
            <a:off x="609600" y="4000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Разработка 2025: сравнение подходов</a:t>
            </a:r>
          </a:p>
        </p:txBody>
      </p:sp>
      <p:graphicFrame>
        <p:nvGraphicFramePr>
          <p:cNvPr id="6" name=""/>
          <p:cNvGraphicFramePr/>
          <p:nvPr/>
        </p:nvGraphicFramePr>
        <p:xfrm>
          <a:off xmlns:a="http://schemas.openxmlformats.org/drawingml/2006/main" x="609600" y="1685925"/>
          <a:ext xmlns:a="http://schemas.openxmlformats.org/drawingml/2006/main" cx="10972800" cy="4000500"/>
        </p:xfrm>
        <a:graphic xmlns:a="http://schemas.openxmlformats.org/drawingml/2006/main">
          <a:graphicData uri="http://schemas.openxmlformats.org/drawingml/2006/table">
            <a:tbl>
              <a:tblPr/>
              <a:tblGrid>
                <a:gridCol w="5305425"/>
                <a:gridCol w="1028700"/>
                <a:gridCol w="1028700"/>
                <a:gridCol w="1809750"/>
                <a:gridCol w="1800225"/>
              </a:tblGrid>
              <a:tr h="500063">
                <a:tc>
                  <a:txBody>
                    <a:bodyPr/>
                    <a:lstStyle/>
                    <a:p>
                      <a:r>
                        <a:rPr sz="1650" b="1">
                          <a:solidFill>
                            <a:srgbClr val="0D201B"/>
                          </a:solidFill>
                          <a:latin typeface="Arial"/>
                          <a:ea typeface="Arial"/>
                          <a:cs typeface="Arial"/>
                        </a:rPr>
                        <a:t>Подход</a:t>
                      </a:r>
                    </a:p>
                  </a:txBody>
                  <a:tcPr marL="133350" marR="133350" marT="95250" marB="95250">
                    <a:solidFill>
                      <a:srgbClr val="D8F77B"/>
                    </a:solidFill>
                  </a:tcPr>
                </a:tc>
                <a:tc>
                  <a:txBody>
                    <a:bodyPr/>
                    <a:lstStyle/>
                    <a:p>
                      <a:r>
                        <a:rPr sz="1650" b="1">
                          <a:solidFill>
                            <a:srgbClr val="0D201B"/>
                          </a:solidFill>
                          <a:latin typeface="Arial"/>
                          <a:ea typeface="Arial"/>
                          <a:cs typeface="Arial"/>
                        </a:rPr>
                        <a:t>TP</a:t>
                      </a:r>
                    </a:p>
                  </a:txBody>
                  <a:tcPr marL="133350" marR="133350" marT="95250" marB="95250">
                    <a:solidFill>
                      <a:srgbClr val="D8F77B"/>
                    </a:solidFill>
                  </a:tcPr>
                </a:tc>
                <a:tc>
                  <a:txBody>
                    <a:bodyPr/>
                    <a:lstStyle/>
                    <a:p>
                      <a:r>
                        <a:rPr sz="1650" b="1">
                          <a:solidFill>
                            <a:srgbClr val="0D201B"/>
                          </a:solidFill>
                          <a:latin typeface="Arial"/>
                          <a:ea typeface="Arial"/>
                          <a:cs typeface="Arial"/>
                        </a:rPr>
                        <a:t>FP</a:t>
                      </a:r>
                    </a:p>
                  </a:txBody>
                  <a:tcPr marL="133350" marR="133350" marT="95250" marB="95250">
                    <a:solidFill>
                      <a:srgbClr val="D8F77B"/>
                    </a:solidFill>
                  </a:tcPr>
                </a:tc>
                <a:tc>
                  <a:txBody>
                    <a:bodyPr/>
                    <a:lstStyle/>
                    <a:p>
                      <a:r>
                        <a:rPr sz="1650" b="1">
                          <a:solidFill>
                            <a:srgbClr val="0D201B"/>
                          </a:solidFill>
                          <a:latin typeface="Arial"/>
                          <a:ea typeface="Arial"/>
                          <a:cs typeface="Arial"/>
                        </a:rPr>
                        <a:t>Precision</a:t>
                      </a:r>
                    </a:p>
                  </a:txBody>
                  <a:tcPr marL="133350" marR="133350" marT="95250" marB="95250">
                    <a:solidFill>
                      <a:srgbClr val="D8F77B"/>
                    </a:solidFill>
                  </a:tcPr>
                </a:tc>
                <a:tc>
                  <a:txBody>
                    <a:bodyPr/>
                    <a:lstStyle/>
                    <a:p>
                      <a:r>
                        <a:rPr sz="1650" b="1">
                          <a:solidFill>
                            <a:srgbClr val="0D201B"/>
                          </a:solidFill>
                          <a:latin typeface="Arial"/>
                          <a:ea typeface="Arial"/>
                          <a:cs typeface="Arial"/>
                        </a:rPr>
                        <a:t>Recall</a:t>
                      </a:r>
                    </a:p>
                  </a:txBody>
                  <a:tcPr marL="133350" marR="133350" marT="95250" marB="95250">
                    <a:solidFill>
                      <a:srgbClr val="D8F77B"/>
                    </a:solidFill>
                  </a:tcPr>
                </a:tc>
              </a:tr>
              <a:tr h="500063">
                <a:tc>
                  <a:txBody>
                    <a:bodyPr/>
                    <a:lstStyle/>
                    <a:p>
                      <a:r>
                        <a:rPr sz="1650">
                          <a:solidFill>
                            <a:srgbClr val="F3F1E9"/>
                          </a:solidFill>
                          <a:latin typeface="Arial"/>
                          <a:ea typeface="Arial"/>
                          <a:cs typeface="Arial"/>
                        </a:rPr>
                        <a:t>Исходный LightGBM</a:t>
                      </a:r>
                    </a:p>
                  </a:txBody>
                  <a:tcPr marL="133350" marR="133350" marT="95250" marB="95250">
                    <a:solidFill>
                      <a:srgbClr val="0D201B"/>
                    </a:solidFill>
                  </a:tcPr>
                </a:tc>
                <a:tc>
                  <a:txBody>
                    <a:bodyPr/>
                    <a:lstStyle/>
                    <a:p>
                      <a:r>
                        <a:rPr sz="1650">
                          <a:solidFill>
                            <a:srgbClr val="F3F1E9"/>
                          </a:solidFill>
                          <a:latin typeface="Arial"/>
                          <a:ea typeface="Arial"/>
                          <a:cs typeface="Arial"/>
                        </a:rPr>
                        <a:t>13</a:t>
                      </a:r>
                    </a:p>
                  </a:txBody>
                  <a:tcPr marL="133350" marR="133350" marT="95250" marB="95250">
                    <a:solidFill>
                      <a:srgbClr val="0D201B"/>
                    </a:solidFill>
                  </a:tcPr>
                </a:tc>
                <a:tc>
                  <a:txBody>
                    <a:bodyPr/>
                    <a:lstStyle/>
                    <a:p>
                      <a:r>
                        <a:rPr sz="1650">
                          <a:solidFill>
                            <a:srgbClr val="F3F1E9"/>
                          </a:solidFill>
                          <a:latin typeface="Arial"/>
                          <a:ea typeface="Arial"/>
                          <a:cs typeface="Arial"/>
                        </a:rPr>
                        <a:t>29</a:t>
                      </a:r>
                    </a:p>
                  </a:txBody>
                  <a:tcPr marL="133350" marR="133350" marT="95250" marB="95250">
                    <a:solidFill>
                      <a:srgbClr val="0D201B"/>
                    </a:solidFill>
                  </a:tcPr>
                </a:tc>
                <a:tc>
                  <a:txBody>
                    <a:bodyPr/>
                    <a:lstStyle/>
                    <a:p>
                      <a:r>
                        <a:rPr sz="1650">
                          <a:solidFill>
                            <a:srgbClr val="F3F1E9"/>
                          </a:solidFill>
                          <a:latin typeface="Arial"/>
                          <a:ea typeface="Arial"/>
                          <a:cs typeface="Arial"/>
                        </a:rPr>
                        <a:t>31.0%</a:t>
                      </a:r>
                    </a:p>
                  </a:txBody>
                  <a:tcPr marL="133350" marR="133350" marT="95250" marB="95250">
                    <a:solidFill>
                      <a:srgbClr val="0D201B"/>
                    </a:solidFill>
                  </a:tcPr>
                </a:tc>
                <a:tc>
                  <a:txBody>
                    <a:bodyPr/>
                    <a:lstStyle/>
                    <a:p>
                      <a:r>
                        <a:rPr sz="1650">
                          <a:solidFill>
                            <a:srgbClr val="F3F1E9"/>
                          </a:solidFill>
                          <a:latin typeface="Arial"/>
                          <a:ea typeface="Arial"/>
                          <a:cs typeface="Arial"/>
                        </a:rPr>
                        <a:t>39.4%</a:t>
                      </a:r>
                    </a:p>
                  </a:txBody>
                  <a:tcPr marL="133350" marR="133350" marT="95250" marB="95250">
                    <a:solidFill>
                      <a:srgbClr val="0D201B"/>
                    </a:solidFill>
                  </a:tcPr>
                </a:tc>
              </a:tr>
              <a:tr h="500063">
                <a:tc>
                  <a:txBody>
                    <a:bodyPr/>
                    <a:lstStyle/>
                    <a:p>
                      <a:r>
                        <a:rPr sz="1650">
                          <a:solidFill>
                            <a:srgbClr val="F3F1E9"/>
                          </a:solidFill>
                          <a:latin typeface="Arial"/>
                          <a:ea typeface="Arial"/>
                          <a:cs typeface="Arial"/>
                        </a:rPr>
                        <a:t>LightGBM + полная история</a:t>
                      </a:r>
                    </a:p>
                  </a:txBody>
                  <a:tcPr marL="133350" marR="133350" marT="95250" marB="95250">
                    <a:solidFill>
                      <a:srgbClr val="0D201B"/>
                    </a:solidFill>
                  </a:tcPr>
                </a:tc>
                <a:tc>
                  <a:txBody>
                    <a:bodyPr/>
                    <a:lstStyle/>
                    <a:p>
                      <a:r>
                        <a:rPr sz="1650">
                          <a:solidFill>
                            <a:srgbClr val="F3F1E9"/>
                          </a:solidFill>
                          <a:latin typeface="Arial"/>
                          <a:ea typeface="Arial"/>
                          <a:cs typeface="Arial"/>
                        </a:rPr>
                        <a:t>15</a:t>
                      </a:r>
                    </a:p>
                  </a:txBody>
                  <a:tcPr marL="133350" marR="133350" marT="95250" marB="95250">
                    <a:solidFill>
                      <a:srgbClr val="0D201B"/>
                    </a:solidFill>
                  </a:tcPr>
                </a:tc>
                <a:tc>
                  <a:txBody>
                    <a:bodyPr/>
                    <a:lstStyle/>
                    <a:p>
                      <a:r>
                        <a:rPr sz="1650">
                          <a:solidFill>
                            <a:srgbClr val="F3F1E9"/>
                          </a:solidFill>
                          <a:latin typeface="Arial"/>
                          <a:ea typeface="Arial"/>
                          <a:cs typeface="Arial"/>
                        </a:rPr>
                        <a:t>27</a:t>
                      </a:r>
                    </a:p>
                  </a:txBody>
                  <a:tcPr marL="133350" marR="133350" marT="95250" marB="95250">
                    <a:solidFill>
                      <a:srgbClr val="0D201B"/>
                    </a:solidFill>
                  </a:tcPr>
                </a:tc>
                <a:tc>
                  <a:txBody>
                    <a:bodyPr/>
                    <a:lstStyle/>
                    <a:p>
                      <a:r>
                        <a:rPr sz="1650">
                          <a:solidFill>
                            <a:srgbClr val="F3F1E9"/>
                          </a:solidFill>
                          <a:latin typeface="Arial"/>
                          <a:ea typeface="Arial"/>
                          <a:cs typeface="Arial"/>
                        </a:rPr>
                        <a:t>35.7%</a:t>
                      </a:r>
                    </a:p>
                  </a:txBody>
                  <a:tcPr marL="133350" marR="133350" marT="95250" marB="95250">
                    <a:solidFill>
                      <a:srgbClr val="0D201B"/>
                    </a:solidFill>
                  </a:tcPr>
                </a:tc>
                <a:tc>
                  <a:txBody>
                    <a:bodyPr/>
                    <a:lstStyle/>
                    <a:p>
                      <a:r>
                        <a:rPr sz="1650">
                          <a:solidFill>
                            <a:srgbClr val="F3F1E9"/>
                          </a:solidFill>
                          <a:latin typeface="Arial"/>
                          <a:ea typeface="Arial"/>
                          <a:cs typeface="Arial"/>
                        </a:rPr>
                        <a:t>45.5%</a:t>
                      </a:r>
                    </a:p>
                  </a:txBody>
                  <a:tcPr marL="133350" marR="133350" marT="95250" marB="95250">
                    <a:solidFill>
                      <a:srgbClr val="0D201B"/>
                    </a:solidFill>
                  </a:tcPr>
                </a:tc>
              </a:tr>
              <a:tr h="500063">
                <a:tc>
                  <a:txBody>
                    <a:bodyPr/>
                    <a:lstStyle/>
                    <a:p>
                      <a:r>
                        <a:rPr sz="1650">
                          <a:solidFill>
                            <a:srgbClr val="F3F1E9"/>
                          </a:solidFill>
                          <a:latin typeface="Arial"/>
                          <a:ea typeface="Arial"/>
                          <a:cs typeface="Arial"/>
                        </a:rPr>
                        <a:t>CatBoost Ordered</a:t>
                      </a:r>
                    </a:p>
                  </a:txBody>
                  <a:tcPr marL="133350" marR="133350" marT="95250" marB="95250">
                    <a:solidFill>
                      <a:srgbClr val="0D201B"/>
                    </a:solidFill>
                  </a:tcPr>
                </a:tc>
                <a:tc>
                  <a:txBody>
                    <a:bodyPr/>
                    <a:lstStyle/>
                    <a:p>
                      <a:r>
                        <a:rPr sz="1650">
                          <a:solidFill>
                            <a:srgbClr val="F3F1E9"/>
                          </a:solidFill>
                          <a:latin typeface="Arial"/>
                          <a:ea typeface="Arial"/>
                          <a:cs typeface="Arial"/>
                        </a:rPr>
                        <a:t>14</a:t>
                      </a:r>
                    </a:p>
                  </a:txBody>
                  <a:tcPr marL="133350" marR="133350" marT="95250" marB="95250">
                    <a:solidFill>
                      <a:srgbClr val="0D201B"/>
                    </a:solidFill>
                  </a:tcPr>
                </a:tc>
                <a:tc>
                  <a:txBody>
                    <a:bodyPr/>
                    <a:lstStyle/>
                    <a:p>
                      <a:r>
                        <a:rPr sz="1650">
                          <a:solidFill>
                            <a:srgbClr val="F3F1E9"/>
                          </a:solidFill>
                          <a:latin typeface="Arial"/>
                          <a:ea typeface="Arial"/>
                          <a:cs typeface="Arial"/>
                        </a:rPr>
                        <a:t>28</a:t>
                      </a:r>
                    </a:p>
                  </a:txBody>
                  <a:tcPr marL="133350" marR="133350" marT="95250" marB="95250">
                    <a:solidFill>
                      <a:srgbClr val="0D201B"/>
                    </a:solidFill>
                  </a:tcPr>
                </a:tc>
                <a:tc>
                  <a:txBody>
                    <a:bodyPr/>
                    <a:lstStyle/>
                    <a:p>
                      <a:r>
                        <a:rPr sz="1650">
                          <a:solidFill>
                            <a:srgbClr val="F3F1E9"/>
                          </a:solidFill>
                          <a:latin typeface="Arial"/>
                          <a:ea typeface="Arial"/>
                          <a:cs typeface="Arial"/>
                        </a:rPr>
                        <a:t>33.3%</a:t>
                      </a:r>
                    </a:p>
                  </a:txBody>
                  <a:tcPr marL="133350" marR="133350" marT="95250" marB="95250">
                    <a:solidFill>
                      <a:srgbClr val="0D201B"/>
                    </a:solidFill>
                  </a:tcPr>
                </a:tc>
                <a:tc>
                  <a:txBody>
                    <a:bodyPr/>
                    <a:lstStyle/>
                    <a:p>
                      <a:r>
                        <a:rPr sz="1650">
                          <a:solidFill>
                            <a:srgbClr val="F3F1E9"/>
                          </a:solidFill>
                          <a:latin typeface="Arial"/>
                          <a:ea typeface="Arial"/>
                          <a:cs typeface="Arial"/>
                        </a:rPr>
                        <a:t>42.4%</a:t>
                      </a:r>
                    </a:p>
                  </a:txBody>
                  <a:tcPr marL="133350" marR="133350" marT="95250" marB="95250">
                    <a:solidFill>
                      <a:srgbClr val="0D201B"/>
                    </a:solidFill>
                  </a:tcPr>
                </a:tc>
              </a:tr>
              <a:tr h="500063">
                <a:tc>
                  <a:txBody>
                    <a:bodyPr/>
                    <a:lstStyle/>
                    <a:p>
                      <a:r>
                        <a:rPr sz="1650">
                          <a:solidFill>
                            <a:srgbClr val="F3F1E9"/>
                          </a:solidFill>
                          <a:latin typeface="Arial"/>
                          <a:ea typeface="Arial"/>
                          <a:cs typeface="Arial"/>
                        </a:rPr>
                        <a:t>Extra Trees</a:t>
                      </a:r>
                    </a:p>
                  </a:txBody>
                  <a:tcPr marL="133350" marR="133350" marT="95250" marB="95250">
                    <a:solidFill>
                      <a:srgbClr val="0D201B"/>
                    </a:solidFill>
                  </a:tcPr>
                </a:tc>
                <a:tc>
                  <a:txBody>
                    <a:bodyPr/>
                    <a:lstStyle/>
                    <a:p>
                      <a:r>
                        <a:rPr sz="1650">
                          <a:solidFill>
                            <a:srgbClr val="F3F1E9"/>
                          </a:solidFill>
                          <a:latin typeface="Arial"/>
                          <a:ea typeface="Arial"/>
                          <a:cs typeface="Arial"/>
                        </a:rPr>
                        <a:t>14</a:t>
                      </a:r>
                    </a:p>
                  </a:txBody>
                  <a:tcPr marL="133350" marR="133350" marT="95250" marB="95250">
                    <a:solidFill>
                      <a:srgbClr val="0D201B"/>
                    </a:solidFill>
                  </a:tcPr>
                </a:tc>
                <a:tc>
                  <a:txBody>
                    <a:bodyPr/>
                    <a:lstStyle/>
                    <a:p>
                      <a:r>
                        <a:rPr sz="1650">
                          <a:solidFill>
                            <a:srgbClr val="F3F1E9"/>
                          </a:solidFill>
                          <a:latin typeface="Arial"/>
                          <a:ea typeface="Arial"/>
                          <a:cs typeface="Arial"/>
                        </a:rPr>
                        <a:t>29</a:t>
                      </a:r>
                    </a:p>
                  </a:txBody>
                  <a:tcPr marL="133350" marR="133350" marT="95250" marB="95250">
                    <a:solidFill>
                      <a:srgbClr val="0D201B"/>
                    </a:solidFill>
                  </a:tcPr>
                </a:tc>
                <a:tc>
                  <a:txBody>
                    <a:bodyPr/>
                    <a:lstStyle/>
                    <a:p>
                      <a:r>
                        <a:rPr sz="1650">
                          <a:solidFill>
                            <a:srgbClr val="F3F1E9"/>
                          </a:solidFill>
                          <a:latin typeface="Arial"/>
                          <a:ea typeface="Arial"/>
                          <a:cs typeface="Arial"/>
                        </a:rPr>
                        <a:t>32.6%</a:t>
                      </a:r>
                    </a:p>
                  </a:txBody>
                  <a:tcPr marL="133350" marR="133350" marT="95250" marB="95250">
                    <a:solidFill>
                      <a:srgbClr val="0D201B"/>
                    </a:solidFill>
                  </a:tcPr>
                </a:tc>
                <a:tc>
                  <a:txBody>
                    <a:bodyPr/>
                    <a:lstStyle/>
                    <a:p>
                      <a:r>
                        <a:rPr sz="1650">
                          <a:solidFill>
                            <a:srgbClr val="F3F1E9"/>
                          </a:solidFill>
                          <a:latin typeface="Arial"/>
                          <a:ea typeface="Arial"/>
                          <a:cs typeface="Arial"/>
                        </a:rPr>
                        <a:t>42.4%</a:t>
                      </a:r>
                    </a:p>
                  </a:txBody>
                  <a:tcPr marL="133350" marR="133350" marT="95250" marB="95250">
                    <a:solidFill>
                      <a:srgbClr val="0D201B"/>
                    </a:solidFill>
                  </a:tcPr>
                </a:tc>
              </a:tr>
              <a:tr h="500063">
                <a:tc>
                  <a:txBody>
                    <a:bodyPr/>
                    <a:lstStyle/>
                    <a:p>
                      <a:r>
                        <a:rPr sz="1650">
                          <a:solidFill>
                            <a:srgbClr val="F3F1E9"/>
                          </a:solidFill>
                          <a:latin typeface="Arial"/>
                          <a:ea typeface="Arial"/>
                          <a:cs typeface="Arial"/>
                        </a:rPr>
                        <a:t>Среднее 8 моделей</a:t>
                      </a:r>
                    </a:p>
                  </a:txBody>
                  <a:tcPr marL="133350" marR="133350" marT="95250" marB="95250">
                    <a:solidFill>
                      <a:srgbClr val="0D201B"/>
                    </a:solidFill>
                  </a:tcPr>
                </a:tc>
                <a:tc>
                  <a:txBody>
                    <a:bodyPr/>
                    <a:lstStyle/>
                    <a:p>
                      <a:r>
                        <a:rPr sz="1650">
                          <a:solidFill>
                            <a:srgbClr val="F3F1E9"/>
                          </a:solidFill>
                          <a:latin typeface="Arial"/>
                          <a:ea typeface="Arial"/>
                          <a:cs typeface="Arial"/>
                        </a:rPr>
                        <a:t>13</a:t>
                      </a:r>
                    </a:p>
                  </a:txBody>
                  <a:tcPr marL="133350" marR="133350" marT="95250" marB="95250">
                    <a:solidFill>
                      <a:srgbClr val="0D201B"/>
                    </a:solidFill>
                  </a:tcPr>
                </a:tc>
                <a:tc>
                  <a:txBody>
                    <a:bodyPr/>
                    <a:lstStyle/>
                    <a:p>
                      <a:r>
                        <a:rPr sz="1650">
                          <a:solidFill>
                            <a:srgbClr val="F3F1E9"/>
                          </a:solidFill>
                          <a:latin typeface="Arial"/>
                          <a:ea typeface="Arial"/>
                          <a:cs typeface="Arial"/>
                        </a:rPr>
                        <a:t>19</a:t>
                      </a:r>
                    </a:p>
                  </a:txBody>
                  <a:tcPr marL="133350" marR="133350" marT="95250" marB="95250">
                    <a:solidFill>
                      <a:srgbClr val="0D201B"/>
                    </a:solidFill>
                  </a:tcPr>
                </a:tc>
                <a:tc>
                  <a:txBody>
                    <a:bodyPr/>
                    <a:lstStyle/>
                    <a:p>
                      <a:r>
                        <a:rPr sz="1650">
                          <a:solidFill>
                            <a:srgbClr val="F3F1E9"/>
                          </a:solidFill>
                          <a:latin typeface="Arial"/>
                          <a:ea typeface="Arial"/>
                          <a:cs typeface="Arial"/>
                        </a:rPr>
                        <a:t>40.6%</a:t>
                      </a:r>
                    </a:p>
                  </a:txBody>
                  <a:tcPr marL="133350" marR="133350" marT="95250" marB="95250">
                    <a:solidFill>
                      <a:srgbClr val="0D201B"/>
                    </a:solidFill>
                  </a:tcPr>
                </a:tc>
                <a:tc>
                  <a:txBody>
                    <a:bodyPr/>
                    <a:lstStyle/>
                    <a:p>
                      <a:r>
                        <a:rPr sz="1650">
                          <a:solidFill>
                            <a:srgbClr val="F3F1E9"/>
                          </a:solidFill>
                          <a:latin typeface="Arial"/>
                          <a:ea typeface="Arial"/>
                          <a:cs typeface="Arial"/>
                        </a:rPr>
                        <a:t>39.4%</a:t>
                      </a:r>
                    </a:p>
                  </a:txBody>
                  <a:tcPr marL="133350" marR="133350" marT="95250" marB="95250">
                    <a:solidFill>
                      <a:srgbClr val="0D201B"/>
                    </a:solidFill>
                  </a:tcPr>
                </a:tc>
              </a:tr>
              <a:tr h="500063">
                <a:tc>
                  <a:txBody>
                    <a:bodyPr/>
                    <a:lstStyle/>
                    <a:p>
                      <a:r>
                        <a:rPr sz="1650">
                          <a:solidFill>
                            <a:srgbClr val="F3F1E9"/>
                          </a:solidFill>
                          <a:latin typeface="Arial"/>
                          <a:ea typeface="Arial"/>
                          <a:cs typeface="Arial"/>
                        </a:rPr>
                        <a:t>CatBoost meta / ответы</a:t>
                      </a:r>
                    </a:p>
                  </a:txBody>
                  <a:tcPr marL="133350" marR="133350" marT="95250" marB="95250">
                    <a:solidFill>
                      <a:srgbClr val="0D201B"/>
                    </a:solidFill>
                  </a:tcPr>
                </a:tc>
                <a:tc>
                  <a:txBody>
                    <a:bodyPr/>
                    <a:lstStyle/>
                    <a:p>
                      <a:r>
                        <a:rPr sz="1650">
                          <a:solidFill>
                            <a:srgbClr val="F3F1E9"/>
                          </a:solidFill>
                          <a:latin typeface="Arial"/>
                          <a:ea typeface="Arial"/>
                          <a:cs typeface="Arial"/>
                        </a:rPr>
                        <a:t>6</a:t>
                      </a:r>
                    </a:p>
                  </a:txBody>
                  <a:tcPr marL="133350" marR="133350" marT="95250" marB="95250">
                    <a:solidFill>
                      <a:srgbClr val="0D201B"/>
                    </a:solidFill>
                  </a:tcPr>
                </a:tc>
                <a:tc>
                  <a:txBody>
                    <a:bodyPr/>
                    <a:lstStyle/>
                    <a:p>
                      <a:r>
                        <a:rPr sz="1650">
                          <a:solidFill>
                            <a:srgbClr val="F3F1E9"/>
                          </a:solidFill>
                          <a:latin typeface="Arial"/>
                          <a:ea typeface="Arial"/>
                          <a:cs typeface="Arial"/>
                        </a:rPr>
                        <a:t>20</a:t>
                      </a:r>
                    </a:p>
                  </a:txBody>
                  <a:tcPr marL="133350" marR="133350" marT="95250" marB="95250">
                    <a:solidFill>
                      <a:srgbClr val="0D201B"/>
                    </a:solidFill>
                  </a:tcPr>
                </a:tc>
                <a:tc>
                  <a:txBody>
                    <a:bodyPr/>
                    <a:lstStyle/>
                    <a:p>
                      <a:r>
                        <a:rPr sz="1650">
                          <a:solidFill>
                            <a:srgbClr val="F3F1E9"/>
                          </a:solidFill>
                          <a:latin typeface="Arial"/>
                          <a:ea typeface="Arial"/>
                          <a:cs typeface="Arial"/>
                        </a:rPr>
                        <a:t>23.1%</a:t>
                      </a:r>
                    </a:p>
                  </a:txBody>
                  <a:tcPr marL="133350" marR="133350" marT="95250" marB="95250">
                    <a:solidFill>
                      <a:srgbClr val="0D201B"/>
                    </a:solidFill>
                  </a:tcPr>
                </a:tc>
                <a:tc>
                  <a:txBody>
                    <a:bodyPr/>
                    <a:lstStyle/>
                    <a:p>
                      <a:r>
                        <a:rPr sz="1650">
                          <a:solidFill>
                            <a:srgbClr val="F3F1E9"/>
                          </a:solidFill>
                          <a:latin typeface="Arial"/>
                          <a:ea typeface="Arial"/>
                          <a:cs typeface="Arial"/>
                        </a:rPr>
                        <a:t>18.2%</a:t>
                      </a:r>
                    </a:p>
                  </a:txBody>
                  <a:tcPr marL="133350" marR="133350" marT="95250" marB="95250">
                    <a:solidFill>
                      <a:srgbClr val="0D201B"/>
                    </a:solidFill>
                  </a:tcPr>
                </a:tc>
              </a:tr>
              <a:tr h="500063">
                <a:tc>
                  <a:txBody>
                    <a:bodyPr/>
                    <a:lstStyle/>
                    <a:p>
                      <a:r>
                        <a:rPr sz="1650">
                          <a:solidFill>
                            <a:srgbClr val="F3F1E9"/>
                          </a:solidFill>
                          <a:latin typeface="Arial"/>
                          <a:ea typeface="Arial"/>
                          <a:cs typeface="Arial"/>
                        </a:rPr>
                        <a:t>CatBoost meta / контекст</a:t>
                      </a:r>
                    </a:p>
                  </a:txBody>
                  <a:tcPr marL="133350" marR="133350" marT="95250" marB="95250">
                    <a:solidFill>
                      <a:srgbClr val="0D201B"/>
                    </a:solidFill>
                  </a:tcPr>
                </a:tc>
                <a:tc>
                  <a:txBody>
                    <a:bodyPr/>
                    <a:lstStyle/>
                    <a:p>
                      <a:r>
                        <a:rPr sz="1650">
                          <a:solidFill>
                            <a:srgbClr val="F3F1E9"/>
                          </a:solidFill>
                          <a:latin typeface="Arial"/>
                          <a:ea typeface="Arial"/>
                          <a:cs typeface="Arial"/>
                        </a:rPr>
                        <a:t>6</a:t>
                      </a:r>
                    </a:p>
                  </a:txBody>
                  <a:tcPr marL="133350" marR="133350" marT="95250" marB="95250">
                    <a:solidFill>
                      <a:srgbClr val="0D201B"/>
                    </a:solidFill>
                  </a:tcPr>
                </a:tc>
                <a:tc>
                  <a:txBody>
                    <a:bodyPr/>
                    <a:lstStyle/>
                    <a:p>
                      <a:r>
                        <a:rPr sz="1650">
                          <a:solidFill>
                            <a:srgbClr val="F3F1E9"/>
                          </a:solidFill>
                          <a:latin typeface="Arial"/>
                          <a:ea typeface="Arial"/>
                          <a:cs typeface="Arial"/>
                        </a:rPr>
                        <a:t>25</a:t>
                      </a:r>
                    </a:p>
                  </a:txBody>
                  <a:tcPr marL="133350" marR="133350" marT="95250" marB="95250">
                    <a:solidFill>
                      <a:srgbClr val="0D201B"/>
                    </a:solidFill>
                  </a:tcPr>
                </a:tc>
                <a:tc>
                  <a:txBody>
                    <a:bodyPr/>
                    <a:lstStyle/>
                    <a:p>
                      <a:r>
                        <a:rPr sz="1650">
                          <a:solidFill>
                            <a:srgbClr val="F3F1E9"/>
                          </a:solidFill>
                          <a:latin typeface="Arial"/>
                          <a:ea typeface="Arial"/>
                          <a:cs typeface="Arial"/>
                        </a:rPr>
                        <a:t>19.4%</a:t>
                      </a:r>
                    </a:p>
                  </a:txBody>
                  <a:tcPr marL="133350" marR="133350" marT="95250" marB="95250">
                    <a:solidFill>
                      <a:srgbClr val="0D201B"/>
                    </a:solidFill>
                  </a:tcPr>
                </a:tc>
                <a:tc>
                  <a:txBody>
                    <a:bodyPr/>
                    <a:lstStyle/>
                    <a:p>
                      <a:r>
                        <a:rPr sz="1650">
                          <a:solidFill>
                            <a:srgbClr val="F3F1E9"/>
                          </a:solidFill>
                          <a:latin typeface="Arial"/>
                          <a:ea typeface="Arial"/>
                          <a:cs typeface="Arial"/>
                        </a:rPr>
                        <a:t>18.2%</a:t>
                      </a:r>
                    </a:p>
                  </a:txBody>
                  <a:tcPr marL="133350" marR="133350" marT="95250" marB="95250">
                    <a:solidFill>
                      <a:srgbClr val="0D201B"/>
                    </a:solidFill>
                  </a:tcPr>
                </a:tc>
              </a:tr>
            </a:tbl>
          </a:graphicData>
        </a:graphic>
      </p:graphicFrame>
      <p:sp>
        <p:nvSpPr>
          <p:cNvPr id="3" name="">
            <a:extLst xmlns:a="http://schemas.openxmlformats.org/drawingml/2006/main">
              <a:ext uri="{FF2B5EF4-FFF2-40B4-BE49-F238E27FC236}">
                <a16:creationId xmlns:a16="http://schemas.microsoft.com/office/drawing/2014/main" id="{E32D5052-91F3-4B3B-8C48-9CF02A570DB8}"/>
              </a:ext>
            </a:extLst>
          </p:cNvPr>
          <p:cNvSpPr>
            <a:spLocks xmlns:a="http://schemas.openxmlformats.org/drawingml/2006/main" noGrp="1"/>
          </p:cNvSpPr>
          <p:nvPr/>
        </p:nvSpPr>
        <p:spPr>
          <a:xfrm xmlns:a="http://schemas.openxmlformats.org/drawingml/2006/main">
            <a:off x="609600" y="6305550"/>
            <a:ext cx="10648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2958A"/>
                </a:solidFill>
                <a:latin typeface="Arial"/>
                <a:ea typeface="Arial"/>
                <a:cs typeface="Arial"/>
              </a:defRPr>
            </a:pPr>
            <a:r>
              <a:rPr sz="1200" b="0">
                <a:solidFill>
                  <a:srgbClr val="82958A"/>
                </a:solidFill>
                <a:latin typeface="Arial"/>
                <a:ea typeface="Arial"/>
                <a:cs typeface="Arial"/>
              </a:rPr>
              <a:t>33 инцидента, апрель–декабрь 2025. Сложность мета-модели сама по себе не дала улучшения.</a:t>
            </a:r>
          </a:p>
        </p:txBody>
      </p:sp>
      <p:sp>
        <p:nvSpPr>
          <p:cNvPr id="4" name="">
            <a:extLst xmlns:a="http://schemas.openxmlformats.org/drawingml/2006/main">
              <a:ext uri="{FF2B5EF4-FFF2-40B4-BE49-F238E27FC236}">
                <a16:creationId xmlns:a16="http://schemas.microsoft.com/office/drawing/2014/main" id="{F462587A-DD46-478E-B2A6-9F8CFC8E2084}"/>
              </a:ext>
            </a:extLst>
          </p:cNvPr>
          <p:cNvSpPr>
            <a:spLocks xmlns:a="http://schemas.openxmlformats.org/drawingml/2006/main" noGrp="1"/>
          </p:cNvSpPr>
          <p:nvPr/>
        </p:nvSpPr>
        <p:spPr>
          <a:xfrm xmlns:a="http://schemas.openxmlformats.org/drawingml/2006/main">
            <a:off x="11334750" y="63150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2958A"/>
                </a:solidFill>
                <a:latin typeface="Arial"/>
                <a:ea typeface="Arial"/>
                <a:cs typeface="Arial"/>
              </a:defRPr>
            </a:pPr>
            <a:r>
              <a:rPr sz="1275" b="0">
                <a:solidFill>
                  <a:srgbClr val="82958A"/>
                </a:solidFill>
                <a:latin typeface="Arial"/>
                <a:ea typeface="Arial"/>
                <a:cs typeface="Arial"/>
              </a:rPr>
              <a:t>15</a:t>
            </a:r>
          </a:p>
        </p:txBody>
      </p:sp>
    </p:spTree>
    <p:extLst>
      <p:ext uri="{BB962C8B-B14F-4D97-AF65-F5344CB8AC3E}">
        <p14:creationId xmlns:p14="http://schemas.microsoft.com/office/powerpoint/2010/main" val="1075142501"/>
      </p:ext>
    </p:extLst>
  </p:cSld>
</p:sld>
</file>

<file path=ppt/slides/slide16.xml><?xml version="1.0" encoding="utf-8"?>
<p:sld xmlns:p="http://schemas.openxmlformats.org/presentationml/2006/main">
  <p:cSld>
    <p:bg>
      <p:bgPr>
        <a:solidFill xmlns:a="http://schemas.openxmlformats.org/drawingml/2006/main">
          <a:srgbClr val="0D201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3E522B-1007-4419-95F0-471D1D49AE71}"/>
              </a:ext>
            </a:extLst>
          </p:cNvPr>
          <p:cNvSpPr>
            <a:spLocks xmlns:a="http://schemas.openxmlformats.org/drawingml/2006/main" noGrp="1"/>
          </p:cNvSpPr>
          <p:nvPr/>
        </p:nvSpPr>
        <p:spPr>
          <a:xfrm xmlns:a="http://schemas.openxmlformats.org/drawingml/2006/main">
            <a:off x="609600" y="4000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Контур внедрения и следующий рубеж</a:t>
            </a:r>
          </a:p>
        </p:txBody>
      </p:sp>
      <p:graphicFrame>
        <p:nvGraphicFramePr>
          <p:cNvPr id="6" name=""/>
          <p:cNvGraphicFramePr/>
          <p:nvPr/>
        </p:nvGraphicFramePr>
        <p:xfrm>
          <a:off xmlns:a="http://schemas.openxmlformats.org/drawingml/2006/main" x="609600" y="1895475"/>
          <a:ext xmlns:a="http://schemas.openxmlformats.org/drawingml/2006/main" cx="10972800" cy="3429000"/>
        </p:xfrm>
        <a:graphic xmlns:a="http://schemas.openxmlformats.org/drawingml/2006/main">
          <a:graphicData uri="http://schemas.openxmlformats.org/drawingml/2006/table">
            <a:tbl>
              <a:tblPr/>
              <a:tblGrid>
                <a:gridCol w="5381625"/>
                <a:gridCol w="5591175"/>
              </a:tblGrid>
              <a:tr h="685800">
                <a:tc>
                  <a:txBody>
                    <a:bodyPr/>
                    <a:lstStyle/>
                    <a:p>
                      <a:r>
                        <a:rPr sz="1800" b="1">
                          <a:solidFill>
                            <a:srgbClr val="0D201B"/>
                          </a:solidFill>
                          <a:latin typeface="Arial"/>
                          <a:ea typeface="Arial"/>
                          <a:cs typeface="Arial"/>
                        </a:rPr>
                        <a:t>Есть в репозитории</a:t>
                      </a:r>
                    </a:p>
                  </a:txBody>
                  <a:tcPr marL="133350" marR="133350" marT="95250" marB="95250">
                    <a:solidFill>
                      <a:srgbClr val="D8F77B"/>
                    </a:solidFill>
                  </a:tcPr>
                </a:tc>
                <a:tc>
                  <a:txBody>
                    <a:bodyPr/>
                    <a:lstStyle/>
                    <a:p>
                      <a:r>
                        <a:rPr sz="1800" b="1">
                          <a:solidFill>
                            <a:srgbClr val="0D201B"/>
                          </a:solidFill>
                          <a:latin typeface="Arial"/>
                          <a:ea typeface="Arial"/>
                          <a:cs typeface="Arial"/>
                        </a:rPr>
                        <a:t>Следующий шаг</a:t>
                      </a:r>
                    </a:p>
                  </a:txBody>
                  <a:tcPr marL="133350" marR="133350" marT="95250" marB="95250">
                    <a:solidFill>
                      <a:srgbClr val="D8F77B"/>
                    </a:solidFill>
                  </a:tcPr>
                </a:tc>
              </a:tr>
              <a:tr h="685800">
                <a:tc>
                  <a:txBody>
                    <a:bodyPr/>
                    <a:lstStyle/>
                    <a:p>
                      <a:r>
                        <a:rPr sz="1800">
                          <a:solidFill>
                            <a:srgbClr val="F3F1E9"/>
                          </a:solidFill>
                          <a:latin typeface="Arial"/>
                          <a:ea typeface="Arial"/>
                          <a:cs typeface="Arial"/>
                        </a:rPr>
                        <a:t>Импорт журналов и витрина признаков</a:t>
                      </a:r>
                    </a:p>
                  </a:txBody>
                  <a:tcPr marL="133350" marR="133350" marT="95250" marB="95250">
                    <a:solidFill>
                      <a:srgbClr val="0D201B"/>
                    </a:solidFill>
                  </a:tcPr>
                </a:tc>
                <a:tc>
                  <a:txBody>
                    <a:bodyPr/>
                    <a:lstStyle/>
                    <a:p>
                      <a:r>
                        <a:rPr sz="1800">
                          <a:solidFill>
                            <a:srgbClr val="F3F1E9"/>
                          </a:solidFill>
                          <a:latin typeface="Arial"/>
                          <a:ea typeface="Arial"/>
                          <a:cs typeface="Arial"/>
                        </a:rPr>
                        <a:t>Стабильная ежедневная загрузка</a:t>
                      </a:r>
                    </a:p>
                  </a:txBody>
                  <a:tcPr marL="133350" marR="133350" marT="95250" marB="95250">
                    <a:solidFill>
                      <a:srgbClr val="0D201B"/>
                    </a:solidFill>
                  </a:tcPr>
                </a:tc>
              </a:tr>
              <a:tr h="685800">
                <a:tc>
                  <a:txBody>
                    <a:bodyPr/>
                    <a:lstStyle/>
                    <a:p>
                      <a:r>
                        <a:rPr sz="1800">
                          <a:solidFill>
                            <a:srgbClr val="F3F1E9"/>
                          </a:solidFill>
                          <a:latin typeface="Arial"/>
                          <a:ea typeface="Arial"/>
                          <a:cs typeface="Arial"/>
                        </a:rPr>
                        <a:t>API, роли и история заявок</a:t>
                      </a:r>
                    </a:p>
                  </a:txBody>
                  <a:tcPr marL="133350" marR="133350" marT="95250" marB="95250">
                    <a:solidFill>
                      <a:srgbClr val="0D201B"/>
                    </a:solidFill>
                  </a:tcPr>
                </a:tc>
                <a:tc>
                  <a:txBody>
                    <a:bodyPr/>
                    <a:lstStyle/>
                    <a:p>
                      <a:r>
                        <a:rPr sz="1800">
                          <a:solidFill>
                            <a:srgbClr val="F3F1E9"/>
                          </a:solidFill>
                          <a:latin typeface="Arial"/>
                          <a:ea typeface="Arial"/>
                          <a:cs typeface="Arial"/>
                        </a:rPr>
                        <a:t>Интеграция с рабочей системой заказчика</a:t>
                      </a:r>
                    </a:p>
                  </a:txBody>
                  <a:tcPr marL="133350" marR="133350" marT="95250" marB="95250">
                    <a:solidFill>
                      <a:srgbClr val="0D201B"/>
                    </a:solidFill>
                  </a:tcPr>
                </a:tc>
              </a:tr>
              <a:tr h="685800">
                <a:tc>
                  <a:txBody>
                    <a:bodyPr/>
                    <a:lstStyle/>
                    <a:p>
                      <a:r>
                        <a:rPr sz="1800">
                          <a:solidFill>
                            <a:srgbClr val="F3F1E9"/>
                          </a:solidFill>
                          <a:latin typeface="Arial"/>
                          <a:ea typeface="Arial"/>
                          <a:cs typeface="Arial"/>
                        </a:rPr>
                        <a:t>Прототип очереди и решений</a:t>
                      </a:r>
                    </a:p>
                  </a:txBody>
                  <a:tcPr marL="133350" marR="133350" marT="95250" marB="95250">
                    <a:solidFill>
                      <a:srgbClr val="0D201B"/>
                    </a:solidFill>
                  </a:tcPr>
                </a:tc>
                <a:tc>
                  <a:txBody>
                    <a:bodyPr/>
                    <a:lstStyle/>
                    <a:p>
                      <a:r>
                        <a:rPr sz="1800">
                          <a:solidFill>
                            <a:srgbClr val="F3F1E9"/>
                          </a:solidFill>
                          <a:latin typeface="Arial"/>
                          <a:ea typeface="Arial"/>
                          <a:cs typeface="Arial"/>
                        </a:rPr>
                        <a:t>Результаты осмотров как обратная связь</a:t>
                      </a:r>
                    </a:p>
                  </a:txBody>
                  <a:tcPr marL="133350" marR="133350" marT="95250" marB="95250">
                    <a:solidFill>
                      <a:srgbClr val="0D201B"/>
                    </a:solidFill>
                  </a:tcPr>
                </a:tc>
              </a:tr>
              <a:tr h="685800">
                <a:tc>
                  <a:txBody>
                    <a:bodyPr/>
                    <a:lstStyle/>
                    <a:p>
                      <a:r>
                        <a:rPr sz="1800">
                          <a:solidFill>
                            <a:srgbClr val="F3F1E9"/>
                          </a:solidFill>
                          <a:latin typeface="Arial"/>
                          <a:ea typeface="Arial"/>
                          <a:cs typeface="Arial"/>
                        </a:rPr>
                        <a:t>OOF-оценка ансамбля и сохранённые прогнозы</a:t>
                      </a:r>
                    </a:p>
                  </a:txBody>
                  <a:tcPr marL="133350" marR="133350" marT="95250" marB="95250">
                    <a:solidFill>
                      <a:srgbClr val="0D201B"/>
                    </a:solidFill>
                  </a:tcPr>
                </a:tc>
                <a:tc>
                  <a:txBody>
                    <a:bodyPr/>
                    <a:lstStyle/>
                    <a:p>
                      <a:r>
                        <a:rPr sz="1800">
                          <a:solidFill>
                            <a:srgbClr val="F3F1E9"/>
                          </a:solidFill>
                          <a:latin typeface="Arial"/>
                          <a:ea typeface="Arial"/>
                          <a:cs typeface="Arial"/>
                        </a:rPr>
                        <a:t>Воспроизведение инференса и новый закрытый тест</a:t>
                      </a:r>
                    </a:p>
                  </a:txBody>
                  <a:tcPr marL="133350" marR="133350" marT="95250" marB="95250">
                    <a:solidFill>
                      <a:srgbClr val="0D201B"/>
                    </a:solidFill>
                  </a:tcPr>
                </a:tc>
              </a:tr>
            </a:tbl>
          </a:graphicData>
        </a:graphic>
      </p:graphicFrame>
      <p:sp>
        <p:nvSpPr>
          <p:cNvPr id="3" name="">
            <a:extLst xmlns:a="http://schemas.openxmlformats.org/drawingml/2006/main">
              <a:ext uri="{FF2B5EF4-FFF2-40B4-BE49-F238E27FC236}">
                <a16:creationId xmlns:a16="http://schemas.microsoft.com/office/drawing/2014/main" id="{B089CA74-4083-44F5-86C0-488D0528E0AC}"/>
              </a:ext>
            </a:extLst>
          </p:cNvPr>
          <p:cNvSpPr>
            <a:spLocks xmlns:a="http://schemas.openxmlformats.org/drawingml/2006/main" noGrp="1"/>
          </p:cNvSpPr>
          <p:nvPr/>
        </p:nvSpPr>
        <p:spPr>
          <a:xfrm xmlns:a="http://schemas.openxmlformats.org/drawingml/2006/main">
            <a:off x="609600" y="6305550"/>
            <a:ext cx="10648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2958A"/>
                </a:solidFill>
                <a:latin typeface="Arial"/>
                <a:ea typeface="Arial"/>
                <a:cs typeface="Arial"/>
              </a:defRPr>
            </a:pPr>
            <a:r>
              <a:rPr sz="1200" b="0">
                <a:solidFill>
                  <a:srgbClr val="82958A"/>
                </a:solidFill>
                <a:latin typeface="Arial"/>
                <a:ea typeface="Arial"/>
                <a:cs typeface="Arial"/>
              </a:rPr>
              <a:t>Критерий внедрения: прирост полезных проверок на новом периоде при согласованном лимите выездов.</a:t>
            </a:r>
          </a:p>
        </p:txBody>
      </p:sp>
      <p:sp>
        <p:nvSpPr>
          <p:cNvPr id="4" name="">
            <a:extLst xmlns:a="http://schemas.openxmlformats.org/drawingml/2006/main">
              <a:ext uri="{FF2B5EF4-FFF2-40B4-BE49-F238E27FC236}">
                <a16:creationId xmlns:a16="http://schemas.microsoft.com/office/drawing/2014/main" id="{3202D9DA-3B5C-4685-94AB-C1BA1662B52D}"/>
              </a:ext>
            </a:extLst>
          </p:cNvPr>
          <p:cNvSpPr>
            <a:spLocks xmlns:a="http://schemas.openxmlformats.org/drawingml/2006/main" noGrp="1"/>
          </p:cNvSpPr>
          <p:nvPr/>
        </p:nvSpPr>
        <p:spPr>
          <a:xfrm xmlns:a="http://schemas.openxmlformats.org/drawingml/2006/main">
            <a:off x="11334750" y="63150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2958A"/>
                </a:solidFill>
                <a:latin typeface="Arial"/>
                <a:ea typeface="Arial"/>
                <a:cs typeface="Arial"/>
              </a:defRPr>
            </a:pPr>
            <a:r>
              <a:rPr sz="1275" b="0">
                <a:solidFill>
                  <a:srgbClr val="82958A"/>
                </a:solidFill>
                <a:latin typeface="Arial"/>
                <a:ea typeface="Arial"/>
                <a:cs typeface="Arial"/>
              </a:rPr>
              <a:t>16</a:t>
            </a:r>
          </a:p>
        </p:txBody>
      </p:sp>
    </p:spTree>
    <p:extLst>
      <p:ext uri="{BB962C8B-B14F-4D97-AF65-F5344CB8AC3E}">
        <p14:creationId xmlns:p14="http://schemas.microsoft.com/office/powerpoint/2010/main" val="316007379"/>
      </p:ext>
    </p:extLst>
  </p:cSld>
</p:sld>
</file>

<file path=ppt/slides/slide17.xml><?xml version="1.0" encoding="utf-8"?>
<p:sld xmlns:p="http://schemas.openxmlformats.org/presentationml/2006/main">
  <p:cSld>
    <p:bg>
      <p:bgPr>
        <a:solidFill xmlns:a="http://schemas.openxmlformats.org/drawingml/2006/main">
          <a:srgbClr val="0D201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1DDF85-099F-4BB1-A016-8F6620C39E72}"/>
              </a:ext>
            </a:extLst>
          </p:cNvPr>
          <p:cNvSpPr>
            <a:spLocks xmlns:a="http://schemas.openxmlformats.org/drawingml/2006/main" noGrp="1"/>
          </p:cNvSpPr>
          <p:nvPr/>
        </p:nvSpPr>
        <p:spPr>
          <a:xfrm xmlns:a="http://schemas.openxmlformats.org/drawingml/2006/main">
            <a:off x="609600" y="4000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Вероятность повторного инцидента</a:t>
            </a:r>
          </a:p>
        </p:txBody>
      </p:sp>
      <p:sp>
        <p:nvSpPr>
          <p:cNvPr id="2" name="">
            <a:extLst xmlns:a="http://schemas.openxmlformats.org/drawingml/2006/main">
              <a:ext uri="{FF2B5EF4-FFF2-40B4-BE49-F238E27FC236}">
                <a16:creationId xmlns:a16="http://schemas.microsoft.com/office/drawing/2014/main" id="{2451A6B6-B4D7-41A4-96C8-700B7ACA16F0}"/>
              </a:ext>
            </a:extLst>
          </p:cNvPr>
          <p:cNvSpPr>
            <a:spLocks xmlns:a="http://schemas.openxmlformats.org/drawingml/2006/main" noGrp="1"/>
          </p:cNvSpPr>
          <p:nvPr/>
        </p:nvSpPr>
        <p:spPr>
          <a:xfrm xmlns:a="http://schemas.openxmlformats.org/drawingml/2006/main">
            <a:off x="638175" y="1847850"/>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D8F77B"/>
                </a:solidFill>
                <a:latin typeface="Arial"/>
                <a:ea typeface="Arial"/>
                <a:cs typeface="Arial"/>
              </a:defRPr>
            </a:pPr>
            <a:r>
              <a:rPr sz="2325" b="1">
                <a:solidFill>
                  <a:srgbClr val="D8F77B"/>
                </a:solidFill>
                <a:latin typeface="Arial"/>
                <a:ea typeface="Arial"/>
                <a:cs typeface="Arial"/>
              </a:rPr>
              <a:t>Условие: после прошлого сбоя прошло a дней</a:t>
            </a:r>
          </a:p>
        </p:txBody>
      </p:sp>
      <p:sp>
        <p:nvSpPr>
          <p:cNvPr id="3" name="">
            <a:extLst xmlns:a="http://schemas.openxmlformats.org/drawingml/2006/main">
              <a:ext uri="{FF2B5EF4-FFF2-40B4-BE49-F238E27FC236}">
                <a16:creationId xmlns:a16="http://schemas.microsoft.com/office/drawing/2014/main" id="{CAE9A360-6985-4CCF-A2C4-4A354214ADC5}"/>
              </a:ext>
            </a:extLst>
          </p:cNvPr>
          <p:cNvSpPr>
            <a:spLocks xmlns:a="http://schemas.openxmlformats.org/drawingml/2006/main" noGrp="1"/>
          </p:cNvSpPr>
          <p:nvPr/>
        </p:nvSpPr>
        <p:spPr>
          <a:xfrm xmlns:a="http://schemas.openxmlformats.org/drawingml/2006/main">
            <a:off x="647700" y="275272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3F1E9"/>
                </a:solidFill>
                <a:latin typeface="Arial"/>
                <a:ea typeface="Arial"/>
                <a:cs typeface="Arial"/>
              </a:defRPr>
            </a:pPr>
            <a:r>
              <a:rPr sz="3000" b="1">
                <a:solidFill>
                  <a:srgbClr val="F3F1E9"/>
                </a:solidFill>
                <a:latin typeface="Arial"/>
                <a:ea typeface="Arial"/>
                <a:cs typeface="Arial"/>
              </a:rPr>
              <a:t>P(a + 1 &lt; T ≤ a + 15 ∣ T &gt; a, H_D)</a:t>
            </a:r>
          </a:p>
        </p:txBody>
      </p:sp>
      <p:sp>
        <p:nvSpPr>
          <p:cNvPr id="4" name="">
            <a:extLst xmlns:a="http://schemas.openxmlformats.org/drawingml/2006/main">
              <a:ext uri="{FF2B5EF4-FFF2-40B4-BE49-F238E27FC236}">
                <a16:creationId xmlns:a16="http://schemas.microsoft.com/office/drawing/2014/main" id="{3F65240C-9990-4E5F-B650-4F93A3C39590}"/>
              </a:ext>
            </a:extLst>
          </p:cNvPr>
          <p:cNvSpPr>
            <a:spLocks xmlns:a="http://schemas.openxmlformats.org/drawingml/2006/main" noGrp="1"/>
          </p:cNvSpPr>
          <p:nvPr/>
        </p:nvSpPr>
        <p:spPr>
          <a:xfrm xmlns:a="http://schemas.openxmlformats.org/drawingml/2006/main">
            <a:off x="647700" y="35814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3F1E9"/>
                </a:solidFill>
                <a:latin typeface="Arial"/>
                <a:ea typeface="Arial"/>
                <a:cs typeface="Arial"/>
              </a:defRPr>
            </a:pPr>
            <a:r>
              <a:rPr sz="2775" b="1">
                <a:solidFill>
                  <a:srgbClr val="F3F1E9"/>
                </a:solidFill>
                <a:latin typeface="Arial"/>
                <a:ea typeface="Arial"/>
                <a:cs typeface="Arial"/>
              </a:rPr>
              <a:t>= [F_D(a + 15) − F_D(a + 1)] / [1 − F_D(a)]</a:t>
            </a:r>
          </a:p>
        </p:txBody>
      </p:sp>
      <p:sp>
        <p:nvSpPr>
          <p:cNvPr id="5" name="">
            <a:extLst xmlns:a="http://schemas.openxmlformats.org/drawingml/2006/main">
              <a:ext uri="{FF2B5EF4-FFF2-40B4-BE49-F238E27FC236}">
                <a16:creationId xmlns:a16="http://schemas.microsoft.com/office/drawing/2014/main" id="{4E200ECB-3372-4978-8A84-832303B33651}"/>
              </a:ext>
            </a:extLst>
          </p:cNvPr>
          <p:cNvSpPr>
            <a:spLocks xmlns:a="http://schemas.openxmlformats.org/drawingml/2006/main" noGrp="1"/>
          </p:cNvSpPr>
          <p:nvPr/>
        </p:nvSpPr>
        <p:spPr>
          <a:xfrm xmlns:a="http://schemas.openxmlformats.org/drawingml/2006/main">
            <a:off x="666750" y="4867275"/>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7DFD6"/>
                </a:solidFill>
                <a:latin typeface="Arial"/>
                <a:ea typeface="Arial"/>
                <a:cs typeface="Arial"/>
              </a:defRPr>
            </a:pPr>
            <a:r>
              <a:rPr sz="2100" b="0">
                <a:solidFill>
                  <a:srgbClr val="D7DFD6"/>
                </a:solidFill>
                <a:latin typeface="Arial"/>
                <a:ea typeface="Arial"/>
                <a:cs typeface="Arial"/>
              </a:rPr>
              <a:t>При короткой истории вероятность сжимается множителем n / (n + 3).</a:t>
            </a:r>
          </a:p>
          <a:p xmlns:a="http://schemas.openxmlformats.org/drawingml/2006/main">
            <a:pPr>
              <a:defRPr sz="2100" b="0">
                <a:solidFill>
                  <a:srgbClr val="D7DFD6"/>
                </a:solidFill>
                <a:latin typeface="Arial"/>
                <a:ea typeface="Arial"/>
                <a:cs typeface="Arial"/>
              </a:defRPr>
            </a:pPr>
            <a:r>
              <a:rPr sz="2100" b="0">
                <a:solidFill>
                  <a:srgbClr val="D7DFD6"/>
                </a:solidFill>
                <a:latin typeface="Arial"/>
                <a:ea typeface="Arial"/>
                <a:cs typeface="Arial"/>
              </a:rPr>
              <a:t>Модель получает фазу цикла, разброс интервалов и недавний фон сети.</a:t>
            </a:r>
          </a:p>
        </p:txBody>
      </p:sp>
      <p:sp>
        <p:nvSpPr>
          <p:cNvPr id="6" name="">
            <a:extLst xmlns:a="http://schemas.openxmlformats.org/drawingml/2006/main">
              <a:ext uri="{FF2B5EF4-FFF2-40B4-BE49-F238E27FC236}">
                <a16:creationId xmlns:a16="http://schemas.microsoft.com/office/drawing/2014/main" id="{552DA118-70F8-4E50-82DC-ED8731B8E8AA}"/>
              </a:ext>
            </a:extLst>
          </p:cNvPr>
          <p:cNvSpPr>
            <a:spLocks xmlns:a="http://schemas.openxmlformats.org/drawingml/2006/main" noGrp="1"/>
          </p:cNvSpPr>
          <p:nvPr/>
        </p:nvSpPr>
        <p:spPr>
          <a:xfrm xmlns:a="http://schemas.openxmlformats.org/drawingml/2006/main">
            <a:off x="609600" y="6305550"/>
            <a:ext cx="10648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2958A"/>
                </a:solidFill>
                <a:latin typeface="Arial"/>
                <a:ea typeface="Arial"/>
                <a:cs typeface="Arial"/>
              </a:defRPr>
            </a:pPr>
            <a:r>
              <a:rPr sz="1200" b="0">
                <a:solidFill>
                  <a:srgbClr val="82958A"/>
                </a:solidFill>
                <a:latin typeface="Arial"/>
                <a:ea typeface="Arial"/>
                <a:cs typeface="Arial"/>
              </a:rPr>
              <a:t>H_D содержит только наблюдения на дату D. Цель: различить повторный риск и случайный всплеск.</a:t>
            </a:r>
          </a:p>
        </p:txBody>
      </p:sp>
      <p:sp>
        <p:nvSpPr>
          <p:cNvPr id="7" name="">
            <a:extLst xmlns:a="http://schemas.openxmlformats.org/drawingml/2006/main">
              <a:ext uri="{FF2B5EF4-FFF2-40B4-BE49-F238E27FC236}">
                <a16:creationId xmlns:a16="http://schemas.microsoft.com/office/drawing/2014/main" id="{F471D902-8DA9-4380-A0EF-67F7329FB8F8}"/>
              </a:ext>
            </a:extLst>
          </p:cNvPr>
          <p:cNvSpPr>
            <a:spLocks xmlns:a="http://schemas.openxmlformats.org/drawingml/2006/main" noGrp="1"/>
          </p:cNvSpPr>
          <p:nvPr/>
        </p:nvSpPr>
        <p:spPr>
          <a:xfrm xmlns:a="http://schemas.openxmlformats.org/drawingml/2006/main">
            <a:off x="11334750" y="63150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2958A"/>
                </a:solidFill>
                <a:latin typeface="Arial"/>
                <a:ea typeface="Arial"/>
                <a:cs typeface="Arial"/>
              </a:defRPr>
            </a:pPr>
            <a:r>
              <a:rPr sz="1275" b="0">
                <a:solidFill>
                  <a:srgbClr val="82958A"/>
                </a:solidFill>
                <a:latin typeface="Arial"/>
                <a:ea typeface="Arial"/>
                <a:cs typeface="Arial"/>
              </a:rPr>
              <a:t>17</a:t>
            </a:r>
          </a:p>
        </p:txBody>
      </p:sp>
    </p:spTree>
    <p:extLst>
      <p:ext uri="{BB962C8B-B14F-4D97-AF65-F5344CB8AC3E}">
        <p14:creationId xmlns:p14="http://schemas.microsoft.com/office/powerpoint/2010/main" val="1177473365"/>
      </p:ext>
    </p:extLst>
  </p:cSld>
</p:sld>
</file>

<file path=ppt/slides/slide18.xml><?xml version="1.0" encoding="utf-8"?>
<p:sld xmlns:p="http://schemas.openxmlformats.org/presentationml/2006/main">
  <p:cSld>
    <p:bg>
      <p:bgPr>
        <a:solidFill xmlns:a="http://schemas.openxmlformats.org/drawingml/2006/main">
          <a:srgbClr val="0D201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BBF60E-314C-4F55-809E-D90402838430}"/>
              </a:ext>
            </a:extLst>
          </p:cNvPr>
          <p:cNvSpPr>
            <a:spLocks xmlns:a="http://schemas.openxmlformats.org/drawingml/2006/main" noGrp="1"/>
          </p:cNvSpPr>
          <p:nvPr/>
        </p:nvSpPr>
        <p:spPr>
          <a:xfrm xmlns:a="http://schemas.openxmlformats.org/drawingml/2006/main">
            <a:off x="609600" y="4000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3F1E9"/>
                </a:solidFill>
                <a:latin typeface="Arial"/>
                <a:ea typeface="Arial"/>
                <a:cs typeface="Arial"/>
              </a:defRPr>
            </a:pPr>
            <a:r>
              <a:rPr sz="3600" b="1">
                <a:solidFill>
                  <a:srgbClr val="F3F1E9"/>
                </a:solidFill>
                <a:latin typeface="Arial"/>
                <a:ea typeface="Arial"/>
                <a:cs typeface="Arial"/>
              </a:rPr>
              <a:t>Точность и полнота: цена режима</a:t>
            </a:r>
          </a:p>
        </p:txBody>
      </p:sp>
      <p:graphicFrame>
        <p:nvGraphicFramePr>
          <p:cNvPr id="7" name=""/>
          <p:cNvGraphicFramePr/>
          <p:nvPr/>
        </p:nvGraphicFramePr>
        <p:xfrm>
          <a:off xmlns:a="http://schemas.openxmlformats.org/drawingml/2006/main" x="609600" y="1819275"/>
          <a:ext xmlns:a="http://schemas.openxmlformats.org/drawingml/2006/main" cx="10972800" cy="3143250"/>
        </p:xfrm>
        <a:graphic xmlns:a="http://schemas.openxmlformats.org/drawingml/2006/main">
          <a:graphicData uri="http://schemas.openxmlformats.org/drawingml/2006/table">
            <a:tbl>
              <a:tblPr/>
              <a:tblGrid>
                <a:gridCol w="5295900"/>
                <a:gridCol w="1047750"/>
                <a:gridCol w="1047750"/>
                <a:gridCol w="1790700"/>
                <a:gridCol w="1790700"/>
              </a:tblGrid>
              <a:tr h="628650">
                <a:tc>
                  <a:txBody>
                    <a:bodyPr/>
                    <a:lstStyle/>
                    <a:p>
                      <a:r>
                        <a:rPr sz="1800" b="1">
                          <a:solidFill>
                            <a:srgbClr val="0D201B"/>
                          </a:solidFill>
                          <a:latin typeface="Arial"/>
                          <a:ea typeface="Arial"/>
                          <a:cs typeface="Arial"/>
                        </a:rPr>
                        <a:t>Режим</a:t>
                      </a:r>
                    </a:p>
                  </a:txBody>
                  <a:tcPr marL="133350" marR="133350" marT="95250" marB="95250">
                    <a:solidFill>
                      <a:srgbClr val="D8F77B"/>
                    </a:solidFill>
                  </a:tcPr>
                </a:tc>
                <a:tc>
                  <a:txBody>
                    <a:bodyPr/>
                    <a:lstStyle/>
                    <a:p>
                      <a:r>
                        <a:rPr sz="1800" b="1">
                          <a:solidFill>
                            <a:srgbClr val="0D201B"/>
                          </a:solidFill>
                          <a:latin typeface="Arial"/>
                          <a:ea typeface="Arial"/>
                          <a:cs typeface="Arial"/>
                        </a:rPr>
                        <a:t>TP</a:t>
                      </a:r>
                    </a:p>
                  </a:txBody>
                  <a:tcPr marL="133350" marR="133350" marT="95250" marB="95250">
                    <a:solidFill>
                      <a:srgbClr val="D8F77B"/>
                    </a:solidFill>
                  </a:tcPr>
                </a:tc>
                <a:tc>
                  <a:txBody>
                    <a:bodyPr/>
                    <a:lstStyle/>
                    <a:p>
                      <a:r>
                        <a:rPr sz="1800" b="1">
                          <a:solidFill>
                            <a:srgbClr val="0D201B"/>
                          </a:solidFill>
                          <a:latin typeface="Arial"/>
                          <a:ea typeface="Arial"/>
                          <a:cs typeface="Arial"/>
                        </a:rPr>
                        <a:t>FP</a:t>
                      </a:r>
                    </a:p>
                  </a:txBody>
                  <a:tcPr marL="133350" marR="133350" marT="95250" marB="95250">
                    <a:solidFill>
                      <a:srgbClr val="D8F77B"/>
                    </a:solidFill>
                  </a:tcPr>
                </a:tc>
                <a:tc>
                  <a:txBody>
                    <a:bodyPr/>
                    <a:lstStyle/>
                    <a:p>
                      <a:r>
                        <a:rPr sz="1800" b="1">
                          <a:solidFill>
                            <a:srgbClr val="0D201B"/>
                          </a:solidFill>
                          <a:latin typeface="Arial"/>
                          <a:ea typeface="Arial"/>
                          <a:cs typeface="Arial"/>
                        </a:rPr>
                        <a:t>Precision</a:t>
                      </a:r>
                    </a:p>
                  </a:txBody>
                  <a:tcPr marL="133350" marR="133350" marT="95250" marB="95250">
                    <a:solidFill>
                      <a:srgbClr val="D8F77B"/>
                    </a:solidFill>
                  </a:tcPr>
                </a:tc>
                <a:tc>
                  <a:txBody>
                    <a:bodyPr/>
                    <a:lstStyle/>
                    <a:p>
                      <a:r>
                        <a:rPr sz="1800" b="1">
                          <a:solidFill>
                            <a:srgbClr val="0D201B"/>
                          </a:solidFill>
                          <a:latin typeface="Arial"/>
                          <a:ea typeface="Arial"/>
                          <a:cs typeface="Arial"/>
                        </a:rPr>
                        <a:t>Recall</a:t>
                      </a:r>
                    </a:p>
                  </a:txBody>
                  <a:tcPr marL="133350" marR="133350" marT="95250" marB="95250">
                    <a:solidFill>
                      <a:srgbClr val="D8F77B"/>
                    </a:solidFill>
                  </a:tcPr>
                </a:tc>
              </a:tr>
              <a:tr h="628650">
                <a:tc>
                  <a:txBody>
                    <a:bodyPr/>
                    <a:lstStyle/>
                    <a:p>
                      <a:r>
                        <a:rPr sz="1800">
                          <a:solidFill>
                            <a:srgbClr val="F3F1E9"/>
                          </a:solidFill>
                          <a:latin typeface="Arial"/>
                          <a:ea typeface="Arial"/>
                          <a:cs typeface="Arial"/>
                        </a:rPr>
                        <a:t>Исходный LightGBM</a:t>
                      </a:r>
                    </a:p>
                  </a:txBody>
                  <a:tcPr marL="133350" marR="133350" marT="95250" marB="95250">
                    <a:solidFill>
                      <a:srgbClr val="0D201B"/>
                    </a:solidFill>
                  </a:tcPr>
                </a:tc>
                <a:tc>
                  <a:txBody>
                    <a:bodyPr/>
                    <a:lstStyle/>
                    <a:p>
                      <a:r>
                        <a:rPr sz="1800">
                          <a:solidFill>
                            <a:srgbClr val="F3F1E9"/>
                          </a:solidFill>
                          <a:latin typeface="Arial"/>
                          <a:ea typeface="Arial"/>
                          <a:cs typeface="Arial"/>
                        </a:rPr>
                        <a:t>9</a:t>
                      </a:r>
                    </a:p>
                  </a:txBody>
                  <a:tcPr marL="133350" marR="133350" marT="95250" marB="95250">
                    <a:solidFill>
                      <a:srgbClr val="0D201B"/>
                    </a:solidFill>
                  </a:tcPr>
                </a:tc>
                <a:tc>
                  <a:txBody>
                    <a:bodyPr/>
                    <a:lstStyle/>
                    <a:p>
                      <a:r>
                        <a:rPr sz="1800">
                          <a:solidFill>
                            <a:srgbClr val="F3F1E9"/>
                          </a:solidFill>
                          <a:latin typeface="Arial"/>
                          <a:ea typeface="Arial"/>
                          <a:cs typeface="Arial"/>
                        </a:rPr>
                        <a:t>12</a:t>
                      </a:r>
                    </a:p>
                  </a:txBody>
                  <a:tcPr marL="133350" marR="133350" marT="95250" marB="95250">
                    <a:solidFill>
                      <a:srgbClr val="0D201B"/>
                    </a:solidFill>
                  </a:tcPr>
                </a:tc>
                <a:tc>
                  <a:txBody>
                    <a:bodyPr/>
                    <a:lstStyle/>
                    <a:p>
                      <a:r>
                        <a:rPr sz="1800">
                          <a:solidFill>
                            <a:srgbClr val="F3F1E9"/>
                          </a:solidFill>
                          <a:latin typeface="Arial"/>
                          <a:ea typeface="Arial"/>
                          <a:cs typeface="Arial"/>
                        </a:rPr>
                        <a:t>42,9%</a:t>
                      </a:r>
                    </a:p>
                  </a:txBody>
                  <a:tcPr marL="133350" marR="133350" marT="95250" marB="95250">
                    <a:solidFill>
                      <a:srgbClr val="0D201B"/>
                    </a:solidFill>
                  </a:tcPr>
                </a:tc>
                <a:tc>
                  <a:txBody>
                    <a:bodyPr/>
                    <a:lstStyle/>
                    <a:p>
                      <a:r>
                        <a:rPr sz="1800">
                          <a:solidFill>
                            <a:srgbClr val="F3F1E9"/>
                          </a:solidFill>
                          <a:latin typeface="Arial"/>
                          <a:ea typeface="Arial"/>
                          <a:cs typeface="Arial"/>
                        </a:rPr>
                        <a:t>40,9%</a:t>
                      </a:r>
                    </a:p>
                  </a:txBody>
                  <a:tcPr marL="133350" marR="133350" marT="95250" marB="95250">
                    <a:solidFill>
                      <a:srgbClr val="0D201B"/>
                    </a:solidFill>
                  </a:tcPr>
                </a:tc>
              </a:tr>
              <a:tr h="628650">
                <a:tc>
                  <a:txBody>
                    <a:bodyPr/>
                    <a:lstStyle/>
                    <a:p>
                      <a:r>
                        <a:rPr sz="1800">
                          <a:solidFill>
                            <a:srgbClr val="F3F1E9"/>
                          </a:solidFill>
                          <a:latin typeface="Arial"/>
                          <a:ea typeface="Arial"/>
                          <a:cs typeface="Arial"/>
                        </a:rPr>
                        <a:t>Среднее 8 моделей</a:t>
                      </a:r>
                    </a:p>
                  </a:txBody>
                  <a:tcPr marL="133350" marR="133350" marT="95250" marB="95250">
                    <a:solidFill>
                      <a:srgbClr val="0D201B"/>
                    </a:solidFill>
                  </a:tcPr>
                </a:tc>
                <a:tc>
                  <a:txBody>
                    <a:bodyPr/>
                    <a:lstStyle/>
                    <a:p>
                      <a:r>
                        <a:rPr sz="1800">
                          <a:solidFill>
                            <a:srgbClr val="F3F1E9"/>
                          </a:solidFill>
                          <a:latin typeface="Arial"/>
                          <a:ea typeface="Arial"/>
                          <a:cs typeface="Arial"/>
                        </a:rPr>
                        <a:t>9</a:t>
                      </a:r>
                    </a:p>
                  </a:txBody>
                  <a:tcPr marL="133350" marR="133350" marT="95250" marB="95250">
                    <a:solidFill>
                      <a:srgbClr val="0D201B"/>
                    </a:solidFill>
                  </a:tcPr>
                </a:tc>
                <a:tc>
                  <a:txBody>
                    <a:bodyPr/>
                    <a:lstStyle/>
                    <a:p>
                      <a:r>
                        <a:rPr sz="1800">
                          <a:solidFill>
                            <a:srgbClr val="F3F1E9"/>
                          </a:solidFill>
                          <a:latin typeface="Arial"/>
                          <a:ea typeface="Arial"/>
                          <a:cs typeface="Arial"/>
                        </a:rPr>
                        <a:t>7</a:t>
                      </a:r>
                    </a:p>
                  </a:txBody>
                  <a:tcPr marL="133350" marR="133350" marT="95250" marB="95250">
                    <a:solidFill>
                      <a:srgbClr val="0D201B"/>
                    </a:solidFill>
                  </a:tcPr>
                </a:tc>
                <a:tc>
                  <a:txBody>
                    <a:bodyPr/>
                    <a:lstStyle/>
                    <a:p>
                      <a:r>
                        <a:rPr sz="1800">
                          <a:solidFill>
                            <a:srgbClr val="F3F1E9"/>
                          </a:solidFill>
                          <a:latin typeface="Arial"/>
                          <a:ea typeface="Arial"/>
                          <a:cs typeface="Arial"/>
                        </a:rPr>
                        <a:t>56,3%</a:t>
                      </a:r>
                    </a:p>
                  </a:txBody>
                  <a:tcPr marL="133350" marR="133350" marT="95250" marB="95250">
                    <a:solidFill>
                      <a:srgbClr val="0D201B"/>
                    </a:solidFill>
                  </a:tcPr>
                </a:tc>
                <a:tc>
                  <a:txBody>
                    <a:bodyPr/>
                    <a:lstStyle/>
                    <a:p>
                      <a:r>
                        <a:rPr sz="1800">
                          <a:solidFill>
                            <a:srgbClr val="F3F1E9"/>
                          </a:solidFill>
                          <a:latin typeface="Arial"/>
                          <a:ea typeface="Arial"/>
                          <a:cs typeface="Arial"/>
                        </a:rPr>
                        <a:t>40,9%</a:t>
                      </a:r>
                    </a:p>
                  </a:txBody>
                  <a:tcPr marL="133350" marR="133350" marT="95250" marB="95250">
                    <a:solidFill>
                      <a:srgbClr val="0D201B"/>
                    </a:solidFill>
                  </a:tcPr>
                </a:tc>
              </a:tr>
              <a:tr h="628650">
                <a:tc>
                  <a:txBody>
                    <a:bodyPr/>
                    <a:lstStyle/>
                    <a:p>
                      <a:r>
                        <a:rPr sz="1800">
                          <a:solidFill>
                            <a:srgbClr val="F3F1E9"/>
                          </a:solidFill>
                          <a:latin typeface="Arial"/>
                          <a:ea typeface="Arial"/>
                          <a:cs typeface="Arial"/>
                        </a:rPr>
                        <a:t>Среднее 18 моделей</a:t>
                      </a:r>
                    </a:p>
                  </a:txBody>
                  <a:tcPr marL="133350" marR="133350" marT="95250" marB="95250">
                    <a:solidFill>
                      <a:srgbClr val="0D201B"/>
                    </a:solidFill>
                  </a:tcPr>
                </a:tc>
                <a:tc>
                  <a:txBody>
                    <a:bodyPr/>
                    <a:lstStyle/>
                    <a:p>
                      <a:r>
                        <a:rPr sz="1800">
                          <a:solidFill>
                            <a:srgbClr val="F3F1E9"/>
                          </a:solidFill>
                          <a:latin typeface="Arial"/>
                          <a:ea typeface="Arial"/>
                          <a:cs typeface="Arial"/>
                        </a:rPr>
                        <a:t>11</a:t>
                      </a:r>
                    </a:p>
                  </a:txBody>
                  <a:tcPr marL="133350" marR="133350" marT="95250" marB="95250">
                    <a:solidFill>
                      <a:srgbClr val="0D201B"/>
                    </a:solidFill>
                  </a:tcPr>
                </a:tc>
                <a:tc>
                  <a:txBody>
                    <a:bodyPr/>
                    <a:lstStyle/>
                    <a:p>
                      <a:r>
                        <a:rPr sz="1800">
                          <a:solidFill>
                            <a:srgbClr val="F3F1E9"/>
                          </a:solidFill>
                          <a:latin typeface="Arial"/>
                          <a:ea typeface="Arial"/>
                          <a:cs typeface="Arial"/>
                        </a:rPr>
                        <a:t>13</a:t>
                      </a:r>
                    </a:p>
                  </a:txBody>
                  <a:tcPr marL="133350" marR="133350" marT="95250" marB="95250">
                    <a:solidFill>
                      <a:srgbClr val="0D201B"/>
                    </a:solidFill>
                  </a:tcPr>
                </a:tc>
                <a:tc>
                  <a:txBody>
                    <a:bodyPr/>
                    <a:lstStyle/>
                    <a:p>
                      <a:r>
                        <a:rPr sz="1800">
                          <a:solidFill>
                            <a:srgbClr val="F3F1E9"/>
                          </a:solidFill>
                          <a:latin typeface="Arial"/>
                          <a:ea typeface="Arial"/>
                          <a:cs typeface="Arial"/>
                        </a:rPr>
                        <a:t>45,8%</a:t>
                      </a:r>
                    </a:p>
                  </a:txBody>
                  <a:tcPr marL="133350" marR="133350" marT="95250" marB="95250">
                    <a:solidFill>
                      <a:srgbClr val="0D201B"/>
                    </a:solidFill>
                  </a:tcPr>
                </a:tc>
                <a:tc>
                  <a:txBody>
                    <a:bodyPr/>
                    <a:lstStyle/>
                    <a:p>
                      <a:r>
                        <a:rPr sz="1800">
                          <a:solidFill>
                            <a:srgbClr val="F3F1E9"/>
                          </a:solidFill>
                          <a:latin typeface="Arial"/>
                          <a:ea typeface="Arial"/>
                          <a:cs typeface="Arial"/>
                        </a:rPr>
                        <a:t>50,0%</a:t>
                      </a:r>
                    </a:p>
                  </a:txBody>
                  <a:tcPr marL="133350" marR="133350" marT="95250" marB="95250">
                    <a:solidFill>
                      <a:srgbClr val="0D201B"/>
                    </a:solidFill>
                  </a:tcPr>
                </a:tc>
              </a:tr>
              <a:tr h="628650">
                <a:tc>
                  <a:txBody>
                    <a:bodyPr/>
                    <a:lstStyle/>
                    <a:p>
                      <a:r>
                        <a:rPr sz="1800">
                          <a:solidFill>
                            <a:srgbClr val="F3F1E9"/>
                          </a:solidFill>
                          <a:latin typeface="Arial"/>
                          <a:ea typeface="Arial"/>
                          <a:cs typeface="Arial"/>
                        </a:rPr>
                        <a:t>Политика повторяемости</a:t>
                      </a:r>
                    </a:p>
                  </a:txBody>
                  <a:tcPr marL="133350" marR="133350" marT="95250" marB="95250">
                    <a:solidFill>
                      <a:srgbClr val="0D201B"/>
                    </a:solidFill>
                  </a:tcPr>
                </a:tc>
                <a:tc>
                  <a:txBody>
                    <a:bodyPr/>
                    <a:lstStyle/>
                    <a:p>
                      <a:r>
                        <a:rPr sz="1800">
                          <a:solidFill>
                            <a:srgbClr val="F3F1E9"/>
                          </a:solidFill>
                          <a:latin typeface="Arial"/>
                          <a:ea typeface="Arial"/>
                          <a:cs typeface="Arial"/>
                        </a:rPr>
                        <a:t>10</a:t>
                      </a:r>
                    </a:p>
                  </a:txBody>
                  <a:tcPr marL="133350" marR="133350" marT="95250" marB="95250">
                    <a:solidFill>
                      <a:srgbClr val="0D201B"/>
                    </a:solidFill>
                  </a:tcPr>
                </a:tc>
                <a:tc>
                  <a:txBody>
                    <a:bodyPr/>
                    <a:lstStyle/>
                    <a:p>
                      <a:r>
                        <a:rPr sz="1800">
                          <a:solidFill>
                            <a:srgbClr val="F3F1E9"/>
                          </a:solidFill>
                          <a:latin typeface="Arial"/>
                          <a:ea typeface="Arial"/>
                          <a:cs typeface="Arial"/>
                        </a:rPr>
                        <a:t>8</a:t>
                      </a:r>
                    </a:p>
                  </a:txBody>
                  <a:tcPr marL="133350" marR="133350" marT="95250" marB="95250">
                    <a:solidFill>
                      <a:srgbClr val="0D201B"/>
                    </a:solidFill>
                  </a:tcPr>
                </a:tc>
                <a:tc>
                  <a:txBody>
                    <a:bodyPr/>
                    <a:lstStyle/>
                    <a:p>
                      <a:r>
                        <a:rPr sz="1800">
                          <a:solidFill>
                            <a:srgbClr val="F3F1E9"/>
                          </a:solidFill>
                          <a:latin typeface="Arial"/>
                          <a:ea typeface="Arial"/>
                          <a:cs typeface="Arial"/>
                        </a:rPr>
                        <a:t>55,6%</a:t>
                      </a:r>
                    </a:p>
                  </a:txBody>
                  <a:tcPr marL="133350" marR="133350" marT="95250" marB="95250">
                    <a:solidFill>
                      <a:srgbClr val="0D201B"/>
                    </a:solidFill>
                  </a:tcPr>
                </a:tc>
                <a:tc>
                  <a:txBody>
                    <a:bodyPr/>
                    <a:lstStyle/>
                    <a:p>
                      <a:r>
                        <a:rPr sz="1800">
                          <a:solidFill>
                            <a:srgbClr val="F3F1E9"/>
                          </a:solidFill>
                          <a:latin typeface="Arial"/>
                          <a:ea typeface="Arial"/>
                          <a:cs typeface="Arial"/>
                        </a:rPr>
                        <a:t>45,5%</a:t>
                      </a:r>
                    </a:p>
                  </a:txBody>
                  <a:tcPr marL="133350" marR="133350" marT="95250" marB="95250">
                    <a:solidFill>
                      <a:srgbClr val="0D201B"/>
                    </a:solidFill>
                  </a:tcPr>
                </a:tc>
              </a:tr>
            </a:tbl>
          </a:graphicData>
        </a:graphic>
      </p:graphicFrame>
      <p:sp>
        <p:nvSpPr>
          <p:cNvPr id="3" name="">
            <a:extLst xmlns:a="http://schemas.openxmlformats.org/drawingml/2006/main">
              <a:ext uri="{FF2B5EF4-FFF2-40B4-BE49-F238E27FC236}">
                <a16:creationId xmlns:a16="http://schemas.microsoft.com/office/drawing/2014/main" id="{769FF710-A0A5-4762-9C39-C9E6B043DD11}"/>
              </a:ext>
            </a:extLst>
          </p:cNvPr>
          <p:cNvSpPr>
            <a:spLocks xmlns:a="http://schemas.openxmlformats.org/drawingml/2006/main" noGrp="1"/>
          </p:cNvSpPr>
          <p:nvPr/>
        </p:nvSpPr>
        <p:spPr>
          <a:xfrm xmlns:a="http://schemas.openxmlformats.org/drawingml/2006/main">
            <a:off x="704850" y="5419725"/>
            <a:ext cx="10725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8F77B"/>
                </a:solidFill>
                <a:latin typeface="Arial"/>
                <a:ea typeface="Arial"/>
                <a:cs typeface="Arial"/>
              </a:defRPr>
            </a:pPr>
            <a:r>
              <a:rPr sz="2550" b="1">
                <a:solidFill>
                  <a:srgbClr val="D8F77B"/>
                </a:solidFill>
                <a:latin typeface="Arial"/>
                <a:ea typeface="Arial"/>
                <a:cs typeface="Arial"/>
              </a:rPr>
              <a:t>Режим выбирается под допустимое число проверок.</a:t>
            </a:r>
          </a:p>
        </p:txBody>
      </p:sp>
      <p:sp>
        <p:nvSpPr>
          <p:cNvPr id="4" name="">
            <a:extLst xmlns:a="http://schemas.openxmlformats.org/drawingml/2006/main">
              <a:ext uri="{FF2B5EF4-FFF2-40B4-BE49-F238E27FC236}">
                <a16:creationId xmlns:a16="http://schemas.microsoft.com/office/drawing/2014/main" id="{DD3B8A86-592B-4487-B739-F46DD33DA12F}"/>
              </a:ext>
            </a:extLst>
          </p:cNvPr>
          <p:cNvSpPr>
            <a:spLocks xmlns:a="http://schemas.openxmlformats.org/drawingml/2006/main" noGrp="1"/>
          </p:cNvSpPr>
          <p:nvPr/>
        </p:nvSpPr>
        <p:spPr>
          <a:xfrm xmlns:a="http://schemas.openxmlformats.org/drawingml/2006/main">
            <a:off x="609600" y="6305550"/>
            <a:ext cx="10648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82958A"/>
                </a:solidFill>
                <a:latin typeface="Arial"/>
                <a:ea typeface="Arial"/>
                <a:cs typeface="Arial"/>
              </a:defRPr>
            </a:pPr>
            <a:r>
              <a:rPr sz="1200" b="0">
                <a:solidFill>
                  <a:srgbClr val="82958A"/>
                </a:solidFill>
                <a:latin typeface="Arial"/>
                <a:ea typeface="Arial"/>
                <a:cs typeface="Arial"/>
              </a:rPr>
              <a:t>Все строки относятся к одному периоду. Метрики разных вариантов нельзя объединять в одну пару.</a:t>
            </a:r>
          </a:p>
        </p:txBody>
      </p:sp>
      <p:sp>
        <p:nvSpPr>
          <p:cNvPr id="5" name="">
            <a:extLst xmlns:a="http://schemas.openxmlformats.org/drawingml/2006/main">
              <a:ext uri="{FF2B5EF4-FFF2-40B4-BE49-F238E27FC236}">
                <a16:creationId xmlns:a16="http://schemas.microsoft.com/office/drawing/2014/main" id="{E51E3075-3B1C-4D27-ACF7-53D293526F97}"/>
              </a:ext>
            </a:extLst>
          </p:cNvPr>
          <p:cNvSpPr>
            <a:spLocks xmlns:a="http://schemas.openxmlformats.org/drawingml/2006/main" noGrp="1"/>
          </p:cNvSpPr>
          <p:nvPr/>
        </p:nvSpPr>
        <p:spPr>
          <a:xfrm xmlns:a="http://schemas.openxmlformats.org/drawingml/2006/main">
            <a:off x="11334750" y="63150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82958A"/>
                </a:solidFill>
                <a:latin typeface="Arial"/>
                <a:ea typeface="Arial"/>
                <a:cs typeface="Arial"/>
              </a:defRPr>
            </a:pPr>
            <a:r>
              <a:rPr sz="1275" b="0">
                <a:solidFill>
                  <a:srgbClr val="82958A"/>
                </a:solidFill>
                <a:latin typeface="Arial"/>
                <a:ea typeface="Arial"/>
                <a:cs typeface="Arial"/>
              </a:rPr>
              <a:t>18</a:t>
            </a:r>
          </a:p>
        </p:txBody>
      </p:sp>
    </p:spTree>
    <p:extLst>
      <p:ext uri="{BB962C8B-B14F-4D97-AF65-F5344CB8AC3E}">
        <p14:creationId xmlns:p14="http://schemas.microsoft.com/office/powerpoint/2010/main" val="18142631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Бананчики</dc:creator>
  <lastModifiedBy>Бананчики</lastModifiedBy>
  <dc:title>ПИКЕТ / ЛЦТ 2026</dc:title>
  <dcterms:created xsi:type="dcterms:W3CDTF">2026-09-29T20:01:48.0680000Z</dcterms:created>
  <dcterms:modified xsi:type="dcterms:W3CDTF">2026-09-29T20:01:48.0680000Z</dcterms:modified>
</coreProperties>
</file>