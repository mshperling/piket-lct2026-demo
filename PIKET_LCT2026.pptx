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0a9910fa5c245b4" /><Relationship Type="http://schemas.openxmlformats.org/officeDocument/2006/relationships/extended-properties" Target="/docProps/app.xml" Id="R351fb85e324e4cde" /><Relationship Type="http://schemas.openxmlformats.org/officeDocument/2006/relationships/officeDocument" Target="/ppt/presentation.xml" Id="R31e7efbf54d54246" /></Relationships>
</file>

<file path=ppt/presentation.xml><?xml version="1.0" encoding="utf-8"?>
<p:presentation xmlns:p="http://schemas.openxmlformats.org/presentationml/2006/main">
  <p:sldMasterIdLst>
    <p:sldMasterId xmlns:r="http://schemas.openxmlformats.org/officeDocument/2006/relationships" id="2147483648" r:id="R97480d0ce3c74427"/>
  </p:sldMasterIdLst>
  <p:notesMasterIdLst>
    <p:notesMasterId xmlns:r="http://schemas.openxmlformats.org/officeDocument/2006/relationships" r:id="Rd84c1cb17e1f46a3"/>
  </p:notesMasterIdLst>
  <p:sldIdLst>
    <p:sldId xmlns:r="http://schemas.openxmlformats.org/officeDocument/2006/relationships" id="256" r:id="Rdcba67d177b040bd"/>
    <p:sldId xmlns:r="http://schemas.openxmlformats.org/officeDocument/2006/relationships" id="257" r:id="R312edcd10d424cbb"/>
    <p:sldId xmlns:r="http://schemas.openxmlformats.org/officeDocument/2006/relationships" id="258" r:id="Rb75c5bf32c294547"/>
    <p:sldId xmlns:r="http://schemas.openxmlformats.org/officeDocument/2006/relationships" id="259" r:id="Rbb5df38e4fbf4285"/>
    <p:sldId xmlns:r="http://schemas.openxmlformats.org/officeDocument/2006/relationships" id="260" r:id="R99df1c92a32e45ad"/>
    <p:sldId xmlns:r="http://schemas.openxmlformats.org/officeDocument/2006/relationships" id="261" r:id="R79ccee72e5044d89"/>
    <p:sldId xmlns:r="http://schemas.openxmlformats.org/officeDocument/2006/relationships" id="262" r:id="R33ce4878f31d494f"/>
    <p:sldId xmlns:r="http://schemas.openxmlformats.org/officeDocument/2006/relationships" id="263" r:id="R9c1e809a9f1c4e37"/>
    <p:sldId xmlns:r="http://schemas.openxmlformats.org/officeDocument/2006/relationships" id="264" r:id="Rea39c4b38b6f426e"/>
    <p:sldId xmlns:r="http://schemas.openxmlformats.org/officeDocument/2006/relationships" id="265" r:id="R705ae7c777494684"/>
    <p:sldId xmlns:r="http://schemas.openxmlformats.org/officeDocument/2006/relationships" id="266" r:id="Re1104e07a83f4bed"/>
    <p:sldId xmlns:r="http://schemas.openxmlformats.org/officeDocument/2006/relationships" id="267" r:id="Rb312cd4737014836"/>
    <p:sldId xmlns:r="http://schemas.openxmlformats.org/officeDocument/2006/relationships" id="268" r:id="R699fccdf87534402"/>
    <p:sldId xmlns:r="http://schemas.openxmlformats.org/officeDocument/2006/relationships" id="269" r:id="R1d8dbb68a557404a"/>
    <p:sldId xmlns:r="http://schemas.openxmlformats.org/officeDocument/2006/relationships" id="270" r:id="Ra10fc26ed7084284"/>
    <p:sldId xmlns:r="http://schemas.openxmlformats.org/officeDocument/2006/relationships" id="271" r:id="R88dbdee7ff284fdc"/>
    <p:sldId xmlns:r="http://schemas.openxmlformats.org/officeDocument/2006/relationships" id="272" r:id="R1b6f910600b94566"/>
    <p:sldId xmlns:r="http://schemas.openxmlformats.org/officeDocument/2006/relationships" id="273" r:id="R6ee2addd02d045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4d1ea2682d64dc7" /><Relationship Type="http://schemas.openxmlformats.org/officeDocument/2006/relationships/slideMaster" Target="/ppt/slideMasters/slideMaster1.xml" Id="R97480d0ce3c74427" /><Relationship Type="http://schemas.openxmlformats.org/officeDocument/2006/relationships/notesMaster" Target="/ppt/notesMasters/notesMaster1.xml" Id="Rd84c1cb17e1f46a3" /><Relationship Type="http://schemas.openxmlformats.org/officeDocument/2006/relationships/presProps" Target="/ppt/presProps.xml" Id="Re5af5d13630e44e3" /><Relationship Type="http://schemas.openxmlformats.org/officeDocument/2006/relationships/tableStyles" Target="/ppt/tableStyles.xml" Id="Rf68c24ce33384df2" /><Relationship Type="http://schemas.openxmlformats.org/officeDocument/2006/relationships/slide" Target="/ppt/slides/slide1.xml" Id="Rdcba67d177b040bd" /><Relationship Type="http://schemas.openxmlformats.org/officeDocument/2006/relationships/slide" Target="/ppt/slides/slide2.xml" Id="R312edcd10d424cbb" /><Relationship Type="http://schemas.openxmlformats.org/officeDocument/2006/relationships/slide" Target="/ppt/slides/slide3.xml" Id="Rb75c5bf32c294547" /><Relationship Type="http://schemas.openxmlformats.org/officeDocument/2006/relationships/slide" Target="/ppt/slides/slide4.xml" Id="Rbb5df38e4fbf4285" /><Relationship Type="http://schemas.openxmlformats.org/officeDocument/2006/relationships/slide" Target="/ppt/slides/slide5.xml" Id="R99df1c92a32e45ad" /><Relationship Type="http://schemas.openxmlformats.org/officeDocument/2006/relationships/slide" Target="/ppt/slides/slide6.xml" Id="R79ccee72e5044d89" /><Relationship Type="http://schemas.openxmlformats.org/officeDocument/2006/relationships/slide" Target="/ppt/slides/slide7.xml" Id="R33ce4878f31d494f" /><Relationship Type="http://schemas.openxmlformats.org/officeDocument/2006/relationships/slide" Target="/ppt/slides/slide8.xml" Id="R9c1e809a9f1c4e37" /><Relationship Type="http://schemas.openxmlformats.org/officeDocument/2006/relationships/slide" Target="/ppt/slides/slide9.xml" Id="Rea39c4b38b6f426e" /><Relationship Type="http://schemas.openxmlformats.org/officeDocument/2006/relationships/slide" Target="/ppt/slides/slide10.xml" Id="R705ae7c777494684" /><Relationship Type="http://schemas.openxmlformats.org/officeDocument/2006/relationships/slide" Target="/ppt/slides/slide11.xml" Id="Re1104e07a83f4bed" /><Relationship Type="http://schemas.openxmlformats.org/officeDocument/2006/relationships/slide" Target="/ppt/slides/slide12.xml" Id="Rb312cd4737014836" /><Relationship Type="http://schemas.openxmlformats.org/officeDocument/2006/relationships/slide" Target="/ppt/slides/slide13.xml" Id="R699fccdf87534402" /><Relationship Type="http://schemas.openxmlformats.org/officeDocument/2006/relationships/slide" Target="/ppt/slides/slide14.xml" Id="R1d8dbb68a557404a" /><Relationship Type="http://schemas.openxmlformats.org/officeDocument/2006/relationships/slide" Target="/ppt/slides/slide15.xml" Id="Ra10fc26ed7084284" /><Relationship Type="http://schemas.openxmlformats.org/officeDocument/2006/relationships/slide" Target="/ppt/slides/slide16.xml" Id="R88dbdee7ff284fdc" /><Relationship Type="http://schemas.openxmlformats.org/officeDocument/2006/relationships/slide" Target="/ppt/slides/slide17.xml" Id="R1b6f910600b94566" /><Relationship Type="http://schemas.openxmlformats.org/officeDocument/2006/relationships/slide" Target="/ppt/slides/slide18.xml" Id="R6ee2addd02d045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8c7bc1278840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PIKET">
  <a:themeElements>
    <a:clrScheme name="PIKE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IKE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911e1ecc0c47df" /><Relationship Type="http://schemas.openxmlformats.org/officeDocument/2006/relationships/notesMaster" Target="/ppt/notesMasters/notesMaster1.xml" Id="R4c1b5b8c402e4e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56b7d676af4040" /><Relationship Type="http://schemas.openxmlformats.org/officeDocument/2006/relationships/notesMaster" Target="/ppt/notesMasters/notesMaster1.xml" Id="R46c5f2695ab14d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8bc2cb3dc4d54eca" /><Relationship Type="http://schemas.openxmlformats.org/officeDocument/2006/relationships/notesMaster" Target="/ppt/notesMasters/notesMaster1.xml" Id="Rc41beabe0c6a46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54d34fdfcf34d24" /><Relationship Type="http://schemas.openxmlformats.org/officeDocument/2006/relationships/notesMaster" Target="/ppt/notesMasters/notesMaster1.xml" Id="Ra51c4e4742cf43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cbf478f15e45bc" /><Relationship Type="http://schemas.openxmlformats.org/officeDocument/2006/relationships/notesMaster" Target="/ppt/notesMasters/notesMaster1.xml" Id="Rbbb71a0d564f46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490319cd804513" /><Relationship Type="http://schemas.openxmlformats.org/officeDocument/2006/relationships/notesMaster" Target="/ppt/notesMasters/notesMaster1.xml" Id="R2e7ff8801e1943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a4bbe9ad404f8b" /><Relationship Type="http://schemas.openxmlformats.org/officeDocument/2006/relationships/notesMaster" Target="/ppt/notesMasters/notesMaster1.xml" Id="R38b671f36f1e48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9c56f08ba64013" /><Relationship Type="http://schemas.openxmlformats.org/officeDocument/2006/relationships/notesMaster" Target="/ppt/notesMasters/notesMaster1.xml" Id="R1f8cfefc05864d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2c3491a1ea064973" /><Relationship Type="http://schemas.openxmlformats.org/officeDocument/2006/relationships/notesMaster" Target="/ppt/notesMasters/notesMaster1.xml" Id="R97d4d500cccc483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e74e7520414067" /><Relationship Type="http://schemas.openxmlformats.org/officeDocument/2006/relationships/notesMaster" Target="/ppt/notesMasters/notesMaster1.xml" Id="R2ea69a7130f3456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7b407eb06b4572" /><Relationship Type="http://schemas.openxmlformats.org/officeDocument/2006/relationships/notesMaster" Target="/ppt/notesMasters/notesMaster1.xml" Id="R32f7d8f416f349d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c1d367fe96f4006" /><Relationship Type="http://schemas.openxmlformats.org/officeDocument/2006/relationships/notesMaster" Target="/ppt/notesMasters/notesMaster1.xml" Id="R5ab8ba73efb740f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5fcd5fec73044eb" /><Relationship Type="http://schemas.openxmlformats.org/officeDocument/2006/relationships/notesMaster" Target="/ppt/notesMasters/notesMaster1.xml" Id="R2dbb10bab609491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e858eb93abf49ac" /><Relationship Type="http://schemas.openxmlformats.org/officeDocument/2006/relationships/notesMaster" Target="/ppt/notesMasters/notesMaster1.xml" Id="R85af963d57a0451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7c604610ec44ce3" /><Relationship Type="http://schemas.openxmlformats.org/officeDocument/2006/relationships/notesMaster" Target="/ppt/notesMasters/notesMaster1.xml" Id="R56b29b47101842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b925f26fdba446a" /><Relationship Type="http://schemas.openxmlformats.org/officeDocument/2006/relationships/notesMaster" Target="/ppt/notesMasters/notesMaster1.xml" Id="R6d47358878d8479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628153fbbae4e29" /><Relationship Type="http://schemas.openxmlformats.org/officeDocument/2006/relationships/notesMaster" Target="/ppt/notesMasters/notesMaster1.xml" Id="Redaa2e2f081d4ba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04f2173be884b31" /><Relationship Type="http://schemas.openxmlformats.org/officeDocument/2006/relationships/notesMaster" Target="/ppt/notesMasters/notesMaster1.xml" Id="R081877dd46ac4e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Команда «Бананчики». Сервис прогнозирования аварий и управления ремонтными работами инженерных коллекторов Москвы, ЛЦТ 2026. Обложка: сгенерированная концептуальная иллюстрация коллектора, не фотография объекта.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Полный импорт 2019–2026: 313546017 исходных строк, 88325751 дискретная запись, 62140 группо-дней, 26 групп. Источник data/reconstructed_2019_2026/source_manifest.json. Качество опубликованного ансамбля пока относится к отдельной истории 2024–2026.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Выбран один успешный случай группы 553-1. Предупреждение 29.03.2026 в конце дня. Начало инцидента 13.04.2026 14:00, упреждение 350,012778 часа. Это иллюстрация, полные ошибки и пропуски учтены в общей оценке. Значения риска не калиброваны как вероятность физического отказа.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Скриншот docs/prototype/work-order-confirmed.png. Реальный архивный прогноз для 553-1 от 29.03.2026. Решение и комментарий добавлены в локальной копии прототипа для демонстрации. Это не утверждение о состоявшемся осмотре. Рекомендация о питании и соединениях является проверяемой гипотезой.</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prototype/inference/model.json, schema.json, parity.json. Скриншот docs/prototype/forecast-top.png. В браузере исполняются все 8 моделей: 5 LightGBM, CatBoost, Extra Trees, Logistic. Вход CSV: 178 признаков и дата. Архивный пример содержит 26 строк 01.06.2026, первая по рангу 672-1 получила 0.5958. CSV не передаётся на сервер. Версия piket-eight-2026-06 обучена по 16.05.2026 и применяется с 01.06.2026. Балл не равен подтверждённому событию.</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Все пункты подтверждаются реализацией: ml/temporal_stack.py, ml/replay.py, prototype/inference/engine.js, api/routes_work_orders.py. Они описывают свойства решения, а не доказанное превосходство над участниками конкурса.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Архитектура реализована в ml/import_archive.py, ml/rebuild_dataset.py, ml/temporal_stack.py, ml/export_browser_model.py и api/routes_work_orders.py. Браузерный ансамбль и прежний серверный production-пакет пока разные версии, внедрение требует их согласования.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Предложение команды, не заключённая договорённость. Экономический эффект требует стоимости проверки и последствий пропуска. В доступных журналах эти величины отсутствуют.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Команда «Бананчики». Предлагаем пилот на 26 группах с регистрацией результата каждого предупреждения. Репозиторий: https://github.com/Valle-ds/lct2026-moskollektor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ml/incidents.py и ml/replay.py. Предсказание в конце дня D. Целевое окно D+2..D+15. Минимальное упреждение больше 24 часов, верхняя граница 15 суток относительно времени прогноза.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Реализация ml/temporal_stack.py, mature_before, generate_oof, meta_split. Мета-модель обучается только на OOF-ответах базовых алгоритмов. Для проверочных прогнозов применяется ежемесячное переобучение на созревших прошлых метках.</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Исследовательский пайплайн ml/temporal_stack.py и ml/renewal_ensemble.py. 8 сохранённых OOF-моделей плюс 10 новых, 238 признаков у расширенных моделей. Среди альтернатив усреднение, CatBoost meta, Logistic meta, условная вероятность следующего инцидента. Фактический выбор только по отчёту разработки.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models/experiments/temporal_stack_20260929/report.json, renewal_ensemble_20260929/report.json, renewal_policy_20260929/report.json, signal_policy_20260929/report.json. Проверка январь-июнь 2026,22инцидента. Разные варианты выбраны по разработке, но это последовательные исследования ранее исследованных дат. Скрытый независимый тест отсутствует.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prototype/inference/model.json, schema.json, parity.json. Проверка на 783 строках, включая неизвестную группу, все числовые значения пропущены или равны нулю. Максимальное абсолютное отклонение 3.885780586188048e-16 при допуске 1e-10. Это численное соответствие реализаций, не качество предсказания. Метрики H1 2026 получены с ежемесячным переобучением, не являются новой оценкой фиксированной июньской версии.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ml/renewal_ensemble.py, renewal_features. Возраст a измеряется от последнего наблюдённого начала. F_D строится только по уже наблюдённым интервалам группы к концу дня D. Оценка усредняет нормальные ядра шириной 7,14,21 день, использует исторические интервалы 20..180 дней и усадку n/(n+3). Это исследовательский компонент, не подтверждение физической причины.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Эти результаты использованы для выбора. Сравнение по событийному F1 и нагрузке не выше legacy. Полные параметры и прогнозы сохранены рядом с 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Предложение команды. Публичный браузерный расчёт работает на подготовленном CSV. Серверная интеграция и пилот с заказчиком не объявляются завершёнными.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369cb8f5c24f4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a343e59e0f4a7c" /><Relationship Type="http://schemas.openxmlformats.org/officeDocument/2006/relationships/slideLayout" Target="/ppt/slideLayouts/slideLayout1.xml" Id="Ra4de83ba1af449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4de83ba1af449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PIKET">
  <a:themeElements>
    <a:clrScheme name="PIKE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IKE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20f008b07b04a2f" /><Relationship Type="http://schemas.openxmlformats.org/officeDocument/2006/relationships/image" Target="/ppt/media/image.png" Id="R2d8416c4fd604319" /><Relationship Type="http://schemas.openxmlformats.org/officeDocument/2006/relationships/notesSlide" Target="/ppt/notesSlides/notesSlide1.xml" Id="Rd0190ae808cf47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2f47603299349b9" /><Relationship Type="http://schemas.openxmlformats.org/officeDocument/2006/relationships/notesSlide" Target="/ppt/notesSlides/notesSlide2.xml" Id="Re43c355994164a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34bab02b06f45a6" /><Relationship Type="http://schemas.openxmlformats.org/officeDocument/2006/relationships/chart" Target="/ppt/slides/charts/chart1.xml" Id="Rd49e0409c803435d" /><Relationship Type="http://schemas.openxmlformats.org/officeDocument/2006/relationships/notesSlide" Target="/ppt/notesSlides/notesSlide3.xml" Id="R1775cb3ae29c48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780d11de4664420" /><Relationship Type="http://schemas.openxmlformats.org/officeDocument/2006/relationships/image" Target="/ppt/media/image.jpeg" Id="Ra2e5ab04a1b748b2" /><Relationship Type="http://schemas.openxmlformats.org/officeDocument/2006/relationships/notesSlide" Target="/ppt/notesSlides/notesSlide4.xml" Id="Redca29cb4bf044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3e630d0be34b7c" /><Relationship Type="http://schemas.openxmlformats.org/officeDocument/2006/relationships/image" Target="/ppt/media/image2.jpeg" Id="R0097f8ad1d044c89" /><Relationship Type="http://schemas.openxmlformats.org/officeDocument/2006/relationships/notesSlide" Target="/ppt/notesSlides/notesSlide5.xml" Id="Rf12aaa5291854d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99610b7bfc64c21" /><Relationship Type="http://schemas.openxmlformats.org/officeDocument/2006/relationships/chart" Target="/ppt/slides/charts/chart2.xml" Id="R2629ff57eae94c87" /><Relationship Type="http://schemas.openxmlformats.org/officeDocument/2006/relationships/notesSlide" Target="/ppt/notesSlides/notesSlide6.xml" Id="R4851dd6677e44c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6fea1ad69204afb" /><Relationship Type="http://schemas.openxmlformats.org/officeDocument/2006/relationships/notesSlide" Target="/ppt/notesSlides/notesSlide7.xml" Id="Rf18d2ca174e444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fca30a02bb1485c" /><Relationship Type="http://schemas.openxmlformats.org/officeDocument/2006/relationships/notesSlide" Target="/ppt/notesSlides/notesSlide8.xml" Id="Rbd1c9ebb368f4c3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585248e84c24ee0" /><Relationship Type="http://schemas.openxmlformats.org/officeDocument/2006/relationships/notesSlide" Target="/ppt/notesSlides/notesSlide9.xml" Id="R976f28b592ab42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0da1cbde0d045b3" /><Relationship Type="http://schemas.openxmlformats.org/officeDocument/2006/relationships/notesSlide" Target="/ppt/notesSlides/notesSlide10.xml" Id="Rb03da9dc2962424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985b1db4a864780" /><Relationship Type="http://schemas.openxmlformats.org/officeDocument/2006/relationships/notesSlide" Target="/ppt/notesSlides/notesSlide11.xml" Id="Rbcaeb1dd967e46e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28268f319254b7b" /><Relationship Type="http://schemas.openxmlformats.org/officeDocument/2006/relationships/notesSlide" Target="/ppt/notesSlides/notesSlide12.xml" Id="Rcdd346aa8e71413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c08d0298e854417" /><Relationship Type="http://schemas.openxmlformats.org/officeDocument/2006/relationships/notesSlide" Target="/ppt/notesSlides/notesSlide13.xml" Id="R50fc8c9369e644c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78d2a426ca14597" /><Relationship Type="http://schemas.openxmlformats.org/officeDocument/2006/relationships/notesSlide" Target="/ppt/notesSlides/notesSlide14.xml" Id="R1639dcb3d5784a7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8f565b17abd44fd" /><Relationship Type="http://schemas.openxmlformats.org/officeDocument/2006/relationships/notesSlide" Target="/ppt/notesSlides/notesSlide15.xml" Id="R37c35acdbc3c4ce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c50cfde70634421" /><Relationship Type="http://schemas.openxmlformats.org/officeDocument/2006/relationships/notesSlide" Target="/ppt/notesSlides/notesSlide16.xml" Id="Rc2ecc1aae09d4b3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28c0393e06b4c52" /><Relationship Type="http://schemas.openxmlformats.org/officeDocument/2006/relationships/notesSlide" Target="/ppt/notesSlides/notesSlide17.xml" Id="Rb4aa0c6879c44a6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9eeb230d6f94859" /><Relationship Type="http://schemas.openxmlformats.org/officeDocument/2006/relationships/notesSlide" Target="/ppt/notesSlides/notesSlide18.xml" Id="Rc986c07b3cb3430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Оценка риска</c:v>
          </c:tx>
          <c:spPr>
            <a:ln xmlns:a="http://schemas.openxmlformats.org/drawingml/2006/main" w="28575">
              <a:solidFill>
                <a:srgbClr val="D8F77B"/>
              </a:solidFill>
            </a:ln>
          </c:spPr>
          <c:marker>
            <c:symbol val="none"/>
          </c:marker>
          <c:xVal>
            <c:numRef>
              <c:f>'Chart Data'!$A$2:$A$46</c:f>
              <c:numCache>
                <c:formatCode>General</c:formatCode>
                <c:ptCount val="4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numCache>
            </c:numRef>
          </c:xVal>
          <c:yVal>
            <c:numRef>
              <c:f>'Chart Data'!$B$2:$B$46</c:f>
              <c:numCache>
                <c:formatCode>0.0</c:formatCode>
                <c:ptCount val="45"/>
                <c:pt idx="0">
                  <c:v>0.03113323</c:v>
                </c:pt>
                <c:pt idx="1">
                  <c:v>0.03164814</c:v>
                </c:pt>
                <c:pt idx="2">
                  <c:v>0.03683929</c:v>
                </c:pt>
                <c:pt idx="3">
                  <c:v>0.04066043</c:v>
                </c:pt>
                <c:pt idx="4">
                  <c:v>0.0471833</c:v>
                </c:pt>
                <c:pt idx="5">
                  <c:v>0.04804692</c:v>
                </c:pt>
                <c:pt idx="6">
                  <c:v>0.15069908</c:v>
                </c:pt>
                <c:pt idx="7">
                  <c:v>0.17020425</c:v>
                </c:pt>
                <c:pt idx="8">
                  <c:v>0.17479585</c:v>
                </c:pt>
                <c:pt idx="9">
                  <c:v>0.17799131</c:v>
                </c:pt>
                <c:pt idx="10">
                  <c:v>0.19420958</c:v>
                </c:pt>
                <c:pt idx="11">
                  <c:v>0.21555726</c:v>
                </c:pt>
                <c:pt idx="12">
                  <c:v>0.2172598</c:v>
                </c:pt>
                <c:pt idx="13">
                  <c:v>0.21915171</c:v>
                </c:pt>
                <c:pt idx="14">
                  <c:v>0.22626842</c:v>
                </c:pt>
                <c:pt idx="15">
                  <c:v>0.23332204</c:v>
                </c:pt>
                <c:pt idx="16">
                  <c:v>0.23517413</c:v>
                </c:pt>
                <c:pt idx="17">
                  <c:v>0.24821862</c:v>
                </c:pt>
                <c:pt idx="18">
                  <c:v>0.25004884</c:v>
                </c:pt>
                <c:pt idx="19">
                  <c:v>0.25711282</c:v>
                </c:pt>
                <c:pt idx="20">
                  <c:v>0.27013854</c:v>
                </c:pt>
                <c:pt idx="21">
                  <c:v>0.27616723</c:v>
                </c:pt>
                <c:pt idx="22">
                  <c:v>0.28188034</c:v>
                </c:pt>
                <c:pt idx="23">
                  <c:v>0.29202418</c:v>
                </c:pt>
                <c:pt idx="24">
                  <c:v>0.31098914</c:v>
                </c:pt>
                <c:pt idx="25">
                  <c:v>0.35261529</c:v>
                </c:pt>
                <c:pt idx="26">
                  <c:v>0.36703157</c:v>
                </c:pt>
                <c:pt idx="27">
                  <c:v>0.38499407</c:v>
                </c:pt>
                <c:pt idx="28">
                  <c:v>0.43438901</c:v>
                </c:pt>
                <c:pt idx="29">
                  <c:v>0.47006908</c:v>
                </c:pt>
                <c:pt idx="30">
                  <c:v>0.51279221</c:v>
                </c:pt>
                <c:pt idx="31">
                  <c:v>0.5365639</c:v>
                </c:pt>
                <c:pt idx="32">
                  <c:v>0.54621592</c:v>
                </c:pt>
                <c:pt idx="33">
                  <c:v>0.55002523</c:v>
                </c:pt>
                <c:pt idx="34">
                  <c:v>0.56286056</c:v>
                </c:pt>
                <c:pt idx="35">
                  <c:v>0.55860187</c:v>
                </c:pt>
                <c:pt idx="36">
                  <c:v>0.55926537</c:v>
                </c:pt>
                <c:pt idx="37">
                  <c:v>0.56274252</c:v>
                </c:pt>
                <c:pt idx="38">
                  <c:v>0.55983325</c:v>
                </c:pt>
                <c:pt idx="39">
                  <c:v>0.553974</c:v>
                </c:pt>
                <c:pt idx="40">
                  <c:v>0.16378969</c:v>
                </c:pt>
                <c:pt idx="41">
                  <c:v>0.15760717</c:v>
                </c:pt>
                <c:pt idx="42">
                  <c:v>0.1561917</c:v>
                </c:pt>
                <c:pt idx="43">
                  <c:v>0.08189701</c:v>
                </c:pt>
                <c:pt idx="44">
                  <c:v>0.04901565</c:v>
                </c:pt>
              </c:numCache>
            </c:numRef>
          </c:yVal>
        </c:ser>
        <c:ser>
          <c:idx val="1"/>
          <c:order val="1"/>
          <c:tx>
            <c:v>Порог заявки</c:v>
          </c:tx>
          <c:spPr>
            <a:ln xmlns:a="http://schemas.openxmlformats.org/drawingml/2006/main" w="19050">
              <a:solidFill>
                <a:srgbClr val="DCA083"/>
              </a:solidFill>
              <a:prstDash val="dash"/>
            </a:ln>
          </c:spPr>
          <c:marker>
            <c:symbol val="none"/>
          </c:marker>
          <c:xVal>
            <c:numRef>
              <c:f>'Chart Data'!$C$2:$C$46</c:f>
              <c:numCache>
                <c:formatCode>General</c:formatCode>
                <c:ptCount val="4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numCache>
            </c:numRef>
          </c:xVal>
          <c:yVal>
            <c:numRef>
              <c:f>'Chart Data'!$D$2:$D$46</c:f>
              <c:numCache>
                <c:formatCode>0.0</c:formatCode>
                <c:ptCount val="45"/>
                <c:pt idx="0">
                  <c:v>0.40705894</c:v>
                </c:pt>
                <c:pt idx="1">
                  <c:v>0.40705894</c:v>
                </c:pt>
                <c:pt idx="2">
                  <c:v>0.40705894</c:v>
                </c:pt>
                <c:pt idx="3">
                  <c:v>0.40705894</c:v>
                </c:pt>
                <c:pt idx="4">
                  <c:v>0.40705894</c:v>
                </c:pt>
                <c:pt idx="5">
                  <c:v>0.40705894</c:v>
                </c:pt>
                <c:pt idx="6">
                  <c:v>0.40705894</c:v>
                </c:pt>
                <c:pt idx="7">
                  <c:v>0.40705894</c:v>
                </c:pt>
                <c:pt idx="8">
                  <c:v>0.40705894</c:v>
                </c:pt>
                <c:pt idx="9">
                  <c:v>0.40705894</c:v>
                </c:pt>
                <c:pt idx="10">
                  <c:v>0.40705894</c:v>
                </c:pt>
                <c:pt idx="11">
                  <c:v>0.40705894</c:v>
                </c:pt>
                <c:pt idx="12">
                  <c:v>0.40705894</c:v>
                </c:pt>
                <c:pt idx="13">
                  <c:v>0.40705894</c:v>
                </c:pt>
                <c:pt idx="14">
                  <c:v>0.40705894</c:v>
                </c:pt>
                <c:pt idx="15">
                  <c:v>0.40705894</c:v>
                </c:pt>
                <c:pt idx="16">
                  <c:v>0.40705894</c:v>
                </c:pt>
                <c:pt idx="17">
                  <c:v>0.40705894</c:v>
                </c:pt>
                <c:pt idx="18">
                  <c:v>0.40705894</c:v>
                </c:pt>
                <c:pt idx="19">
                  <c:v>0.40705894</c:v>
                </c:pt>
                <c:pt idx="20">
                  <c:v>0.40705894</c:v>
                </c:pt>
                <c:pt idx="21">
                  <c:v>0.40705894</c:v>
                </c:pt>
                <c:pt idx="22">
                  <c:v>0.40705894</c:v>
                </c:pt>
                <c:pt idx="23">
                  <c:v>0.40705894</c:v>
                </c:pt>
                <c:pt idx="24">
                  <c:v>0.40705894</c:v>
                </c:pt>
                <c:pt idx="25">
                  <c:v>0.40705894</c:v>
                </c:pt>
                <c:pt idx="26">
                  <c:v>0.40705894</c:v>
                </c:pt>
                <c:pt idx="27">
                  <c:v>0.40705894</c:v>
                </c:pt>
                <c:pt idx="28">
                  <c:v>0.40705894</c:v>
                </c:pt>
                <c:pt idx="29">
                  <c:v>0.40705894</c:v>
                </c:pt>
                <c:pt idx="30">
                  <c:v>0.40705894</c:v>
                </c:pt>
                <c:pt idx="31">
                  <c:v>0.40705894</c:v>
                </c:pt>
                <c:pt idx="32">
                  <c:v>0.40705894</c:v>
                </c:pt>
                <c:pt idx="33">
                  <c:v>0.40705894</c:v>
                </c:pt>
                <c:pt idx="34">
                  <c:v>0.40705894</c:v>
                </c:pt>
                <c:pt idx="35">
                  <c:v>0.40705894</c:v>
                </c:pt>
                <c:pt idx="36">
                  <c:v>0.40705894</c:v>
                </c:pt>
                <c:pt idx="37">
                  <c:v>0.40705894</c:v>
                </c:pt>
                <c:pt idx="38">
                  <c:v>0.40705894</c:v>
                </c:pt>
                <c:pt idx="39">
                  <c:v>0.40705894</c:v>
                </c:pt>
                <c:pt idx="40">
                  <c:v>0.40705894</c:v>
                </c:pt>
                <c:pt idx="41">
                  <c:v>0.40705894</c:v>
                </c:pt>
                <c:pt idx="42">
                  <c:v>0.40705894</c:v>
                </c:pt>
                <c:pt idx="43">
                  <c:v>0.40705894</c:v>
                </c:pt>
                <c:pt idx="44">
                  <c:v>0.40705894</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0.65"/>
          <c:min val="0"/>
        </c:scaling>
        <c:delete val="0"/>
        <c:axPos val="l"/>
        <c:majorGridlines>
          <c:spPr>
            <a:ln xmlns:a="http://schemas.openxmlformats.org/drawingml/2006/main" w="9525">
              <a:solidFill>
                <a:srgbClr val="284036"/>
              </a:solidFill>
            </a:ln>
          </c:spPr>
        </c:majorGridlines>
        <c:numFmt formatCode="0.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50112"/>
        <c:majorUnit val="0.2"/>
      </c:valAx>
      <c:valAx>
        <c:axId val="48650112"/>
        <c:scaling>
          <c:orientation val="minMax"/>
          <c:max val="44"/>
          <c:min val="0"/>
        </c:scaling>
        <c:delete val="0"/>
        <c:axPos val="b"/>
        <c:majorGridlines>
          <c:spPr>
            <a:ln xmlns:a="http://schemas.openxmlformats.org/drawingml/2006/main" w="9525">
              <a:solidFill>
                <a:srgbClr val="284036"/>
              </a:solidFill>
            </a:ln>
          </c:spPr>
        </c:majorGridlines>
        <c:title>
          <c:tx>
            <c:rich>
              <a:bodyPr xmlns:a="http://schemas.openxmlformats.org/drawingml/2006/main"/>
              <a:lstStyle xmlns:a="http://schemas.openxmlformats.org/drawingml/2006/main"/>
              <a:p xmlns:a="http://schemas.openxmlformats.org/drawingml/2006/main">
                <a:r>
                  <a:rPr sz="1350">
                    <a:solidFill>
                      <a:srgbClr val="D7DFD6"/>
                    </a:solidFill>
                    <a:latin typeface="Arial"/>
                    <a:ea typeface="Arial"/>
                    <a:cs typeface="Arial"/>
                  </a:rPr>
                  <a:t>Дни после 1 марта 2026</a:t>
                </a:r>
              </a:p>
            </c:rich>
          </c:tx>
          <c:overlay val="0"/>
          <c:txPr>
            <a:bodyPr xmlns:a="http://schemas.openxmlformats.org/drawingml/2006/main" anchorCtr="1"/>
            <a:lstStyle xmlns:a="http://schemas.openxmlformats.org/drawingml/2006/main"/>
            <a:p xmlns:a="http://schemas.openxmlformats.org/drawingml/2006/main">
              <a:pPr>
                <a:defRPr sz="1350">
                  <a:solidFill>
                    <a:srgbClr val="D7DFD6"/>
                  </a:solidFill>
                  <a:latin typeface="Arial"/>
                  <a:ea typeface="Arial"/>
                  <a:cs typeface="Arial"/>
                </a:defRPr>
              </a:pPr>
            </a:p>
          </c:txPr>
        </c:title>
        <c:numFmt formatCode="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72768"/>
        <c:majorUnit val="7"/>
      </c:valAx>
      <c:spPr>
        <a:solidFill xmlns:a="http://schemas.openxmlformats.org/drawingml/2006/main">
          <a:srgbClr val="0D201B"/>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legend>
    <c:plotVisOnly val="1"/>
  </c:chart>
  <c:spPr>
    <a:solidFill xmlns:a="http://schemas.openxmlformats.org/drawingml/2006/main">
      <a:srgbClr val="0D201B"/>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stacked"/>
        <c:varyColors val="0"/>
        <c:ser>
          <c:idx val="0"/>
          <c:order val="0"/>
          <c:tx>
            <c:v>Верные</c:v>
          </c:tx>
          <c:spPr>
            <a:solidFill xmlns:a="http://schemas.openxmlformats.org/drawingml/2006/main">
              <a:srgbClr val="D8F77B"/>
            </a:solidFill>
          </c:spPr>
          <c:cat>
            <c:strRef>
              <c:f>'Chart Data'!$A$2:$A$3</c:f>
              <c:strCache>
                <c:ptCount val="2"/>
                <c:pt idx="0">
                  <c:v>LightGBM</c:v>
                </c:pt>
                <c:pt idx="1">
                  <c:v>Ансамбль 8 моделей</c:v>
                </c:pt>
              </c:strCache>
            </c:strRef>
          </c:cat>
          <c:val>
            <c:numRef>
              <c:f>'Chart Data'!$B$2:$B$3</c:f>
              <c:numCache>
                <c:formatCode>0</c:formatCode>
                <c:ptCount val="2"/>
                <c:pt idx="0">
                  <c:v>9</c:v>
                </c:pt>
                <c:pt idx="1">
                  <c:v>9</c:v>
                </c:pt>
              </c:numCache>
            </c:numRef>
          </c:val>
        </c:ser>
        <c:ser>
          <c:idx val="1"/>
          <c:order val="1"/>
          <c:tx>
            <c:v>Ложные</c:v>
          </c:tx>
          <c:spPr>
            <a:solidFill xmlns:a="http://schemas.openxmlformats.org/drawingml/2006/main">
              <a:srgbClr val="DCA083"/>
            </a:solidFill>
          </c:spPr>
          <c:cat>
            <c:strRef>
              <c:f>'Chart Data'!$C$2:$C$3</c:f>
              <c:strCache>
                <c:ptCount val="2"/>
                <c:pt idx="0">
                  <c:v>LightGBM</c:v>
                </c:pt>
                <c:pt idx="1">
                  <c:v>Ансамбль 8 моделей</c:v>
                </c:pt>
              </c:strCache>
            </c:strRef>
          </c:cat>
          <c:val>
            <c:numRef>
              <c:f>'Chart Data'!$D$2:$D$3</c:f>
              <c:numCache>
                <c:formatCode>0</c:formatCode>
                <c:ptCount val="2"/>
                <c:pt idx="0">
                  <c:v>12</c:v>
                </c:pt>
                <c:pt idx="1">
                  <c:v>7</c:v>
                </c:pt>
              </c:numCache>
            </c:numRef>
          </c:val>
        </c:ser>
        <c:dLbls>
          <c:txPr>
            <a:bodyPr xmlns:a="http://schemas.openxmlformats.org/drawingml/2006/main" anchorCtr="1"/>
            <a:lstStyle xmlns:a="http://schemas.openxmlformats.org/drawingml/2006/main"/>
            <a:p xmlns:a="http://schemas.openxmlformats.org/drawingml/2006/main">
              <a:pPr>
                <a:defRPr sz="2100">
                  <a:solidFill>
                    <a:srgbClr val="0D201B"/>
                  </a:solidFill>
                  <a:latin typeface="Arial"/>
                  <a:ea typeface="Arial"/>
                  <a:cs typeface="Arial"/>
                </a:defRPr>
              </a:pPr>
            </a:p>
          </c:txPr>
          <c:dLblPos val="ctr"/>
          <c:showLegendKey val="0"/>
          <c:showVal val="1"/>
          <c:showCatName val="0"/>
          <c:showSerName val="0"/>
          <c:showPercent val="0"/>
          <c:showBubbleSize val="0"/>
          <c:showLeaderLines val="0"/>
        </c:dLbls>
        <c:gapWidth val="145"/>
        <c:overlap val="100"/>
        <c:axId val="48650112"/>
        <c:axId val="48672768"/>
      </c:barChart>
      <c:catAx>
        <c:axId val="48650112"/>
        <c:scaling>
          <c:orientation val="minMax"/>
        </c:scaling>
        <c:delete val="0"/>
        <c:axPos val="b"/>
        <c:majorGridlines>
          <c:spPr>
            <a:ln xmlns:a="http://schemas.openxmlformats.org/drawingml/2006/main" w="9525">
              <a:solidFill>
                <a:srgbClr val="284036"/>
              </a:solidFill>
            </a:ln>
          </c:spPr>
        </c:majorGridlines>
        <c:numFmt formatCode="General"/>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72768"/>
      </c:catAx>
      <c:valAx>
        <c:axId val="48672768"/>
        <c:scaling>
          <c:orientation val="minMax"/>
          <c:max val="25"/>
          <c:min val="0"/>
        </c:scaling>
        <c:delete val="0"/>
        <c:axPos val="l"/>
        <c:majorGridlines>
          <c:spPr>
            <a:ln xmlns:a="http://schemas.openxmlformats.org/drawingml/2006/main" w="9525">
              <a:solidFill>
                <a:srgbClr val="284036"/>
              </a:solidFill>
            </a:ln>
          </c:spPr>
        </c:majorGridlines>
        <c:numFmt formatCode="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50112"/>
        <c:crossBetween val="between"/>
        <c:majorUnit val="5"/>
      </c:valAx>
      <c:spPr>
        <a:solidFill xmlns:a="http://schemas.openxmlformats.org/drawingml/2006/main">
          <a:srgbClr val="0D201B"/>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D7DFD6"/>
              </a:solidFill>
              <a:latin typeface="Arial"/>
              <a:ea typeface="Arial"/>
              <a:cs typeface="Arial"/>
            </a:defRPr>
          </a:pPr>
        </a:p>
      </c:txPr>
    </c:legend>
    <c:plotVisOnly val="1"/>
  </c:chart>
  <c:spPr>
    <a:solidFill xmlns:a="http://schemas.openxmlformats.org/drawingml/2006/main">
      <a:srgbClr val="0D201B"/>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2d8416c4fd604319"/>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C1C0D3-1C1E-4137-BC46-EB707BC3A195}"/>
              </a:ext>
            </a:extLst>
          </p:cNvPr>
          <p:cNvSpPr>
            <a:spLocks xmlns:a="http://schemas.openxmlformats.org/drawingml/2006/main" noGrp="1"/>
          </p:cNvSpPr>
          <p:nvPr/>
        </p:nvSpPr>
        <p:spPr>
          <a:xfrm xmlns:a="http://schemas.openxmlformats.org/drawingml/2006/main">
            <a:off x="609600" y="752475"/>
            <a:ext cx="7715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150" b="1">
                <a:solidFill>
                  <a:srgbClr val="F3F1E9"/>
                </a:solidFill>
                <a:latin typeface="Arial"/>
                <a:ea typeface="Arial"/>
                <a:cs typeface="Arial"/>
              </a:defRPr>
            </a:pPr>
            <a:r>
              <a:rPr sz="9150" b="1">
                <a:solidFill>
                  <a:srgbClr val="F3F1E9"/>
                </a:solidFill>
                <a:latin typeface="Arial"/>
                <a:ea typeface="Arial"/>
                <a:cs typeface="Arial"/>
              </a:rPr>
              <a:t>ПИКЕТ</a:t>
            </a:r>
          </a:p>
        </p:txBody>
      </p:sp>
      <p:sp>
        <p:nvSpPr>
          <p:cNvPr id="3" name="">
            <a:extLst xmlns:a="http://schemas.openxmlformats.org/drawingml/2006/main">
              <a:ext uri="{FF2B5EF4-FFF2-40B4-BE49-F238E27FC236}">
                <a16:creationId xmlns:a16="http://schemas.microsoft.com/office/drawing/2014/main" id="{7D2A3432-6A9D-430B-BD97-DBB7E7946ECA}"/>
              </a:ext>
            </a:extLst>
          </p:cNvPr>
          <p:cNvSpPr>
            <a:spLocks xmlns:a="http://schemas.openxmlformats.org/drawingml/2006/main" noGrp="1"/>
          </p:cNvSpPr>
          <p:nvPr/>
        </p:nvSpPr>
        <p:spPr>
          <a:xfrm xmlns:a="http://schemas.openxmlformats.org/drawingml/2006/main">
            <a:off x="666750" y="2619375"/>
            <a:ext cx="6762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D8F77B"/>
                </a:solidFill>
                <a:latin typeface="Arial"/>
                <a:ea typeface="Arial"/>
                <a:cs typeface="Arial"/>
              </a:defRPr>
            </a:pPr>
            <a:r>
              <a:rPr sz="3150" b="1">
                <a:solidFill>
                  <a:srgbClr val="D8F77B"/>
                </a:solidFill>
                <a:latin typeface="Arial"/>
                <a:ea typeface="Arial"/>
                <a:cs typeface="Arial"/>
              </a:rPr>
              <a:t>Выбрать проверку вовремя</a:t>
            </a:r>
          </a:p>
        </p:txBody>
      </p:sp>
      <p:sp>
        <p:nvSpPr>
          <p:cNvPr id="4" name="">
            <a:extLst xmlns:a="http://schemas.openxmlformats.org/drawingml/2006/main">
              <a:ext uri="{FF2B5EF4-FFF2-40B4-BE49-F238E27FC236}">
                <a16:creationId xmlns:a16="http://schemas.microsoft.com/office/drawing/2014/main" id="{A232C879-5748-4D4D-A073-38F5A54207B8}"/>
              </a:ext>
            </a:extLst>
          </p:cNvPr>
          <p:cNvSpPr>
            <a:spLocks xmlns:a="http://schemas.openxmlformats.org/drawingml/2006/main" noGrp="1"/>
          </p:cNvSpPr>
          <p:nvPr/>
        </p:nvSpPr>
        <p:spPr>
          <a:xfrm xmlns:a="http://schemas.openxmlformats.org/drawingml/2006/main">
            <a:off x="695325" y="3638550"/>
            <a:ext cx="6096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3F1E9"/>
                </a:solidFill>
                <a:latin typeface="Arial"/>
                <a:ea typeface="Arial"/>
                <a:cs typeface="Arial"/>
              </a:defRPr>
            </a:pPr>
            <a:r>
              <a:rPr sz="2325" b="0">
                <a:solidFill>
                  <a:srgbClr val="F3F1E9"/>
                </a:solidFill>
                <a:latin typeface="Arial"/>
                <a:ea typeface="Arial"/>
                <a:cs typeface="Arial"/>
              </a:rPr>
              <a:t>Прогноз риска и рабочее место</a:t>
            </a:r>
          </a:p>
          <a:p xmlns:a="http://schemas.openxmlformats.org/drawingml/2006/main">
            <a:pPr>
              <a:defRPr sz="2325" b="0">
                <a:solidFill>
                  <a:srgbClr val="F3F1E9"/>
                </a:solidFill>
                <a:latin typeface="Arial"/>
                <a:ea typeface="Arial"/>
                <a:cs typeface="Arial"/>
              </a:defRPr>
            </a:pPr>
            <a:r>
              <a:rPr sz="2325" b="0">
                <a:solidFill>
                  <a:srgbClr val="F3F1E9"/>
                </a:solidFill>
                <a:latin typeface="Arial"/>
                <a:ea typeface="Arial"/>
                <a:cs typeface="Arial"/>
              </a:rPr>
              <a:t>диспетчера инженерных коллекторов</a:t>
            </a:r>
          </a:p>
        </p:txBody>
      </p:sp>
      <p:sp>
        <p:nvSpPr>
          <p:cNvPr id="5" name="">
            <a:extLst xmlns:a="http://schemas.openxmlformats.org/drawingml/2006/main">
              <a:ext uri="{FF2B5EF4-FFF2-40B4-BE49-F238E27FC236}">
                <a16:creationId xmlns:a16="http://schemas.microsoft.com/office/drawing/2014/main" id="{E866D1C3-3459-470A-B5CF-76B721B72742}"/>
              </a:ext>
            </a:extLst>
          </p:cNvPr>
          <p:cNvSpPr>
            <a:spLocks xmlns:a="http://schemas.openxmlformats.org/drawingml/2006/main" noGrp="1"/>
          </p:cNvSpPr>
          <p:nvPr/>
        </p:nvSpPr>
        <p:spPr>
          <a:xfrm xmlns:a="http://schemas.openxmlformats.org/drawingml/2006/main">
            <a:off x="714375" y="5810250"/>
            <a:ext cx="6096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7DFD6"/>
                </a:solidFill>
                <a:latin typeface="Arial"/>
                <a:ea typeface="Arial"/>
                <a:cs typeface="Arial"/>
              </a:defRPr>
            </a:pPr>
            <a:r>
              <a:rPr sz="1725" b="0">
                <a:solidFill>
                  <a:srgbClr val="D7DFD6"/>
                </a:solidFill>
                <a:latin typeface="Arial"/>
                <a:ea typeface="Arial"/>
                <a:cs typeface="Arial"/>
              </a:rPr>
              <a:t>Бананчики</a:t>
            </a:r>
          </a:p>
          <a:p xmlns:a="http://schemas.openxmlformats.org/drawingml/2006/main">
            <a:pPr>
              <a:defRPr sz="1725" b="0">
                <a:solidFill>
                  <a:srgbClr val="D7DFD6"/>
                </a:solidFill>
                <a:latin typeface="Arial"/>
                <a:ea typeface="Arial"/>
                <a:cs typeface="Arial"/>
              </a:defRPr>
            </a:pPr>
            <a:r>
              <a:rPr sz="1725" b="0">
                <a:solidFill>
                  <a:srgbClr val="D7DFD6"/>
                </a:solidFill>
                <a:latin typeface="Arial"/>
                <a:ea typeface="Arial"/>
                <a:cs typeface="Arial"/>
              </a:rPr>
              <a:t>ЛЦТ 2026 / Москоллектор</a:t>
            </a:r>
          </a:p>
        </p:txBody>
      </p:sp>
    </p:spTree>
    <p:extLst>
      <p:ext uri="{BB962C8B-B14F-4D97-AF65-F5344CB8AC3E}">
        <p14:creationId xmlns:p14="http://schemas.microsoft.com/office/powerpoint/2010/main" val="1263473911"/>
      </p:ext>
    </p:extLst>
  </p:cSld>
</p:sld>
</file>

<file path=ppt/slides/slide2.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B34DCC-C683-4228-9D34-58F4FAD7FF3D}"/>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Диспетчер должен выбрать проверку</a:t>
            </a:r>
          </a:p>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среди миллионов событий</a:t>
            </a:r>
          </a:p>
        </p:txBody>
      </p:sp>
      <p:sp>
        <p:nvSpPr>
          <p:cNvPr id="2" name="">
            <a:extLst xmlns:a="http://schemas.openxmlformats.org/drawingml/2006/main">
              <a:ext uri="{FF2B5EF4-FFF2-40B4-BE49-F238E27FC236}">
                <a16:creationId xmlns:a16="http://schemas.microsoft.com/office/drawing/2014/main" id="{011D25E3-B78E-45E7-ADF1-493933697A68}"/>
              </a:ext>
            </a:extLst>
          </p:cNvPr>
          <p:cNvSpPr>
            <a:spLocks xmlns:a="http://schemas.openxmlformats.org/drawingml/2006/main" noGrp="1"/>
          </p:cNvSpPr>
          <p:nvPr/>
        </p:nvSpPr>
        <p:spPr>
          <a:xfrm xmlns:a="http://schemas.openxmlformats.org/drawingml/2006/main">
            <a:off x="628650" y="1952625"/>
            <a:ext cx="68580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75" b="1">
                <a:solidFill>
                  <a:srgbClr val="183C30"/>
                </a:solidFill>
                <a:latin typeface="Arial"/>
                <a:ea typeface="Arial"/>
                <a:cs typeface="Arial"/>
              </a:defRPr>
            </a:pPr>
            <a:r>
              <a:rPr sz="7575" b="1">
                <a:solidFill>
                  <a:srgbClr val="183C30"/>
                </a:solidFill>
                <a:latin typeface="Arial"/>
                <a:ea typeface="Arial"/>
                <a:cs typeface="Arial"/>
              </a:rPr>
              <a:t>313,5 млн</a:t>
            </a:r>
          </a:p>
        </p:txBody>
      </p:sp>
      <p:sp>
        <p:nvSpPr>
          <p:cNvPr id="3" name="">
            <a:extLst xmlns:a="http://schemas.openxmlformats.org/drawingml/2006/main">
              <a:ext uri="{FF2B5EF4-FFF2-40B4-BE49-F238E27FC236}">
                <a16:creationId xmlns:a16="http://schemas.microsoft.com/office/drawing/2014/main" id="{41892E95-9D40-429F-9887-C7C09886C045}"/>
              </a:ext>
            </a:extLst>
          </p:cNvPr>
          <p:cNvSpPr>
            <a:spLocks xmlns:a="http://schemas.openxmlformats.org/drawingml/2006/main" noGrp="1"/>
          </p:cNvSpPr>
          <p:nvPr/>
        </p:nvSpPr>
        <p:spPr>
          <a:xfrm xmlns:a="http://schemas.openxmlformats.org/drawingml/2006/main">
            <a:off x="723900" y="3419475"/>
            <a:ext cx="6810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65766B"/>
                </a:solidFill>
                <a:latin typeface="Arial"/>
                <a:ea typeface="Arial"/>
                <a:cs typeface="Arial"/>
              </a:defRPr>
            </a:pPr>
            <a:r>
              <a:rPr sz="2400" b="0">
                <a:solidFill>
                  <a:srgbClr val="65766B"/>
                </a:solidFill>
                <a:latin typeface="Arial"/>
                <a:ea typeface="Arial"/>
                <a:cs typeface="Arial"/>
              </a:rPr>
              <a:t>строк журналов за 2019–2026</a:t>
            </a:r>
          </a:p>
        </p:txBody>
      </p:sp>
      <p:sp>
        <p:nvSpPr>
          <p:cNvPr id="4" name="">
            <a:extLst xmlns:a="http://schemas.openxmlformats.org/drawingml/2006/main">
              <a:ext uri="{FF2B5EF4-FFF2-40B4-BE49-F238E27FC236}">
                <a16:creationId xmlns:a16="http://schemas.microsoft.com/office/drawing/2014/main" id="{4EAF3060-D85A-421F-B9B8-5BFAD87FB739}"/>
              </a:ext>
            </a:extLst>
          </p:cNvPr>
          <p:cNvSpPr>
            <a:spLocks xmlns:a="http://schemas.openxmlformats.org/drawingml/2006/main" noGrp="1"/>
          </p:cNvSpPr>
          <p:nvPr/>
        </p:nvSpPr>
        <p:spPr>
          <a:xfrm xmlns:a="http://schemas.openxmlformats.org/drawingml/2006/main">
            <a:off x="7896225" y="1876425"/>
            <a:ext cx="361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83C30"/>
                </a:solidFill>
                <a:latin typeface="Arial"/>
                <a:ea typeface="Arial"/>
                <a:cs typeface="Arial"/>
              </a:defRPr>
            </a:pPr>
            <a:r>
              <a:rPr sz="2550" b="1">
                <a:solidFill>
                  <a:srgbClr val="183C30"/>
                </a:solidFill>
                <a:latin typeface="Arial"/>
                <a:ea typeface="Arial"/>
                <a:cs typeface="Arial"/>
              </a:rPr>
              <a:t>Что делать смене?</a:t>
            </a:r>
          </a:p>
        </p:txBody>
      </p:sp>
      <p:sp>
        <p:nvSpPr>
          <p:cNvPr id="5" name="">
            <a:extLst xmlns:a="http://schemas.openxmlformats.org/drawingml/2006/main">
              <a:ext uri="{FF2B5EF4-FFF2-40B4-BE49-F238E27FC236}">
                <a16:creationId xmlns:a16="http://schemas.microsoft.com/office/drawing/2014/main" id="{32535894-D55D-458E-99AC-5A3FB13D2C12}"/>
              </a:ext>
            </a:extLst>
          </p:cNvPr>
          <p:cNvSpPr>
            <a:spLocks xmlns:a="http://schemas.openxmlformats.org/drawingml/2006/main" noGrp="1"/>
          </p:cNvSpPr>
          <p:nvPr/>
        </p:nvSpPr>
        <p:spPr>
          <a:xfrm xmlns:a="http://schemas.openxmlformats.org/drawingml/2006/main">
            <a:off x="7924800" y="2819400"/>
            <a:ext cx="352425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83C30"/>
                </a:solidFill>
                <a:latin typeface="Arial"/>
                <a:ea typeface="Arial"/>
                <a:cs typeface="Arial"/>
              </a:defRPr>
            </a:pPr>
            <a:r>
              <a:rPr sz="2325" b="0">
                <a:solidFill>
                  <a:srgbClr val="183C30"/>
                </a:solidFill>
                <a:latin typeface="Arial"/>
                <a:ea typeface="Arial"/>
                <a:cs typeface="Arial"/>
              </a:rPr>
              <a:t>Выбрать группу.</a:t>
            </a:r>
          </a:p>
          <a:p xmlns:a="http://schemas.openxmlformats.org/drawingml/2006/main">
            <a:pPr>
              <a:defRPr sz="2325" b="0">
                <a:solidFill>
                  <a:srgbClr val="183C30"/>
                </a:solidFill>
                <a:latin typeface="Arial"/>
                <a:ea typeface="Arial"/>
                <a:cs typeface="Arial"/>
              </a:defRPr>
            </a:pPr>
            <a:r>
              <a:rPr sz="2325" b="0">
                <a:solidFill>
                  <a:srgbClr val="183C30"/>
                </a:solidFill>
                <a:latin typeface="Arial"/>
                <a:ea typeface="Arial"/>
                <a:cs typeface="Arial"/>
              </a:rPr>
              <a:t>Понять основание.</a:t>
            </a:r>
          </a:p>
          <a:p xmlns:a="http://schemas.openxmlformats.org/drawingml/2006/main">
            <a:pPr>
              <a:defRPr sz="2325" b="0">
                <a:solidFill>
                  <a:srgbClr val="183C30"/>
                </a:solidFill>
                <a:latin typeface="Arial"/>
                <a:ea typeface="Arial"/>
                <a:cs typeface="Arial"/>
              </a:defRPr>
            </a:pPr>
            <a:r>
              <a:rPr sz="2325" b="0">
                <a:solidFill>
                  <a:srgbClr val="183C30"/>
                </a:solidFill>
                <a:latin typeface="Arial"/>
                <a:ea typeface="Arial"/>
                <a:cs typeface="Arial"/>
              </a:rPr>
              <a:t>Назначить проверку.</a:t>
            </a:r>
          </a:p>
        </p:txBody>
      </p:sp>
      <p:sp>
        <p:nvSpPr>
          <p:cNvPr id="6" name="">
            <a:extLst xmlns:a="http://schemas.openxmlformats.org/drawingml/2006/main">
              <a:ext uri="{FF2B5EF4-FFF2-40B4-BE49-F238E27FC236}">
                <a16:creationId xmlns:a16="http://schemas.microsoft.com/office/drawing/2014/main" id="{C411EE50-777E-44EE-ABC3-46602D9D1836}"/>
              </a:ext>
            </a:extLst>
          </p:cNvPr>
          <p:cNvSpPr>
            <a:spLocks xmlns:a="http://schemas.openxmlformats.org/drawingml/2006/main" noGrp="1"/>
          </p:cNvSpPr>
          <p:nvPr/>
        </p:nvSpPr>
        <p:spPr>
          <a:xfrm xmlns:a="http://schemas.openxmlformats.org/drawingml/2006/main">
            <a:off x="723900" y="5219700"/>
            <a:ext cx="106965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83C30"/>
                </a:solidFill>
                <a:latin typeface="Arial"/>
                <a:ea typeface="Arial"/>
                <a:cs typeface="Arial"/>
              </a:defRPr>
            </a:pPr>
            <a:r>
              <a:rPr sz="2550" b="1">
                <a:solidFill>
                  <a:srgbClr val="183C30"/>
                </a:solidFill>
                <a:latin typeface="Arial"/>
                <a:ea typeface="Arial"/>
                <a:cs typeface="Arial"/>
              </a:rPr>
              <a:t>ПИКЕТ собирает события в одну рабочую очередь.</a:t>
            </a:r>
          </a:p>
        </p:txBody>
      </p:sp>
      <p:sp>
        <p:nvSpPr>
          <p:cNvPr id="7" name="">
            <a:extLst xmlns:a="http://schemas.openxmlformats.org/drawingml/2006/main">
              <a:ext uri="{FF2B5EF4-FFF2-40B4-BE49-F238E27FC236}">
                <a16:creationId xmlns:a16="http://schemas.microsoft.com/office/drawing/2014/main" id="{57F1A8D5-C040-449C-B75E-5DD10338A329}"/>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766B"/>
                </a:solidFill>
                <a:latin typeface="Arial"/>
                <a:ea typeface="Arial"/>
                <a:cs typeface="Arial"/>
              </a:defRPr>
            </a:pPr>
            <a:r>
              <a:rPr sz="1200" b="0">
                <a:solidFill>
                  <a:srgbClr val="65766B"/>
                </a:solidFill>
                <a:latin typeface="Arial"/>
                <a:ea typeface="Arial"/>
                <a:cs typeface="Arial"/>
              </a:rPr>
              <a:t>Полная история уже импортирована. Метрики далее относятся к опубликованной версии исследования.</a:t>
            </a:r>
          </a:p>
        </p:txBody>
      </p:sp>
      <p:sp>
        <p:nvSpPr>
          <p:cNvPr id="8" name="">
            <a:extLst xmlns:a="http://schemas.openxmlformats.org/drawingml/2006/main">
              <a:ext uri="{FF2B5EF4-FFF2-40B4-BE49-F238E27FC236}">
                <a16:creationId xmlns:a16="http://schemas.microsoft.com/office/drawing/2014/main" id="{768A6E06-8130-43D6-8EC3-D3BF05085F9F}"/>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66B"/>
                </a:solidFill>
                <a:latin typeface="Arial"/>
                <a:ea typeface="Arial"/>
                <a:cs typeface="Arial"/>
              </a:defRPr>
            </a:pPr>
            <a:r>
              <a:rPr sz="1275" b="0">
                <a:solidFill>
                  <a:srgbClr val="65766B"/>
                </a:solidFill>
                <a:latin typeface="Arial"/>
                <a:ea typeface="Arial"/>
                <a:cs typeface="Arial"/>
              </a:rPr>
              <a:t>02</a:t>
            </a:r>
          </a:p>
        </p:txBody>
      </p:sp>
    </p:spTree>
    <p:extLst>
      <p:ext uri="{BB962C8B-B14F-4D97-AF65-F5344CB8AC3E}">
        <p14:creationId xmlns:p14="http://schemas.microsoft.com/office/powerpoint/2010/main" val="953303404"/>
      </p:ext>
    </p:extLst>
  </p:cSld>
</p:sld>
</file>

<file path=ppt/slides/slide3.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ED72F96-50A9-45B7-A527-CA61216B8B57}"/>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Предупреждение за 14,6 дня</a:t>
            </a:r>
          </a:p>
        </p:txBody>
      </p:sp>
      <p:graphicFrame>
        <p:nvGraphicFramePr>
          <p:cNvPr id="9" name="Chart"/>
          <p:cNvGraphicFramePr/>
          <p:nvPr/>
        </p:nvGraphicFramePr>
        <p:xfrm>
          <a:off xmlns:a="http://schemas.openxmlformats.org/drawingml/2006/main" x="609600" y="1752600"/>
          <a:ext xmlns:a="http://schemas.openxmlformats.org/drawingml/2006/main" cx="7543800" cy="4124325"/>
        </p:xfrm>
        <a:graphic xmlns:a="http://schemas.openxmlformats.org/drawingml/2006/main">
          <a:graphicData uri="http://schemas.openxmlformats.org/drawingml/2006/chart">
            <c:chart xmlns:r="http://schemas.openxmlformats.org/officeDocument/2006/relationships" xmlns:c="http://schemas.openxmlformats.org/drawingml/2006/chart" r:id="Rd49e0409c803435d"/>
          </a:graphicData>
        </a:graphic>
      </p:graphicFrame>
      <p:sp>
        <p:nvSpPr>
          <p:cNvPr id="3" name="">
            <a:extLst xmlns:a="http://schemas.openxmlformats.org/drawingml/2006/main">
              <a:ext uri="{FF2B5EF4-FFF2-40B4-BE49-F238E27FC236}">
                <a16:creationId xmlns:a16="http://schemas.microsoft.com/office/drawing/2014/main" id="{2C6C590B-0B4B-4096-A123-5CE10AB71D04}"/>
              </a:ext>
            </a:extLst>
          </p:cNvPr>
          <p:cNvSpPr>
            <a:spLocks xmlns:a="http://schemas.openxmlformats.org/drawingml/2006/main" noGrp="1"/>
          </p:cNvSpPr>
          <p:nvPr/>
        </p:nvSpPr>
        <p:spPr>
          <a:xfrm xmlns:a="http://schemas.openxmlformats.org/drawingml/2006/main">
            <a:off x="8534400" y="1905000"/>
            <a:ext cx="304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D8F77B"/>
                </a:solidFill>
                <a:latin typeface="Arial"/>
                <a:ea typeface="Arial"/>
                <a:cs typeface="Arial"/>
              </a:defRPr>
            </a:pPr>
            <a:r>
              <a:rPr sz="3375" b="1">
                <a:solidFill>
                  <a:srgbClr val="D8F77B"/>
                </a:solidFill>
                <a:latin typeface="Arial"/>
                <a:ea typeface="Arial"/>
                <a:cs typeface="Arial"/>
              </a:rPr>
              <a:t>553-1</a:t>
            </a:r>
          </a:p>
        </p:txBody>
      </p:sp>
      <p:sp>
        <p:nvSpPr>
          <p:cNvPr id="4" name="">
            <a:extLst xmlns:a="http://schemas.openxmlformats.org/drawingml/2006/main">
              <a:ext uri="{FF2B5EF4-FFF2-40B4-BE49-F238E27FC236}">
                <a16:creationId xmlns:a16="http://schemas.microsoft.com/office/drawing/2014/main" id="{2A46016D-BD13-4C12-85DB-705454814E72}"/>
              </a:ext>
            </a:extLst>
          </p:cNvPr>
          <p:cNvSpPr>
            <a:spLocks xmlns:a="http://schemas.openxmlformats.org/drawingml/2006/main" noGrp="1"/>
          </p:cNvSpPr>
          <p:nvPr/>
        </p:nvSpPr>
        <p:spPr>
          <a:xfrm xmlns:a="http://schemas.openxmlformats.org/drawingml/2006/main">
            <a:off x="8572500" y="2876550"/>
            <a:ext cx="285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29 марта</a:t>
            </a:r>
          </a:p>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предупреждение</a:t>
            </a:r>
          </a:p>
        </p:txBody>
      </p:sp>
      <p:sp>
        <p:nvSpPr>
          <p:cNvPr id="5" name="">
            <a:extLst xmlns:a="http://schemas.openxmlformats.org/drawingml/2006/main">
              <a:ext uri="{FF2B5EF4-FFF2-40B4-BE49-F238E27FC236}">
                <a16:creationId xmlns:a16="http://schemas.microsoft.com/office/drawing/2014/main" id="{43E43AEF-120E-4B12-85DE-86F3193FD50B}"/>
              </a:ext>
            </a:extLst>
          </p:cNvPr>
          <p:cNvSpPr>
            <a:spLocks xmlns:a="http://schemas.openxmlformats.org/drawingml/2006/main" noGrp="1"/>
          </p:cNvSpPr>
          <p:nvPr/>
        </p:nvSpPr>
        <p:spPr>
          <a:xfrm xmlns:a="http://schemas.openxmlformats.org/drawingml/2006/main">
            <a:off x="8572500" y="4362450"/>
            <a:ext cx="285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13 апреля</a:t>
            </a:r>
          </a:p>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начало инцидента</a:t>
            </a:r>
          </a:p>
        </p:txBody>
      </p:sp>
      <p:sp>
        <p:nvSpPr>
          <p:cNvPr id="6" name="">
            <a:extLst xmlns:a="http://schemas.openxmlformats.org/drawingml/2006/main">
              <a:ext uri="{FF2B5EF4-FFF2-40B4-BE49-F238E27FC236}">
                <a16:creationId xmlns:a16="http://schemas.microsoft.com/office/drawing/2014/main" id="{BF24BD31-CA68-4BE5-9706-A3ABB4FD5175}"/>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Один успешный пример из полного replay. Групповой диагностический инцидент.</a:t>
            </a:r>
          </a:p>
        </p:txBody>
      </p:sp>
      <p:sp>
        <p:nvSpPr>
          <p:cNvPr id="7" name="">
            <a:extLst xmlns:a="http://schemas.openxmlformats.org/drawingml/2006/main">
              <a:ext uri="{FF2B5EF4-FFF2-40B4-BE49-F238E27FC236}">
                <a16:creationId xmlns:a16="http://schemas.microsoft.com/office/drawing/2014/main" id="{2F878E47-D355-4280-8A38-0823D8989F22}"/>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03</a:t>
            </a:r>
          </a:p>
        </p:txBody>
      </p:sp>
    </p:spTree>
    <p:extLst>
      <p:ext uri="{BB962C8B-B14F-4D97-AF65-F5344CB8AC3E}">
        <p14:creationId xmlns:p14="http://schemas.microsoft.com/office/powerpoint/2010/main" val="1663393056"/>
      </p:ext>
    </p:extLst>
  </p:cSld>
</p:sld>
</file>

<file path=ppt/slides/slide4.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D28EBA5-FFC2-4F4F-A51C-81C009549192}"/>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Сигнал становится</a:t>
            </a:r>
          </a:p>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конкретной проверкой</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2e5ab04a1b748b2"/>
          <a:stretch xmlns:a="http://schemas.openxmlformats.org/drawingml/2006/main"/>
        </p:blipFill>
        <p:spPr>
          <a:xfrm xmlns:a="http://schemas.openxmlformats.org/drawingml/2006/main">
            <a:off x="4098529" y="1504950"/>
            <a:ext cx="7395367" cy="46863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932318B-3F8C-42BA-B6D0-6E8914F20663}"/>
              </a:ext>
            </a:extLst>
          </p:cNvPr>
          <p:cNvSpPr>
            <a:spLocks xmlns:a="http://schemas.openxmlformats.org/drawingml/2006/main" noGrp="1"/>
          </p:cNvSpPr>
          <p:nvPr/>
        </p:nvSpPr>
        <p:spPr>
          <a:xfrm xmlns:a="http://schemas.openxmlformats.org/drawingml/2006/main">
            <a:off x="619125" y="1952625"/>
            <a:ext cx="320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83C30"/>
                </a:solidFill>
                <a:latin typeface="Arial"/>
                <a:ea typeface="Arial"/>
                <a:cs typeface="Arial"/>
              </a:defRPr>
            </a:pPr>
            <a:r>
              <a:rPr sz="2625" b="1">
                <a:solidFill>
                  <a:srgbClr val="183C30"/>
                </a:solidFill>
                <a:latin typeface="Arial"/>
                <a:ea typeface="Arial"/>
                <a:cs typeface="Arial"/>
              </a:rPr>
              <a:t>Группа 553-1</a:t>
            </a:r>
          </a:p>
        </p:txBody>
      </p:sp>
      <p:sp>
        <p:nvSpPr>
          <p:cNvPr id="4" name="">
            <a:extLst xmlns:a="http://schemas.openxmlformats.org/drawingml/2006/main">
              <a:ext uri="{FF2B5EF4-FFF2-40B4-BE49-F238E27FC236}">
                <a16:creationId xmlns:a16="http://schemas.microsoft.com/office/drawing/2014/main" id="{2B7FDE41-9F0F-4B00-B34E-F5002FE834DB}"/>
              </a:ext>
            </a:extLst>
          </p:cNvPr>
          <p:cNvSpPr>
            <a:spLocks xmlns:a="http://schemas.openxmlformats.org/drawingml/2006/main" noGrp="1"/>
          </p:cNvSpPr>
          <p:nvPr/>
        </p:nvSpPr>
        <p:spPr>
          <a:xfrm xmlns:a="http://schemas.openxmlformats.org/drawingml/2006/main">
            <a:off x="638175" y="2971800"/>
            <a:ext cx="31623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83C30"/>
                </a:solidFill>
                <a:latin typeface="Arial"/>
                <a:ea typeface="Arial"/>
                <a:cs typeface="Arial"/>
              </a:defRPr>
            </a:pPr>
            <a:r>
              <a:rPr sz="2400" b="0">
                <a:solidFill>
                  <a:srgbClr val="183C30"/>
                </a:solidFill>
                <a:latin typeface="Arial"/>
                <a:ea typeface="Arial"/>
                <a:cs typeface="Arial"/>
              </a:rPr>
              <a:t>Питание</a:t>
            </a:r>
          </a:p>
          <a:p xmlns:a="http://schemas.openxmlformats.org/drawingml/2006/main">
            <a:pPr>
              <a:defRPr sz="2400" b="0">
                <a:solidFill>
                  <a:srgbClr val="183C30"/>
                </a:solidFill>
                <a:latin typeface="Arial"/>
                <a:ea typeface="Arial"/>
                <a:cs typeface="Arial"/>
              </a:defRPr>
            </a:pPr>
            <a:r>
              <a:rPr sz="2400" b="0">
                <a:solidFill>
                  <a:srgbClr val="183C30"/>
                </a:solidFill>
                <a:latin typeface="Arial"/>
                <a:ea typeface="Arial"/>
                <a:cs typeface="Arial"/>
              </a:rPr>
              <a:t>и соединения</a:t>
            </a:r>
          </a:p>
        </p:txBody>
      </p:sp>
      <p:sp>
        <p:nvSpPr>
          <p:cNvPr id="5" name="">
            <a:extLst xmlns:a="http://schemas.openxmlformats.org/drawingml/2006/main">
              <a:ext uri="{FF2B5EF4-FFF2-40B4-BE49-F238E27FC236}">
                <a16:creationId xmlns:a16="http://schemas.microsoft.com/office/drawing/2014/main" id="{EB52AEBC-EA05-4B13-BB2B-9ADAA79FF4CD}"/>
              </a:ext>
            </a:extLst>
          </p:cNvPr>
          <p:cNvSpPr>
            <a:spLocks xmlns:a="http://schemas.openxmlformats.org/drawingml/2006/main" noGrp="1"/>
          </p:cNvSpPr>
          <p:nvPr/>
        </p:nvSpPr>
        <p:spPr>
          <a:xfrm xmlns:a="http://schemas.openxmlformats.org/drawingml/2006/main">
            <a:off x="638175" y="4581525"/>
            <a:ext cx="317182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C30"/>
                </a:solidFill>
                <a:latin typeface="Arial"/>
                <a:ea typeface="Arial"/>
                <a:cs typeface="Arial"/>
              </a:defRPr>
            </a:pPr>
            <a:r>
              <a:rPr sz="2175" b="0">
                <a:solidFill>
                  <a:srgbClr val="183C30"/>
                </a:solidFill>
                <a:latin typeface="Arial"/>
                <a:ea typeface="Arial"/>
                <a:cs typeface="Arial"/>
              </a:rPr>
              <a:t>Датчики в заявке</a:t>
            </a:r>
          </a:p>
          <a:p xmlns:a="http://schemas.openxmlformats.org/drawingml/2006/main">
            <a:pPr>
              <a:defRPr sz="2175" b="0">
                <a:solidFill>
                  <a:srgbClr val="183C30"/>
                </a:solidFill>
                <a:latin typeface="Arial"/>
                <a:ea typeface="Arial"/>
                <a:cs typeface="Arial"/>
              </a:defRPr>
            </a:pPr>
            <a:r>
              <a:rPr sz="2175" b="0">
                <a:solidFill>
                  <a:srgbClr val="183C30"/>
                </a:solidFill>
                <a:latin typeface="Arial"/>
                <a:ea typeface="Arial"/>
                <a:cs typeface="Arial"/>
              </a:rPr>
              <a:t>и комментарий</a:t>
            </a:r>
          </a:p>
          <a:p xmlns:a="http://schemas.openxmlformats.org/drawingml/2006/main">
            <a:pPr>
              <a:defRPr sz="2175" b="0">
                <a:solidFill>
                  <a:srgbClr val="183C30"/>
                </a:solidFill>
                <a:latin typeface="Arial"/>
                <a:ea typeface="Arial"/>
                <a:cs typeface="Arial"/>
              </a:defRPr>
            </a:pPr>
            <a:r>
              <a:rPr sz="2175" b="0">
                <a:solidFill>
                  <a:srgbClr val="183C30"/>
                </a:solidFill>
                <a:latin typeface="Arial"/>
                <a:ea typeface="Arial"/>
                <a:cs typeface="Arial"/>
              </a:rPr>
              <a:t>диспетчера</a:t>
            </a:r>
          </a:p>
        </p:txBody>
      </p:sp>
      <p:sp>
        <p:nvSpPr>
          <p:cNvPr id="6" name="">
            <a:extLst xmlns:a="http://schemas.openxmlformats.org/drawingml/2006/main">
              <a:ext uri="{FF2B5EF4-FFF2-40B4-BE49-F238E27FC236}">
                <a16:creationId xmlns:a16="http://schemas.microsoft.com/office/drawing/2014/main" id="{B6AD4FFA-12AF-4158-9B9A-DCB21AD116D2}"/>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766B"/>
                </a:solidFill>
                <a:latin typeface="Arial"/>
                <a:ea typeface="Arial"/>
                <a:cs typeface="Arial"/>
              </a:defRPr>
            </a:pPr>
            <a:r>
              <a:rPr sz="1200" b="0">
                <a:solidFill>
                  <a:srgbClr val="65766B"/>
                </a:solidFill>
                <a:latin typeface="Arial"/>
                <a:ea typeface="Arial"/>
                <a:cs typeface="Arial"/>
              </a:rPr>
              <a:t>Черновик на реальных данных. Решение сохранено в браузере, выезд не назначен.</a:t>
            </a:r>
          </a:p>
        </p:txBody>
      </p:sp>
      <p:sp>
        <p:nvSpPr>
          <p:cNvPr id="7" name="">
            <a:extLst xmlns:a="http://schemas.openxmlformats.org/drawingml/2006/main">
              <a:ext uri="{FF2B5EF4-FFF2-40B4-BE49-F238E27FC236}">
                <a16:creationId xmlns:a16="http://schemas.microsoft.com/office/drawing/2014/main" id="{B185291A-DCB4-4775-AC70-CE8C451E6637}"/>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66B"/>
                </a:solidFill>
                <a:latin typeface="Arial"/>
                <a:ea typeface="Arial"/>
                <a:cs typeface="Arial"/>
              </a:defRPr>
            </a:pPr>
            <a:r>
              <a:rPr sz="1275" b="0">
                <a:solidFill>
                  <a:srgbClr val="65766B"/>
                </a:solidFill>
                <a:latin typeface="Arial"/>
                <a:ea typeface="Arial"/>
                <a:cs typeface="Arial"/>
              </a:rPr>
              <a:t>04</a:t>
            </a:r>
          </a:p>
        </p:txBody>
      </p:sp>
    </p:spTree>
    <p:extLst>
      <p:ext uri="{BB962C8B-B14F-4D97-AF65-F5344CB8AC3E}">
        <p14:creationId xmlns:p14="http://schemas.microsoft.com/office/powerpoint/2010/main" val="1146646078"/>
      </p:ext>
    </p:extLst>
  </p:cSld>
</p:sld>
</file>

<file path=ppt/slides/slide5.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C0EC39-A865-46BA-8A84-486BE6B968A8}"/>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Настоящий расчёт по вашему CSV</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097f8ad1d044c89"/>
          <a:stretch xmlns:a="http://schemas.openxmlformats.org/drawingml/2006/main"/>
        </p:blipFill>
        <p:spPr>
          <a:xfrm xmlns:a="http://schemas.openxmlformats.org/drawingml/2006/main">
            <a:off x="4726686" y="1504950"/>
            <a:ext cx="6967728" cy="48387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8CD1D68-C564-43D7-83D7-89BBB51FE6DC}"/>
              </a:ext>
            </a:extLst>
          </p:cNvPr>
          <p:cNvSpPr>
            <a:spLocks xmlns:a="http://schemas.openxmlformats.org/drawingml/2006/main" noGrp="1"/>
          </p:cNvSpPr>
          <p:nvPr/>
        </p:nvSpPr>
        <p:spPr>
          <a:xfrm xmlns:a="http://schemas.openxmlformats.org/drawingml/2006/main">
            <a:off x="609600" y="1952625"/>
            <a:ext cx="3952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183C30"/>
                </a:solidFill>
                <a:latin typeface="Arial"/>
                <a:ea typeface="Arial"/>
                <a:cs typeface="Arial"/>
              </a:defRPr>
            </a:pPr>
            <a:r>
              <a:rPr sz="3825" b="1">
                <a:solidFill>
                  <a:srgbClr val="183C30"/>
                </a:solidFill>
                <a:latin typeface="Arial"/>
                <a:ea typeface="Arial"/>
                <a:cs typeface="Arial"/>
              </a:rPr>
              <a:t>8 моделей</a:t>
            </a:r>
          </a:p>
        </p:txBody>
      </p:sp>
      <p:sp>
        <p:nvSpPr>
          <p:cNvPr id="4" name="">
            <a:extLst xmlns:a="http://schemas.openxmlformats.org/drawingml/2006/main">
              <a:ext uri="{FF2B5EF4-FFF2-40B4-BE49-F238E27FC236}">
                <a16:creationId xmlns:a16="http://schemas.microsoft.com/office/drawing/2014/main" id="{D0DFD423-5E9D-4445-A7D9-82A81ED09FCD}"/>
              </a:ext>
            </a:extLst>
          </p:cNvPr>
          <p:cNvSpPr>
            <a:spLocks xmlns:a="http://schemas.openxmlformats.org/drawingml/2006/main" noGrp="1"/>
          </p:cNvSpPr>
          <p:nvPr/>
        </p:nvSpPr>
        <p:spPr>
          <a:xfrm xmlns:a="http://schemas.openxmlformats.org/drawingml/2006/main">
            <a:off x="609600" y="3228975"/>
            <a:ext cx="39528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83C30"/>
                </a:solidFill>
                <a:latin typeface="Arial"/>
                <a:ea typeface="Arial"/>
                <a:cs typeface="Arial"/>
              </a:defRPr>
            </a:pPr>
            <a:r>
              <a:rPr sz="3225" b="1">
                <a:solidFill>
                  <a:srgbClr val="183C30"/>
                </a:solidFill>
                <a:latin typeface="Arial"/>
                <a:ea typeface="Arial"/>
                <a:cs typeface="Arial"/>
              </a:rPr>
              <a:t>178 признаков</a:t>
            </a:r>
          </a:p>
        </p:txBody>
      </p:sp>
      <p:sp>
        <p:nvSpPr>
          <p:cNvPr id="5" name="">
            <a:extLst xmlns:a="http://schemas.openxmlformats.org/drawingml/2006/main">
              <a:ext uri="{FF2B5EF4-FFF2-40B4-BE49-F238E27FC236}">
                <a16:creationId xmlns:a16="http://schemas.microsoft.com/office/drawing/2014/main" id="{C0F9654A-BF57-4C47-9FF7-A7F0AC92B0F2}"/>
              </a:ext>
            </a:extLst>
          </p:cNvPr>
          <p:cNvSpPr>
            <a:spLocks xmlns:a="http://schemas.openxmlformats.org/drawingml/2006/main" noGrp="1"/>
          </p:cNvSpPr>
          <p:nvPr/>
        </p:nvSpPr>
        <p:spPr>
          <a:xfrm xmlns:a="http://schemas.openxmlformats.org/drawingml/2006/main">
            <a:off x="647700" y="4648200"/>
            <a:ext cx="3857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183C30"/>
                </a:solidFill>
                <a:latin typeface="Arial"/>
                <a:ea typeface="Arial"/>
                <a:cs typeface="Arial"/>
              </a:defRPr>
            </a:pPr>
            <a:r>
              <a:rPr sz="2775" b="1">
                <a:solidFill>
                  <a:srgbClr val="183C30"/>
                </a:solidFill>
                <a:latin typeface="Arial"/>
                <a:ea typeface="Arial"/>
                <a:cs typeface="Arial"/>
              </a:rPr>
              <a:t>Файл остаётся</a:t>
            </a:r>
          </a:p>
          <a:p xmlns:a="http://schemas.openxmlformats.org/drawingml/2006/main">
            <a:pPr>
              <a:defRPr sz="2775" b="1">
                <a:solidFill>
                  <a:srgbClr val="183C30"/>
                </a:solidFill>
                <a:latin typeface="Arial"/>
                <a:ea typeface="Arial"/>
                <a:cs typeface="Arial"/>
              </a:defRPr>
            </a:pPr>
            <a:r>
              <a:rPr sz="2775" b="1">
                <a:solidFill>
                  <a:srgbClr val="183C30"/>
                </a:solidFill>
                <a:latin typeface="Arial"/>
                <a:ea typeface="Arial"/>
                <a:cs typeface="Arial"/>
              </a:rPr>
              <a:t>в браузере</a:t>
            </a:r>
          </a:p>
        </p:txBody>
      </p:sp>
      <p:sp>
        <p:nvSpPr>
          <p:cNvPr id="6" name="">
            <a:extLst xmlns:a="http://schemas.openxmlformats.org/drawingml/2006/main">
              <a:ext uri="{FF2B5EF4-FFF2-40B4-BE49-F238E27FC236}">
                <a16:creationId xmlns:a16="http://schemas.microsoft.com/office/drawing/2014/main" id="{22EB29E5-088A-44E5-989C-195D4981E0C1}"/>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766B"/>
                </a:solidFill>
                <a:latin typeface="Arial"/>
                <a:ea typeface="Arial"/>
                <a:cs typeface="Arial"/>
              </a:defRPr>
            </a:pPr>
            <a:r>
              <a:rPr sz="1200" b="0">
                <a:solidFill>
                  <a:srgbClr val="65766B"/>
                </a:solidFill>
                <a:latin typeface="Arial"/>
                <a:ea typeface="Arial"/>
                <a:cs typeface="Arial"/>
              </a:rPr>
              <a:t>Вход: подготовленная таблица признаков. Архивный пример: 26 настоящих строк за 01.06.2026.</a:t>
            </a:r>
          </a:p>
        </p:txBody>
      </p:sp>
      <p:sp>
        <p:nvSpPr>
          <p:cNvPr id="7" name="">
            <a:extLst xmlns:a="http://schemas.openxmlformats.org/drawingml/2006/main">
              <a:ext uri="{FF2B5EF4-FFF2-40B4-BE49-F238E27FC236}">
                <a16:creationId xmlns:a16="http://schemas.microsoft.com/office/drawing/2014/main" id="{418C96F8-F957-42BF-9210-2F0789AF9A4F}"/>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66B"/>
                </a:solidFill>
                <a:latin typeface="Arial"/>
                <a:ea typeface="Arial"/>
                <a:cs typeface="Arial"/>
              </a:defRPr>
            </a:pPr>
            <a:r>
              <a:rPr sz="1275" b="0">
                <a:solidFill>
                  <a:srgbClr val="65766B"/>
                </a:solidFill>
                <a:latin typeface="Arial"/>
                <a:ea typeface="Arial"/>
                <a:cs typeface="Arial"/>
              </a:rPr>
              <a:t>05</a:t>
            </a:r>
          </a:p>
        </p:txBody>
      </p:sp>
    </p:spTree>
    <p:extLst>
      <p:ext uri="{BB962C8B-B14F-4D97-AF65-F5344CB8AC3E}">
        <p14:creationId xmlns:p14="http://schemas.microsoft.com/office/powerpoint/2010/main" val="1529876471"/>
      </p:ext>
    </p:extLst>
  </p:cSld>
</p:sld>
</file>

<file path=ppt/slides/slide6.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0FBE11-61D5-4691-ADE5-04C50A6D23AE}"/>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Пять лишних заявок убрали.</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Девять инцидентов сохранили</a:t>
            </a:r>
          </a:p>
        </p:txBody>
      </p:sp>
      <p:graphicFrame>
        <p:nvGraphicFramePr>
          <p:cNvPr id="10" name="Chart"/>
          <p:cNvGraphicFramePr/>
          <p:nvPr/>
        </p:nvGraphicFramePr>
        <p:xfrm>
          <a:off xmlns:a="http://schemas.openxmlformats.org/drawingml/2006/main" x="609600" y="1714500"/>
          <a:ext xmlns:a="http://schemas.openxmlformats.org/drawingml/2006/main" cx="7296150" cy="4076700"/>
        </p:xfrm>
        <a:graphic xmlns:a="http://schemas.openxmlformats.org/drawingml/2006/main">
          <a:graphicData uri="http://schemas.openxmlformats.org/drawingml/2006/chart">
            <c:chart xmlns:r="http://schemas.openxmlformats.org/officeDocument/2006/relationships" xmlns:c="http://schemas.openxmlformats.org/drawingml/2006/chart" r:id="R2629ff57eae94c87"/>
          </a:graphicData>
        </a:graphic>
      </p:graphicFrame>
      <p:sp>
        <p:nvSpPr>
          <p:cNvPr id="3" name="">
            <a:extLst xmlns:a="http://schemas.openxmlformats.org/drawingml/2006/main">
              <a:ext uri="{FF2B5EF4-FFF2-40B4-BE49-F238E27FC236}">
                <a16:creationId xmlns:a16="http://schemas.microsoft.com/office/drawing/2014/main" id="{F1437D1D-D034-4E07-9F8B-4BBF3791A33C}"/>
              </a:ext>
            </a:extLst>
          </p:cNvPr>
          <p:cNvSpPr>
            <a:spLocks xmlns:a="http://schemas.openxmlformats.org/drawingml/2006/main" noGrp="1"/>
          </p:cNvSpPr>
          <p:nvPr/>
        </p:nvSpPr>
        <p:spPr>
          <a:xfrm xmlns:a="http://schemas.openxmlformats.org/drawingml/2006/main">
            <a:off x="8305800" y="1914525"/>
            <a:ext cx="323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D8F77B"/>
                </a:solidFill>
                <a:latin typeface="Arial"/>
                <a:ea typeface="Arial"/>
                <a:cs typeface="Arial"/>
              </a:defRPr>
            </a:pPr>
            <a:r>
              <a:rPr sz="4950" b="1">
                <a:solidFill>
                  <a:srgbClr val="D8F77B"/>
                </a:solidFill>
                <a:latin typeface="Arial"/>
                <a:ea typeface="Arial"/>
                <a:cs typeface="Arial"/>
              </a:rPr>
              <a:t>56,3%</a:t>
            </a:r>
          </a:p>
        </p:txBody>
      </p:sp>
      <p:sp>
        <p:nvSpPr>
          <p:cNvPr id="4" name="">
            <a:extLst xmlns:a="http://schemas.openxmlformats.org/drawingml/2006/main">
              <a:ext uri="{FF2B5EF4-FFF2-40B4-BE49-F238E27FC236}">
                <a16:creationId xmlns:a16="http://schemas.microsoft.com/office/drawing/2014/main" id="{BE8CD3F1-96D3-48F3-A8B8-0F9D5C91F038}"/>
              </a:ext>
            </a:extLst>
          </p:cNvPr>
          <p:cNvSpPr>
            <a:spLocks xmlns:a="http://schemas.openxmlformats.org/drawingml/2006/main" noGrp="1"/>
          </p:cNvSpPr>
          <p:nvPr/>
        </p:nvSpPr>
        <p:spPr>
          <a:xfrm xmlns:a="http://schemas.openxmlformats.org/drawingml/2006/main">
            <a:off x="8362950" y="2828925"/>
            <a:ext cx="31527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точность заявок</a:t>
            </a:r>
          </a:p>
        </p:txBody>
      </p:sp>
      <p:sp>
        <p:nvSpPr>
          <p:cNvPr id="5" name="">
            <a:extLst xmlns:a="http://schemas.openxmlformats.org/drawingml/2006/main">
              <a:ext uri="{FF2B5EF4-FFF2-40B4-BE49-F238E27FC236}">
                <a16:creationId xmlns:a16="http://schemas.microsoft.com/office/drawing/2014/main" id="{2EF92E48-92FF-4020-B966-FC073FCF4FD0}"/>
              </a:ext>
            </a:extLst>
          </p:cNvPr>
          <p:cNvSpPr>
            <a:spLocks xmlns:a="http://schemas.openxmlformats.org/drawingml/2006/main" noGrp="1"/>
          </p:cNvSpPr>
          <p:nvPr/>
        </p:nvSpPr>
        <p:spPr>
          <a:xfrm xmlns:a="http://schemas.openxmlformats.org/drawingml/2006/main">
            <a:off x="8305800" y="3924300"/>
            <a:ext cx="323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F3F1E9"/>
                </a:solidFill>
                <a:latin typeface="Arial"/>
                <a:ea typeface="Arial"/>
                <a:cs typeface="Arial"/>
              </a:defRPr>
            </a:pPr>
            <a:r>
              <a:rPr sz="4950" b="1">
                <a:solidFill>
                  <a:srgbClr val="F3F1E9"/>
                </a:solidFill>
                <a:latin typeface="Arial"/>
                <a:ea typeface="Arial"/>
                <a:cs typeface="Arial"/>
              </a:rPr>
              <a:t>40,9%</a:t>
            </a:r>
          </a:p>
        </p:txBody>
      </p:sp>
      <p:sp>
        <p:nvSpPr>
          <p:cNvPr id="6" name="">
            <a:extLst xmlns:a="http://schemas.openxmlformats.org/drawingml/2006/main">
              <a:ext uri="{FF2B5EF4-FFF2-40B4-BE49-F238E27FC236}">
                <a16:creationId xmlns:a16="http://schemas.microsoft.com/office/drawing/2014/main" id="{DF31F40F-31D8-43EE-BBC5-0631FF77F5DC}"/>
              </a:ext>
            </a:extLst>
          </p:cNvPr>
          <p:cNvSpPr>
            <a:spLocks xmlns:a="http://schemas.openxmlformats.org/drawingml/2006/main" noGrp="1"/>
          </p:cNvSpPr>
          <p:nvPr/>
        </p:nvSpPr>
        <p:spPr>
          <a:xfrm xmlns:a="http://schemas.openxmlformats.org/drawingml/2006/main">
            <a:off x="8362950" y="4857750"/>
            <a:ext cx="31527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полнота по инцидентам</a:t>
            </a:r>
          </a:p>
        </p:txBody>
      </p:sp>
      <p:sp>
        <p:nvSpPr>
          <p:cNvPr id="7" name="">
            <a:extLst xmlns:a="http://schemas.openxmlformats.org/drawingml/2006/main">
              <a:ext uri="{FF2B5EF4-FFF2-40B4-BE49-F238E27FC236}">
                <a16:creationId xmlns:a16="http://schemas.microsoft.com/office/drawing/2014/main" id="{B32D9A87-F05B-440F-A057-4B741DD832F0}"/>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Январь–июнь 2026, ретроспектива. 22 инцидента, 13 пропущенных. Медиана упреждения 7,4 дня.</a:t>
            </a:r>
          </a:p>
        </p:txBody>
      </p:sp>
      <p:sp>
        <p:nvSpPr>
          <p:cNvPr id="8" name="">
            <a:extLst xmlns:a="http://schemas.openxmlformats.org/drawingml/2006/main">
              <a:ext uri="{FF2B5EF4-FFF2-40B4-BE49-F238E27FC236}">
                <a16:creationId xmlns:a16="http://schemas.microsoft.com/office/drawing/2014/main" id="{C8B829D7-5DED-4FF2-B5C2-5C4112D17DE6}"/>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06</a:t>
            </a:r>
          </a:p>
        </p:txBody>
      </p:sp>
    </p:spTree>
    <p:extLst>
      <p:ext uri="{BB962C8B-B14F-4D97-AF65-F5344CB8AC3E}">
        <p14:creationId xmlns:p14="http://schemas.microsoft.com/office/powerpoint/2010/main" val="420390412"/>
      </p:ext>
    </p:extLst>
  </p:cSld>
</p:sld>
</file>

<file path=ppt/slides/slide7.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FCC2A3D-1DAB-4AA8-8058-94101F303928}"/>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Почему решение выдерживает</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проверку за пределами ноутбука</a:t>
            </a:r>
          </a:p>
        </p:txBody>
      </p:sp>
      <p:graphicFrame>
        <p:nvGraphicFramePr>
          <p:cNvPr id="6" name=""/>
          <p:cNvGraphicFramePr/>
          <p:nvPr/>
        </p:nvGraphicFramePr>
        <p:xfrm>
          <a:off xmlns:a="http://schemas.openxmlformats.org/drawingml/2006/main" x="609600" y="1781175"/>
          <a:ext xmlns:a="http://schemas.openxmlformats.org/drawingml/2006/main" cx="10972800" cy="3790950"/>
        </p:xfrm>
        <a:graphic xmlns:a="http://schemas.openxmlformats.org/drawingml/2006/main">
          <a:graphicData uri="http://schemas.openxmlformats.org/drawingml/2006/table">
            <a:tbl>
              <a:tblPr/>
              <a:tblGrid>
                <a:gridCol w="5095875"/>
                <a:gridCol w="5876925"/>
              </a:tblGrid>
              <a:tr h="758190">
                <a:tc>
                  <a:txBody>
                    <a:bodyPr/>
                    <a:lstStyle/>
                    <a:p>
                      <a:r>
                        <a:rPr sz="1800" b="1">
                          <a:solidFill>
                            <a:srgbClr val="0D201B"/>
                          </a:solidFill>
                          <a:latin typeface="Arial"/>
                          <a:ea typeface="Arial"/>
                          <a:cs typeface="Arial"/>
                        </a:rPr>
                        <a:t>Инженерное решение</a:t>
                      </a:r>
                    </a:p>
                  </a:txBody>
                  <a:tcPr marL="133350" marR="133350" marT="95250" marB="95250">
                    <a:solidFill>
                      <a:srgbClr val="D8F77B"/>
                    </a:solidFill>
                  </a:tcPr>
                </a:tc>
                <a:tc>
                  <a:txBody>
                    <a:bodyPr/>
                    <a:lstStyle/>
                    <a:p>
                      <a:r>
                        <a:rPr sz="1800" b="1">
                          <a:solidFill>
                            <a:srgbClr val="0D201B"/>
                          </a:solidFill>
                          <a:latin typeface="Arial"/>
                          <a:ea typeface="Arial"/>
                          <a:cs typeface="Arial"/>
                        </a:rPr>
                        <a:t>Что это меняет для заказчика</a:t>
                      </a:r>
                    </a:p>
                  </a:txBody>
                  <a:tcPr marL="133350" marR="133350" marT="95250" marB="95250">
                    <a:solidFill>
                      <a:srgbClr val="D8F77B"/>
                    </a:solidFill>
                  </a:tcPr>
                </a:tc>
              </a:tr>
              <a:tr h="758190">
                <a:tc>
                  <a:txBody>
                    <a:bodyPr/>
                    <a:lstStyle/>
                    <a:p>
                      <a:r>
                        <a:rPr sz="1800">
                          <a:solidFill>
                            <a:srgbClr val="F3F1E9"/>
                          </a:solidFill>
                          <a:latin typeface="Arial"/>
                          <a:ea typeface="Arial"/>
                          <a:cs typeface="Arial"/>
                        </a:rPr>
                        <a:t>Метки и OOF в порядке времени</a:t>
                      </a:r>
                    </a:p>
                  </a:txBody>
                  <a:tcPr marL="133350" marR="133350" marT="95250" marB="95250">
                    <a:solidFill>
                      <a:srgbClr val="0D201B"/>
                    </a:solidFill>
                  </a:tcPr>
                </a:tc>
                <a:tc>
                  <a:txBody>
                    <a:bodyPr/>
                    <a:lstStyle/>
                    <a:p>
                      <a:r>
                        <a:rPr sz="1800">
                          <a:solidFill>
                            <a:srgbClr val="F3F1E9"/>
                          </a:solidFill>
                          <a:latin typeface="Arial"/>
                          <a:ea typeface="Arial"/>
                          <a:cs typeface="Arial"/>
                        </a:rPr>
                        <a:t>Оценка строится без будущих ответов модели</a:t>
                      </a:r>
                    </a:p>
                  </a:txBody>
                  <a:tcPr marL="133350" marR="133350" marT="95250" marB="95250">
                    <a:solidFill>
                      <a:srgbClr val="0D201B"/>
                    </a:solidFill>
                  </a:tcPr>
                </a:tc>
              </a:tr>
              <a:tr h="758190">
                <a:tc>
                  <a:txBody>
                    <a:bodyPr/>
                    <a:lstStyle/>
                    <a:p>
                      <a:r>
                        <a:rPr sz="1800">
                          <a:solidFill>
                            <a:srgbClr val="F3F1E9"/>
                          </a:solidFill>
                          <a:latin typeface="Arial"/>
                          <a:ea typeface="Arial"/>
                          <a:cs typeface="Arial"/>
                        </a:rPr>
                        <a:t>Метрика на заявках и инцидентах</a:t>
                      </a:r>
                    </a:p>
                  </a:txBody>
                  <a:tcPr marL="133350" marR="133350" marT="95250" marB="95250">
                    <a:solidFill>
                      <a:srgbClr val="0D201B"/>
                    </a:solidFill>
                  </a:tcPr>
                </a:tc>
                <a:tc>
                  <a:txBody>
                    <a:bodyPr/>
                    <a:lstStyle/>
                    <a:p>
                      <a:r>
                        <a:rPr sz="1800">
                          <a:solidFill>
                            <a:srgbClr val="F3F1E9"/>
                          </a:solidFill>
                          <a:latin typeface="Arial"/>
                          <a:ea typeface="Arial"/>
                          <a:cs typeface="Arial"/>
                        </a:rPr>
                        <a:t>Видны лишние проверки и пропущенные события</a:t>
                      </a:r>
                    </a:p>
                  </a:txBody>
                  <a:tcPr marL="133350" marR="133350" marT="95250" marB="95250">
                    <a:solidFill>
                      <a:srgbClr val="0D201B"/>
                    </a:solidFill>
                  </a:tcPr>
                </a:tc>
              </a:tr>
              <a:tr h="758190">
                <a:tc>
                  <a:txBody>
                    <a:bodyPr/>
                    <a:lstStyle/>
                    <a:p>
                      <a:r>
                        <a:rPr sz="1800">
                          <a:solidFill>
                            <a:srgbClr val="F3F1E9"/>
                          </a:solidFill>
                          <a:latin typeface="Arial"/>
                          <a:ea typeface="Arial"/>
                          <a:cs typeface="Arial"/>
                        </a:rPr>
                        <a:t>Черновик с основаниями и решением</a:t>
                      </a:r>
                    </a:p>
                  </a:txBody>
                  <a:tcPr marL="133350" marR="133350" marT="95250" marB="95250">
                    <a:solidFill>
                      <a:srgbClr val="0D201B"/>
                    </a:solidFill>
                  </a:tcPr>
                </a:tc>
                <a:tc>
                  <a:txBody>
                    <a:bodyPr/>
                    <a:lstStyle/>
                    <a:p>
                      <a:r>
                        <a:rPr sz="1800">
                          <a:solidFill>
                            <a:srgbClr val="F3F1E9"/>
                          </a:solidFill>
                          <a:latin typeface="Arial"/>
                          <a:ea typeface="Arial"/>
                          <a:cs typeface="Arial"/>
                        </a:rPr>
                        <a:t>Прогноз включён в работу диспетчера</a:t>
                      </a:r>
                    </a:p>
                  </a:txBody>
                  <a:tcPr marL="133350" marR="133350" marT="95250" marB="95250">
                    <a:solidFill>
                      <a:srgbClr val="0D201B"/>
                    </a:solidFill>
                  </a:tcPr>
                </a:tc>
              </a:tr>
              <a:tr h="758190">
                <a:tc>
                  <a:txBody>
                    <a:bodyPr/>
                    <a:lstStyle/>
                    <a:p>
                      <a:r>
                        <a:rPr sz="1800">
                          <a:solidFill>
                            <a:srgbClr val="F3F1E9"/>
                          </a:solidFill>
                          <a:latin typeface="Arial"/>
                          <a:ea typeface="Arial"/>
                          <a:cs typeface="Arial"/>
                        </a:rPr>
                        <a:t>Все 8 моделей работают в браузере</a:t>
                      </a:r>
                    </a:p>
                  </a:txBody>
                  <a:tcPr marL="133350" marR="133350" marT="95250" marB="95250">
                    <a:solidFill>
                      <a:srgbClr val="0D201B"/>
                    </a:solidFill>
                  </a:tcPr>
                </a:tc>
                <a:tc>
                  <a:txBody>
                    <a:bodyPr/>
                    <a:lstStyle/>
                    <a:p>
                      <a:r>
                        <a:rPr sz="1800">
                          <a:solidFill>
                            <a:srgbClr val="F3F1E9"/>
                          </a:solidFill>
                          <a:latin typeface="Arial"/>
                          <a:ea typeface="Arial"/>
                          <a:cs typeface="Arial"/>
                        </a:rPr>
                        <a:t>Свой CSV можно проверить без передачи на сервер</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1F8BFCE9-1F61-4F70-AD69-79270415AC96}"/>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Доказательства доступны в прототипе, контракте CSV, проверке переноса и отчётах replay.</a:t>
            </a:r>
          </a:p>
        </p:txBody>
      </p:sp>
      <p:sp>
        <p:nvSpPr>
          <p:cNvPr id="4" name="">
            <a:extLst xmlns:a="http://schemas.openxmlformats.org/drawingml/2006/main">
              <a:ext uri="{FF2B5EF4-FFF2-40B4-BE49-F238E27FC236}">
                <a16:creationId xmlns:a16="http://schemas.microsoft.com/office/drawing/2014/main" id="{A71543B9-C19A-46E5-80BC-F1D9E06FAD28}"/>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07</a:t>
            </a:r>
          </a:p>
        </p:txBody>
      </p:sp>
    </p:spTree>
    <p:extLst>
      <p:ext uri="{BB962C8B-B14F-4D97-AF65-F5344CB8AC3E}">
        <p14:creationId xmlns:p14="http://schemas.microsoft.com/office/powerpoint/2010/main" val="1849172055"/>
      </p:ext>
    </p:extLst>
  </p:cSld>
</p:sld>
</file>

<file path=ppt/slides/slide8.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5A5D4B9-99DE-407E-B661-8201D1E2A1F6}"/>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Один путь от журнала до заявки</a:t>
            </a:r>
          </a:p>
        </p:txBody>
      </p:sp>
      <p:graphicFrame>
        <p:nvGraphicFramePr>
          <p:cNvPr id="7" name=""/>
          <p:cNvGraphicFramePr/>
          <p:nvPr/>
        </p:nvGraphicFramePr>
        <p:xfrm>
          <a:off xmlns:a="http://schemas.openxmlformats.org/drawingml/2006/main" x="609600" y="1714500"/>
          <a:ext xmlns:a="http://schemas.openxmlformats.org/drawingml/2006/main" cx="10972800" cy="3457575"/>
        </p:xfrm>
        <a:graphic xmlns:a="http://schemas.openxmlformats.org/drawingml/2006/main">
          <a:graphicData uri="http://schemas.openxmlformats.org/drawingml/2006/table">
            <a:tbl>
              <a:tblPr/>
              <a:tblGrid>
                <a:gridCol w="4791075"/>
                <a:gridCol w="6181725"/>
              </a:tblGrid>
              <a:tr h="691515">
                <a:tc>
                  <a:txBody>
                    <a:bodyPr/>
                    <a:lstStyle/>
                    <a:p>
                      <a:r>
                        <a:rPr sz="1950" b="1">
                          <a:solidFill>
                            <a:srgbClr val="0D201B"/>
                          </a:solidFill>
                          <a:latin typeface="Arial"/>
                          <a:ea typeface="Arial"/>
                          <a:cs typeface="Arial"/>
                        </a:rPr>
                        <a:t>Этап</a:t>
                      </a:r>
                    </a:p>
                  </a:txBody>
                  <a:tcPr marL="133350" marR="133350" marT="95250" marB="95250">
                    <a:solidFill>
                      <a:srgbClr val="D8F77B"/>
                    </a:solidFill>
                  </a:tcPr>
                </a:tc>
                <a:tc>
                  <a:txBody>
                    <a:bodyPr/>
                    <a:lstStyle/>
                    <a:p>
                      <a:r>
                        <a:rPr sz="1950" b="1">
                          <a:solidFill>
                            <a:srgbClr val="0D201B"/>
                          </a:solidFill>
                          <a:latin typeface="Arial"/>
                          <a:ea typeface="Arial"/>
                          <a:cs typeface="Arial"/>
                        </a:rPr>
                        <a:t>Проверяемый артефакт</a:t>
                      </a:r>
                    </a:p>
                  </a:txBody>
                  <a:tcPr marL="133350" marR="133350" marT="95250" marB="95250">
                    <a:solidFill>
                      <a:srgbClr val="D8F77B"/>
                    </a:solidFill>
                  </a:tcPr>
                </a:tc>
              </a:tr>
              <a:tr h="691515">
                <a:tc>
                  <a:txBody>
                    <a:bodyPr/>
                    <a:lstStyle/>
                    <a:p>
                      <a:r>
                        <a:rPr sz="1950">
                          <a:solidFill>
                            <a:srgbClr val="F3F1E9"/>
                          </a:solidFill>
                          <a:latin typeface="Arial"/>
                          <a:ea typeface="Arial"/>
                          <a:cs typeface="Arial"/>
                        </a:rPr>
                        <a:t>Журнал и справочник</a:t>
                      </a:r>
                    </a:p>
                  </a:txBody>
                  <a:tcPr marL="133350" marR="133350" marT="95250" marB="95250">
                    <a:solidFill>
                      <a:srgbClr val="0D201B"/>
                    </a:solidFill>
                  </a:tcPr>
                </a:tc>
                <a:tc>
                  <a:txBody>
                    <a:bodyPr/>
                    <a:lstStyle/>
                    <a:p>
                      <a:r>
                        <a:rPr sz="1950">
                          <a:solidFill>
                            <a:srgbClr val="F3F1E9"/>
                          </a:solidFill>
                          <a:latin typeface="Arial"/>
                          <a:ea typeface="Arial"/>
                          <a:cs typeface="Arial"/>
                        </a:rPr>
                        <a:t>Parquet и манифест с хэшем источника</a:t>
                      </a:r>
                    </a:p>
                  </a:txBody>
                  <a:tcPr marL="133350" marR="133350" marT="95250" marB="95250">
                    <a:solidFill>
                      <a:srgbClr val="0D201B"/>
                    </a:solidFill>
                  </a:tcPr>
                </a:tc>
              </a:tr>
              <a:tr h="691515">
                <a:tc>
                  <a:txBody>
                    <a:bodyPr/>
                    <a:lstStyle/>
                    <a:p>
                      <a:r>
                        <a:rPr sz="1950">
                          <a:solidFill>
                            <a:srgbClr val="F3F1E9"/>
                          </a:solidFill>
                          <a:latin typeface="Arial"/>
                          <a:ea typeface="Arial"/>
                          <a:cs typeface="Arial"/>
                        </a:rPr>
                        <a:t>История группы на дату D</a:t>
                      </a:r>
                    </a:p>
                  </a:txBody>
                  <a:tcPr marL="133350" marR="133350" marT="95250" marB="95250">
                    <a:solidFill>
                      <a:srgbClr val="0D201B"/>
                    </a:solidFill>
                  </a:tcPr>
                </a:tc>
                <a:tc>
                  <a:txBody>
                    <a:bodyPr/>
                    <a:lstStyle/>
                    <a:p>
                      <a:r>
                        <a:rPr sz="1950">
                          <a:solidFill>
                            <a:srgbClr val="F3F1E9"/>
                          </a:solidFill>
                          <a:latin typeface="Arial"/>
                          <a:ea typeface="Arial"/>
                          <a:cs typeface="Arial"/>
                        </a:rPr>
                        <a:t>Витрина признаков с временным контрактом</a:t>
                      </a:r>
                    </a:p>
                  </a:txBody>
                  <a:tcPr marL="133350" marR="133350" marT="95250" marB="95250">
                    <a:solidFill>
                      <a:srgbClr val="0D201B"/>
                    </a:solidFill>
                  </a:tcPr>
                </a:tc>
              </a:tr>
              <a:tr h="691515">
                <a:tc>
                  <a:txBody>
                    <a:bodyPr/>
                    <a:lstStyle/>
                    <a:p>
                      <a:r>
                        <a:rPr sz="1950">
                          <a:solidFill>
                            <a:srgbClr val="F3F1E9"/>
                          </a:solidFill>
                          <a:latin typeface="Arial"/>
                          <a:ea typeface="Arial"/>
                          <a:cs typeface="Arial"/>
                        </a:rPr>
                        <a:t>Ансамбль и политика</a:t>
                      </a:r>
                    </a:p>
                  </a:txBody>
                  <a:tcPr marL="133350" marR="133350" marT="95250" marB="95250">
                    <a:solidFill>
                      <a:srgbClr val="0D201B"/>
                    </a:solidFill>
                  </a:tcPr>
                </a:tc>
                <a:tc>
                  <a:txBody>
                    <a:bodyPr/>
                    <a:lstStyle/>
                    <a:p>
                      <a:r>
                        <a:rPr sz="1950">
                          <a:solidFill>
                            <a:srgbClr val="F3F1E9"/>
                          </a:solidFill>
                          <a:latin typeface="Arial"/>
                          <a:ea typeface="Arial"/>
                          <a:cs typeface="Arial"/>
                        </a:rPr>
                        <a:t>Балл, порог, окно и cooldown</a:t>
                      </a:r>
                    </a:p>
                  </a:txBody>
                  <a:tcPr marL="133350" marR="133350" marT="95250" marB="95250">
                    <a:solidFill>
                      <a:srgbClr val="0D201B"/>
                    </a:solidFill>
                  </a:tcPr>
                </a:tc>
              </a:tr>
              <a:tr h="691515">
                <a:tc>
                  <a:txBody>
                    <a:bodyPr/>
                    <a:lstStyle/>
                    <a:p>
                      <a:r>
                        <a:rPr sz="1950">
                          <a:solidFill>
                            <a:srgbClr val="F3F1E9"/>
                          </a:solidFill>
                          <a:latin typeface="Arial"/>
                          <a:ea typeface="Arial"/>
                          <a:cs typeface="Arial"/>
                        </a:rPr>
                        <a:t>Рабочее место</a:t>
                      </a:r>
                    </a:p>
                  </a:txBody>
                  <a:tcPr marL="133350" marR="133350" marT="95250" marB="95250">
                    <a:solidFill>
                      <a:srgbClr val="0D201B"/>
                    </a:solidFill>
                  </a:tcPr>
                </a:tc>
                <a:tc>
                  <a:txBody>
                    <a:bodyPr/>
                    <a:lstStyle/>
                    <a:p>
                      <a:r>
                        <a:rPr sz="1950">
                          <a:solidFill>
                            <a:srgbClr val="F3F1E9"/>
                          </a:solidFill>
                          <a:latin typeface="Arial"/>
                          <a:ea typeface="Arial"/>
                          <a:cs typeface="Arial"/>
                        </a:rPr>
                        <a:t>Группа, датчики, черновик и решение</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742125C1-7C86-4538-B9CD-2C6A51235477}"/>
              </a:ext>
            </a:extLst>
          </p:cNvPr>
          <p:cNvSpPr>
            <a:spLocks xmlns:a="http://schemas.openxmlformats.org/drawingml/2006/main" noGrp="1"/>
          </p:cNvSpPr>
          <p:nvPr/>
        </p:nvSpPr>
        <p:spPr>
          <a:xfrm xmlns:a="http://schemas.openxmlformats.org/drawingml/2006/main">
            <a:off x="714375" y="5524500"/>
            <a:ext cx="106108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D8F77B"/>
                </a:solidFill>
                <a:latin typeface="Arial"/>
                <a:ea typeface="Arial"/>
                <a:cs typeface="Arial"/>
              </a:defRPr>
            </a:pPr>
            <a:r>
              <a:rPr sz="2175" b="1">
                <a:solidFill>
                  <a:srgbClr val="D8F77B"/>
                </a:solidFill>
                <a:latin typeface="Arial"/>
                <a:ea typeface="Arial"/>
                <a:cs typeface="Arial"/>
              </a:rPr>
              <a:t>Результат осмотра станет независимой обратной связью.</a:t>
            </a:r>
          </a:p>
        </p:txBody>
      </p:sp>
      <p:sp>
        <p:nvSpPr>
          <p:cNvPr id="4" name="">
            <a:extLst xmlns:a="http://schemas.openxmlformats.org/drawingml/2006/main">
              <a:ext uri="{FF2B5EF4-FFF2-40B4-BE49-F238E27FC236}">
                <a16:creationId xmlns:a16="http://schemas.microsoft.com/office/drawing/2014/main" id="{1E892B71-7422-4C2C-A0A0-6C31200A02E6}"/>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Связь с подтверждённым журналом ремонта входит в следующий этап пилота.</a:t>
            </a:r>
          </a:p>
        </p:txBody>
      </p:sp>
      <p:sp>
        <p:nvSpPr>
          <p:cNvPr id="5" name="">
            <a:extLst xmlns:a="http://schemas.openxmlformats.org/drawingml/2006/main">
              <a:ext uri="{FF2B5EF4-FFF2-40B4-BE49-F238E27FC236}">
                <a16:creationId xmlns:a16="http://schemas.microsoft.com/office/drawing/2014/main" id="{66FC0A5C-E9E5-46BF-86A5-C613039C5277}"/>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08</a:t>
            </a:r>
          </a:p>
        </p:txBody>
      </p:sp>
    </p:spTree>
    <p:extLst>
      <p:ext uri="{BB962C8B-B14F-4D97-AF65-F5344CB8AC3E}">
        <p14:creationId xmlns:p14="http://schemas.microsoft.com/office/powerpoint/2010/main" val="1961724934"/>
      </p:ext>
    </p:extLst>
  </p:cSld>
</p:sld>
</file>

<file path=ppt/slides/slide9.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5F406ED-2BCB-4F16-9591-1B5D23E21438}"/>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Пилот, который проверит пользу</a:t>
            </a:r>
          </a:p>
        </p:txBody>
      </p:sp>
      <p:sp>
        <p:nvSpPr>
          <p:cNvPr id="2" name="">
            <a:extLst xmlns:a="http://schemas.openxmlformats.org/drawingml/2006/main">
              <a:ext uri="{FF2B5EF4-FFF2-40B4-BE49-F238E27FC236}">
                <a16:creationId xmlns:a16="http://schemas.microsoft.com/office/drawing/2014/main" id="{6C30C120-3E59-43A7-97EB-54FDF85D544A}"/>
              </a:ext>
            </a:extLst>
          </p:cNvPr>
          <p:cNvSpPr>
            <a:spLocks xmlns:a="http://schemas.openxmlformats.org/drawingml/2006/main" noGrp="1"/>
          </p:cNvSpPr>
          <p:nvPr/>
        </p:nvSpPr>
        <p:spPr>
          <a:xfrm xmlns:a="http://schemas.openxmlformats.org/drawingml/2006/main">
            <a:off x="619125" y="1933575"/>
            <a:ext cx="10191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D8F77B"/>
                </a:solidFill>
                <a:latin typeface="Arial"/>
                <a:ea typeface="Arial"/>
                <a:cs typeface="Arial"/>
              </a:defRPr>
            </a:pPr>
            <a:r>
              <a:rPr sz="3525" b="1">
                <a:solidFill>
                  <a:srgbClr val="D8F77B"/>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A7605A8F-190E-4C13-8FC6-2D139B20C96A}"/>
              </a:ext>
            </a:extLst>
          </p:cNvPr>
          <p:cNvSpPr>
            <a:spLocks xmlns:a="http://schemas.openxmlformats.org/drawingml/2006/main" noGrp="1"/>
          </p:cNvSpPr>
          <p:nvPr/>
        </p:nvSpPr>
        <p:spPr>
          <a:xfrm xmlns:a="http://schemas.openxmlformats.org/drawingml/2006/main">
            <a:off x="2133600" y="1905000"/>
            <a:ext cx="9239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3F1E9"/>
                </a:solidFill>
                <a:latin typeface="Arial"/>
                <a:ea typeface="Arial"/>
                <a:cs typeface="Arial"/>
              </a:defRPr>
            </a:pPr>
            <a:r>
              <a:rPr sz="2700" b="1">
                <a:solidFill>
                  <a:srgbClr val="F3F1E9"/>
                </a:solidFill>
                <a:latin typeface="Arial"/>
                <a:ea typeface="Arial"/>
                <a:cs typeface="Arial"/>
              </a:rPr>
              <a:t>Теневой режим / 2 недели</a:t>
            </a:r>
          </a:p>
        </p:txBody>
      </p:sp>
      <p:sp>
        <p:nvSpPr>
          <p:cNvPr id="4" name="">
            <a:extLst xmlns:a="http://schemas.openxmlformats.org/drawingml/2006/main">
              <a:ext uri="{FF2B5EF4-FFF2-40B4-BE49-F238E27FC236}">
                <a16:creationId xmlns:a16="http://schemas.microsoft.com/office/drawing/2014/main" id="{15BAF078-15DC-4CC6-B44B-DB1057CBFFAA}"/>
              </a:ext>
            </a:extLst>
          </p:cNvPr>
          <p:cNvSpPr>
            <a:spLocks xmlns:a="http://schemas.openxmlformats.org/drawingml/2006/main" noGrp="1"/>
          </p:cNvSpPr>
          <p:nvPr/>
        </p:nvSpPr>
        <p:spPr>
          <a:xfrm xmlns:a="http://schemas.openxmlformats.org/drawingml/2006/main">
            <a:off x="2162175" y="2657475"/>
            <a:ext cx="92392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Сопоставляем очередь с действиями смены.</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Собираем подтверждённые причины и результаты осмотров.</a:t>
            </a:r>
          </a:p>
        </p:txBody>
      </p:sp>
      <p:sp>
        <p:nvSpPr>
          <p:cNvPr id="5" name="">
            <a:extLst xmlns:a="http://schemas.openxmlformats.org/drawingml/2006/main">
              <a:ext uri="{FF2B5EF4-FFF2-40B4-BE49-F238E27FC236}">
                <a16:creationId xmlns:a16="http://schemas.microsoft.com/office/drawing/2014/main" id="{58E033D2-822C-412A-848F-A7037984029B}"/>
              </a:ext>
            </a:extLst>
          </p:cNvPr>
          <p:cNvSpPr>
            <a:spLocks xmlns:a="http://schemas.openxmlformats.org/drawingml/2006/main" noGrp="1"/>
          </p:cNvSpPr>
          <p:nvPr/>
        </p:nvSpPr>
        <p:spPr>
          <a:xfrm xmlns:a="http://schemas.openxmlformats.org/drawingml/2006/main">
            <a:off x="619125" y="4191000"/>
            <a:ext cx="10191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D8F77B"/>
                </a:solidFill>
                <a:latin typeface="Arial"/>
                <a:ea typeface="Arial"/>
                <a:cs typeface="Arial"/>
              </a:defRPr>
            </a:pPr>
            <a:r>
              <a:rPr sz="3525" b="1">
                <a:solidFill>
                  <a:srgbClr val="D8F77B"/>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C7050DB4-E3CB-428B-9AD4-38B382045FB8}"/>
              </a:ext>
            </a:extLst>
          </p:cNvPr>
          <p:cNvSpPr>
            <a:spLocks xmlns:a="http://schemas.openxmlformats.org/drawingml/2006/main" noGrp="1"/>
          </p:cNvSpPr>
          <p:nvPr/>
        </p:nvSpPr>
        <p:spPr>
          <a:xfrm xmlns:a="http://schemas.openxmlformats.org/drawingml/2006/main">
            <a:off x="2133600" y="4143375"/>
            <a:ext cx="9315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3F1E9"/>
                </a:solidFill>
                <a:latin typeface="Arial"/>
                <a:ea typeface="Arial"/>
                <a:cs typeface="Arial"/>
              </a:defRPr>
            </a:pPr>
            <a:r>
              <a:rPr sz="2625" b="1">
                <a:solidFill>
                  <a:srgbClr val="F3F1E9"/>
                </a:solidFill>
                <a:latin typeface="Arial"/>
                <a:ea typeface="Arial"/>
                <a:cs typeface="Arial"/>
              </a:rPr>
              <a:t>Проверки под контролем диспетчера</a:t>
            </a:r>
          </a:p>
        </p:txBody>
      </p:sp>
      <p:sp>
        <p:nvSpPr>
          <p:cNvPr id="7" name="">
            <a:extLst xmlns:a="http://schemas.openxmlformats.org/drawingml/2006/main">
              <a:ext uri="{FF2B5EF4-FFF2-40B4-BE49-F238E27FC236}">
                <a16:creationId xmlns:a16="http://schemas.microsoft.com/office/drawing/2014/main" id="{83B00C54-1671-4AAB-BFF2-F496BF759B78}"/>
              </a:ext>
            </a:extLst>
          </p:cNvPr>
          <p:cNvSpPr>
            <a:spLocks xmlns:a="http://schemas.openxmlformats.org/drawingml/2006/main" noGrp="1"/>
          </p:cNvSpPr>
          <p:nvPr/>
        </p:nvSpPr>
        <p:spPr>
          <a:xfrm xmlns:a="http://schemas.openxmlformats.org/drawingml/2006/main">
            <a:off x="2162175" y="4962525"/>
            <a:ext cx="92011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Оцениваем найденные события, лишние выезды</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и запас времени при согласованной нагрузке.</a:t>
            </a:r>
          </a:p>
        </p:txBody>
      </p:sp>
      <p:sp>
        <p:nvSpPr>
          <p:cNvPr id="8" name="">
            <a:extLst xmlns:a="http://schemas.openxmlformats.org/drawingml/2006/main">
              <a:ext uri="{FF2B5EF4-FFF2-40B4-BE49-F238E27FC236}">
                <a16:creationId xmlns:a16="http://schemas.microsoft.com/office/drawing/2014/main" id="{30E0BA78-1F4B-4F46-9896-511861CA754E}"/>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Предлагаемый срок пилота: 4 недели. Масштабирование после проверки на новом периоде.</a:t>
            </a:r>
          </a:p>
        </p:txBody>
      </p:sp>
      <p:sp>
        <p:nvSpPr>
          <p:cNvPr id="9" name="">
            <a:extLst xmlns:a="http://schemas.openxmlformats.org/drawingml/2006/main">
              <a:ext uri="{FF2B5EF4-FFF2-40B4-BE49-F238E27FC236}">
                <a16:creationId xmlns:a16="http://schemas.microsoft.com/office/drawing/2014/main" id="{C3902FFB-91AF-4D19-BFD3-93F078C449D0}"/>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09</a:t>
            </a:r>
          </a:p>
        </p:txBody>
      </p:sp>
    </p:spTree>
    <p:extLst>
      <p:ext uri="{BB962C8B-B14F-4D97-AF65-F5344CB8AC3E}">
        <p14:creationId xmlns:p14="http://schemas.microsoft.com/office/powerpoint/2010/main" val="2011399129"/>
      </p:ext>
    </p:extLst>
  </p:cSld>
</p:sld>
</file>

<file path=ppt/slides/slide10.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39787E2-753F-4447-B1D6-134D9B98DE63}"/>
              </a:ext>
            </a:extLst>
          </p:cNvPr>
          <p:cNvSpPr>
            <a:spLocks xmlns:a="http://schemas.openxmlformats.org/drawingml/2006/main" noGrp="1"/>
          </p:cNvSpPr>
          <p:nvPr/>
        </p:nvSpPr>
        <p:spPr>
          <a:xfrm xmlns:a="http://schemas.openxmlformats.org/drawingml/2006/main">
            <a:off x="609600" y="676275"/>
            <a:ext cx="1028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325" b="1">
                <a:solidFill>
                  <a:srgbClr val="F3F1E9"/>
                </a:solidFill>
                <a:latin typeface="Arial"/>
                <a:ea typeface="Arial"/>
                <a:cs typeface="Arial"/>
              </a:defRPr>
            </a:pPr>
            <a:r>
              <a:rPr sz="8325" b="1">
                <a:solidFill>
                  <a:srgbClr val="F3F1E9"/>
                </a:solidFill>
                <a:latin typeface="Arial"/>
                <a:ea typeface="Arial"/>
                <a:cs typeface="Arial"/>
              </a:rPr>
              <a:t>ПИКЕТ</a:t>
            </a:r>
          </a:p>
        </p:txBody>
      </p:sp>
      <p:sp>
        <p:nvSpPr>
          <p:cNvPr id="2" name="">
            <a:extLst xmlns:a="http://schemas.openxmlformats.org/drawingml/2006/main">
              <a:ext uri="{FF2B5EF4-FFF2-40B4-BE49-F238E27FC236}">
                <a16:creationId xmlns:a16="http://schemas.microsoft.com/office/drawing/2014/main" id="{A5FB2E3A-A337-4761-9FCB-0400FD2D62A4}"/>
              </a:ext>
            </a:extLst>
          </p:cNvPr>
          <p:cNvSpPr>
            <a:spLocks xmlns:a="http://schemas.openxmlformats.org/drawingml/2006/main" noGrp="1"/>
          </p:cNvSpPr>
          <p:nvPr/>
        </p:nvSpPr>
        <p:spPr>
          <a:xfrm xmlns:a="http://schemas.openxmlformats.org/drawingml/2006/main">
            <a:off x="628650" y="2619375"/>
            <a:ext cx="105727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D8F77B"/>
                </a:solidFill>
                <a:latin typeface="Arial"/>
                <a:ea typeface="Arial"/>
                <a:cs typeface="Arial"/>
              </a:defRPr>
            </a:pPr>
            <a:r>
              <a:rPr sz="8700" b="1">
                <a:solidFill>
                  <a:srgbClr val="D8F77B"/>
                </a:solidFill>
                <a:latin typeface="Arial"/>
                <a:ea typeface="Arial"/>
                <a:cs typeface="Arial"/>
              </a:rPr>
              <a:t>7,4 дня</a:t>
            </a:r>
          </a:p>
        </p:txBody>
      </p:sp>
      <p:sp>
        <p:nvSpPr>
          <p:cNvPr id="3" name="">
            <a:extLst xmlns:a="http://schemas.openxmlformats.org/drawingml/2006/main">
              <a:ext uri="{FF2B5EF4-FFF2-40B4-BE49-F238E27FC236}">
                <a16:creationId xmlns:a16="http://schemas.microsoft.com/office/drawing/2014/main" id="{6AC45A0B-2FF3-4429-AC5D-D4821E106948}"/>
              </a:ext>
            </a:extLst>
          </p:cNvPr>
          <p:cNvSpPr>
            <a:spLocks xmlns:a="http://schemas.openxmlformats.org/drawingml/2006/main" noGrp="1"/>
          </p:cNvSpPr>
          <p:nvPr/>
        </p:nvSpPr>
        <p:spPr>
          <a:xfrm xmlns:a="http://schemas.openxmlformats.org/drawingml/2006/main">
            <a:off x="733425" y="4391025"/>
            <a:ext cx="10620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F3F1E9"/>
                </a:solidFill>
                <a:latin typeface="Arial"/>
                <a:ea typeface="Arial"/>
                <a:cs typeface="Arial"/>
              </a:defRPr>
            </a:pPr>
            <a:r>
              <a:rPr sz="3225" b="1">
                <a:solidFill>
                  <a:srgbClr val="F3F1E9"/>
                </a:solidFill>
                <a:latin typeface="Arial"/>
                <a:ea typeface="Arial"/>
                <a:cs typeface="Arial"/>
              </a:rPr>
              <a:t>медианный запас времени</a:t>
            </a:r>
          </a:p>
          <a:p xmlns:a="http://schemas.openxmlformats.org/drawingml/2006/main">
            <a:pPr>
              <a:defRPr sz="3225" b="1">
                <a:solidFill>
                  <a:srgbClr val="F3F1E9"/>
                </a:solidFill>
                <a:latin typeface="Arial"/>
                <a:ea typeface="Arial"/>
                <a:cs typeface="Arial"/>
              </a:defRPr>
            </a:pPr>
            <a:r>
              <a:rPr sz="3225" b="1">
                <a:solidFill>
                  <a:srgbClr val="F3F1E9"/>
                </a:solidFill>
                <a:latin typeface="Arial"/>
                <a:ea typeface="Arial"/>
                <a:cs typeface="Arial"/>
              </a:rPr>
              <a:t>у верных предупреждений</a:t>
            </a:r>
          </a:p>
        </p:txBody>
      </p:sp>
      <p:sp>
        <p:nvSpPr>
          <p:cNvPr id="4" name="">
            <a:extLst xmlns:a="http://schemas.openxmlformats.org/drawingml/2006/main">
              <a:ext uri="{FF2B5EF4-FFF2-40B4-BE49-F238E27FC236}">
                <a16:creationId xmlns:a16="http://schemas.microsoft.com/office/drawing/2014/main" id="{2DCCAB8D-789B-48F2-AF9F-77B224882910}"/>
              </a:ext>
            </a:extLst>
          </p:cNvPr>
          <p:cNvSpPr>
            <a:spLocks xmlns:a="http://schemas.openxmlformats.org/drawingml/2006/main" noGrp="1"/>
          </p:cNvSpPr>
          <p:nvPr/>
        </p:nvSpPr>
        <p:spPr>
          <a:xfrm xmlns:a="http://schemas.openxmlformats.org/drawingml/2006/main">
            <a:off x="742950" y="59055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F77B"/>
                </a:solidFill>
                <a:latin typeface="Arial"/>
                <a:ea typeface="Arial"/>
                <a:cs typeface="Arial"/>
              </a:defRPr>
            </a:pPr>
            <a:r>
              <a:rPr sz="2100" b="0">
                <a:solidFill>
                  <a:srgbClr val="D8F77B"/>
                </a:solidFill>
                <a:latin typeface="Arial"/>
                <a:ea typeface="Arial"/>
                <a:cs typeface="Arial"/>
              </a:rPr>
              <a:t>mshperling.github.io/piket-lct2026-demo</a:t>
            </a:r>
          </a:p>
        </p:txBody>
      </p:sp>
    </p:spTree>
    <p:extLst>
      <p:ext uri="{BB962C8B-B14F-4D97-AF65-F5344CB8AC3E}">
        <p14:creationId xmlns:p14="http://schemas.microsoft.com/office/powerpoint/2010/main" val="1766587603"/>
      </p:ext>
    </p:extLst>
  </p:cSld>
</p:sld>
</file>

<file path=ppt/slides/slide11.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01A6A1E-CE42-4215-B50F-BCD74DC73399}"/>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Техническое приложение</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Как определён инцидент</a:t>
            </a:r>
          </a:p>
        </p:txBody>
      </p:sp>
      <p:graphicFrame>
        <p:nvGraphicFramePr>
          <p:cNvPr id="6" name=""/>
          <p:cNvGraphicFramePr/>
          <p:nvPr/>
        </p:nvGraphicFramePr>
        <p:xfrm>
          <a:off xmlns:a="http://schemas.openxmlformats.org/drawingml/2006/main" x="609600" y="1857375"/>
          <a:ext xmlns:a="http://schemas.openxmlformats.org/drawingml/2006/main" cx="10972800" cy="3695700"/>
        </p:xfrm>
        <a:graphic xmlns:a="http://schemas.openxmlformats.org/drawingml/2006/main">
          <a:graphicData uri="http://schemas.openxmlformats.org/drawingml/2006/table">
            <a:tbl>
              <a:tblPr/>
              <a:tblGrid>
                <a:gridCol w="3857625"/>
                <a:gridCol w="7115175"/>
              </a:tblGrid>
              <a:tr h="615950">
                <a:tc>
                  <a:txBody>
                    <a:bodyPr/>
                    <a:lstStyle/>
                    <a:p>
                      <a:r>
                        <a:rPr sz="1725" b="1">
                          <a:solidFill>
                            <a:srgbClr val="0D201B"/>
                          </a:solidFill>
                          <a:latin typeface="Arial"/>
                          <a:ea typeface="Arial"/>
                          <a:cs typeface="Arial"/>
                        </a:rPr>
                        <a:t>Правило</a:t>
                      </a:r>
                    </a:p>
                  </a:txBody>
                  <a:tcPr marL="133350" marR="133350" marT="95250" marB="95250">
                    <a:solidFill>
                      <a:srgbClr val="D8F77B"/>
                    </a:solidFill>
                  </a:tcPr>
                </a:tc>
                <a:tc>
                  <a:txBody>
                    <a:bodyPr/>
                    <a:lstStyle/>
                    <a:p>
                      <a:r>
                        <a:rPr sz="1725" b="1">
                          <a:solidFill>
                            <a:srgbClr val="0D201B"/>
                          </a:solidFill>
                          <a:latin typeface="Arial"/>
                          <a:ea typeface="Arial"/>
                          <a:cs typeface="Arial"/>
                        </a:rPr>
                        <a:t>Параметр</a:t>
                      </a:r>
                    </a:p>
                  </a:txBody>
                  <a:tcPr marL="133350" marR="133350" marT="95250" marB="95250">
                    <a:solidFill>
                      <a:srgbClr val="D8F77B"/>
                    </a:solidFill>
                  </a:tcPr>
                </a:tc>
              </a:tr>
              <a:tr h="615950">
                <a:tc>
                  <a:txBody>
                    <a:bodyPr/>
                    <a:lstStyle/>
                    <a:p>
                      <a:r>
                        <a:rPr sz="1725">
                          <a:solidFill>
                            <a:srgbClr val="F3F1E9"/>
                          </a:solidFill>
                          <a:latin typeface="Arial"/>
                          <a:ea typeface="Arial"/>
                          <a:cs typeface="Arial"/>
                        </a:rPr>
                        <a:t>Групповой всплеск</a:t>
                      </a:r>
                    </a:p>
                  </a:txBody>
                  <a:tcPr marL="133350" marR="133350" marT="95250" marB="95250">
                    <a:solidFill>
                      <a:srgbClr val="0D201B"/>
                    </a:solidFill>
                  </a:tcPr>
                </a:tc>
                <a:tc>
                  <a:txBody>
                    <a:bodyPr/>
                    <a:lstStyle/>
                    <a:p>
                      <a:r>
                        <a:rPr sz="1725">
                          <a:solidFill>
                            <a:srgbClr val="F3F1E9"/>
                          </a:solidFill>
                          <a:latin typeface="Arial"/>
                          <a:ea typeface="Arial"/>
                          <a:cs typeface="Arial"/>
                        </a:rPr>
                        <a:t>Не менее 3 каналов и не менее 10% группы</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Синхронность</a:t>
                      </a:r>
                    </a:p>
                  </a:txBody>
                  <a:tcPr marL="133350" marR="133350" marT="95250" marB="95250">
                    <a:solidFill>
                      <a:srgbClr val="0D201B"/>
                    </a:solidFill>
                  </a:tcPr>
                </a:tc>
                <a:tc>
                  <a:txBody>
                    <a:bodyPr/>
                    <a:lstStyle/>
                    <a:p>
                      <a:r>
                        <a:rPr sz="1725">
                          <a:solidFill>
                            <a:srgbClr val="F3F1E9"/>
                          </a:solidFill>
                          <a:latin typeface="Arial"/>
                          <a:ea typeface="Arial"/>
                          <a:cs typeface="Arial"/>
                        </a:rPr>
                        <a:t>Скользящее окно 10 минут</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Разделение серий</a:t>
                      </a:r>
                    </a:p>
                  </a:txBody>
                  <a:tcPr marL="133350" marR="133350" marT="95250" marB="95250">
                    <a:solidFill>
                      <a:srgbClr val="0D201B"/>
                    </a:solidFill>
                  </a:tcPr>
                </a:tc>
                <a:tc>
                  <a:txBody>
                    <a:bodyPr/>
                    <a:lstStyle/>
                    <a:p>
                      <a:r>
                        <a:rPr sz="1725">
                          <a:solidFill>
                            <a:srgbClr val="F3F1E9"/>
                          </a:solidFill>
                          <a:latin typeface="Arial"/>
                          <a:ea typeface="Arial"/>
                          <a:cs typeface="Arial"/>
                        </a:rPr>
                        <a:t>24 часа без квалифицирующего всплеска</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Окно прогноза</a:t>
                      </a:r>
                    </a:p>
                  </a:txBody>
                  <a:tcPr marL="133350" marR="133350" marT="95250" marB="95250">
                    <a:solidFill>
                      <a:srgbClr val="0D201B"/>
                    </a:solidFill>
                  </a:tcPr>
                </a:tc>
                <a:tc>
                  <a:txBody>
                    <a:bodyPr/>
                    <a:lstStyle/>
                    <a:p>
                      <a:r>
                        <a:rPr sz="1725">
                          <a:solidFill>
                            <a:srgbClr val="F3F1E9"/>
                          </a:solidFill>
                          <a:latin typeface="Arial"/>
                          <a:ea typeface="Arial"/>
                          <a:cs typeface="Arial"/>
                        </a:rPr>
                        <a:t>D+2…D+15 при решении в конце дня D</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Заявки</a:t>
                      </a:r>
                    </a:p>
                  </a:txBody>
                  <a:tcPr marL="133350" marR="133350" marT="95250" marB="95250">
                    <a:solidFill>
                      <a:srgbClr val="0D201B"/>
                    </a:solidFill>
                  </a:tcPr>
                </a:tc>
                <a:tc>
                  <a:txBody>
                    <a:bodyPr/>
                    <a:lstStyle/>
                    <a:p>
                      <a:r>
                        <a:rPr sz="1725">
                          <a:solidFill>
                            <a:srgbClr val="F3F1E9"/>
                          </a:solidFill>
                          <a:latin typeface="Arial"/>
                          <a:ea typeface="Arial"/>
                          <a:cs typeface="Arial"/>
                        </a:rPr>
                        <a:t>Одно предупреждение соответствует одному инциденту</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39FAE47B-3385-4C58-AA95-8B7A18F3A814}"/>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Это диагностическая цель. Физическую аварию необходимо подтвердить отдельным журналом осмотров.</a:t>
            </a:r>
          </a:p>
        </p:txBody>
      </p:sp>
      <p:sp>
        <p:nvSpPr>
          <p:cNvPr id="4" name="">
            <a:extLst xmlns:a="http://schemas.openxmlformats.org/drawingml/2006/main">
              <a:ext uri="{FF2B5EF4-FFF2-40B4-BE49-F238E27FC236}">
                <a16:creationId xmlns:a16="http://schemas.microsoft.com/office/drawing/2014/main" id="{E9493E30-6ACE-4DDA-8C72-FFEFC650A470}"/>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11</a:t>
            </a:r>
          </a:p>
        </p:txBody>
      </p:sp>
    </p:spTree>
    <p:extLst>
      <p:ext uri="{BB962C8B-B14F-4D97-AF65-F5344CB8AC3E}">
        <p14:creationId xmlns:p14="http://schemas.microsoft.com/office/powerpoint/2010/main" val="1388367768"/>
      </p:ext>
    </p:extLst>
  </p:cSld>
</p:sld>
</file>

<file path=ppt/slides/slide12.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5A4AD6-24A5-40D4-BF7C-1F82B2479B7D}"/>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OOF-стэкинг без подглядывания</a:t>
            </a:r>
          </a:p>
        </p:txBody>
      </p:sp>
      <p:sp>
        <p:nvSpPr>
          <p:cNvPr id="2" name="">
            <a:extLst xmlns:a="http://schemas.openxmlformats.org/drawingml/2006/main">
              <a:ext uri="{FF2B5EF4-FFF2-40B4-BE49-F238E27FC236}">
                <a16:creationId xmlns:a16="http://schemas.microsoft.com/office/drawing/2014/main" id="{FCDC6C8D-ECD5-4DFA-BE41-BB05BD75434A}"/>
              </a:ext>
            </a:extLst>
          </p:cNvPr>
          <p:cNvSpPr>
            <a:spLocks xmlns:a="http://schemas.openxmlformats.org/drawingml/2006/main" noGrp="1"/>
          </p:cNvSpPr>
          <p:nvPr/>
        </p:nvSpPr>
        <p:spPr>
          <a:xfrm xmlns:a="http://schemas.openxmlformats.org/drawingml/2006/main">
            <a:off x="628650" y="19335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Базовая модель</a:t>
            </a:r>
          </a:p>
        </p:txBody>
      </p:sp>
      <p:sp>
        <p:nvSpPr>
          <p:cNvPr id="3" name="">
            <a:extLst xmlns:a="http://schemas.openxmlformats.org/drawingml/2006/main">
              <a:ext uri="{FF2B5EF4-FFF2-40B4-BE49-F238E27FC236}">
                <a16:creationId xmlns:a16="http://schemas.microsoft.com/office/drawing/2014/main" id="{8CB17CD2-61D7-4E43-B03A-09CAF3E29021}"/>
              </a:ext>
            </a:extLst>
          </p:cNvPr>
          <p:cNvSpPr>
            <a:spLocks xmlns:a="http://schemas.openxmlformats.org/drawingml/2006/main" noGrp="1"/>
          </p:cNvSpPr>
          <p:nvPr/>
        </p:nvSpPr>
        <p:spPr>
          <a:xfrm xmlns:a="http://schemas.openxmlformats.org/drawingml/2006/main">
            <a:off x="628650" y="2705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3F1E9"/>
                </a:solidFill>
                <a:latin typeface="Arial"/>
                <a:ea typeface="Arial"/>
                <a:cs typeface="Arial"/>
              </a:defRPr>
            </a:pPr>
            <a:r>
              <a:rPr sz="2925" b="1">
                <a:solidFill>
                  <a:srgbClr val="F3F1E9"/>
                </a:solidFill>
                <a:latin typeface="Arial"/>
                <a:ea typeface="Arial"/>
                <a:cs typeface="Arial"/>
              </a:rPr>
              <a:t>max(date_train) + 15 дней &lt; date_OOF</a:t>
            </a:r>
          </a:p>
        </p:txBody>
      </p:sp>
      <p:sp>
        <p:nvSpPr>
          <p:cNvPr id="4" name="">
            <a:extLst xmlns:a="http://schemas.openxmlformats.org/drawingml/2006/main">
              <a:ext uri="{FF2B5EF4-FFF2-40B4-BE49-F238E27FC236}">
                <a16:creationId xmlns:a16="http://schemas.microsoft.com/office/drawing/2014/main" id="{E2BBA42C-5C07-4FB3-A38A-6AA71600DAF5}"/>
              </a:ext>
            </a:extLst>
          </p:cNvPr>
          <p:cNvSpPr>
            <a:spLocks xmlns:a="http://schemas.openxmlformats.org/drawingml/2006/main" noGrp="1"/>
          </p:cNvSpPr>
          <p:nvPr/>
        </p:nvSpPr>
        <p:spPr>
          <a:xfrm xmlns:a="http://schemas.openxmlformats.org/drawingml/2006/main">
            <a:off x="628650" y="39147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Мета-модель</a:t>
            </a:r>
          </a:p>
        </p:txBody>
      </p:sp>
      <p:sp>
        <p:nvSpPr>
          <p:cNvPr id="5" name="">
            <a:extLst xmlns:a="http://schemas.openxmlformats.org/drawingml/2006/main">
              <a:ext uri="{FF2B5EF4-FFF2-40B4-BE49-F238E27FC236}">
                <a16:creationId xmlns:a16="http://schemas.microsoft.com/office/drawing/2014/main" id="{3F0A8071-6961-4D2A-8497-79EEF781AB88}"/>
              </a:ext>
            </a:extLst>
          </p:cNvPr>
          <p:cNvSpPr>
            <a:spLocks xmlns:a="http://schemas.openxmlformats.org/drawingml/2006/main" noGrp="1"/>
          </p:cNvSpPr>
          <p:nvPr/>
        </p:nvSpPr>
        <p:spPr>
          <a:xfrm xmlns:a="http://schemas.openxmlformats.org/drawingml/2006/main">
            <a:off x="657225" y="46672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D7DFD6"/>
                </a:solidFill>
                <a:latin typeface="Arial"/>
                <a:ea typeface="Arial"/>
                <a:cs typeface="Arial"/>
              </a:defRPr>
            </a:pPr>
            <a:r>
              <a:rPr sz="2325" b="0">
                <a:solidFill>
                  <a:srgbClr val="D7DFD6"/>
                </a:solidFill>
                <a:latin typeface="Arial"/>
                <a:ea typeface="Arial"/>
                <a:cs typeface="Arial"/>
              </a:rPr>
              <a:t>Обучение только на прошлых OOF-ответах.</a:t>
            </a:r>
          </a:p>
          <a:p xmlns:a="http://schemas.openxmlformats.org/drawingml/2006/main">
            <a:pPr>
              <a:defRPr sz="2325" b="0">
                <a:solidFill>
                  <a:srgbClr val="D7DFD6"/>
                </a:solidFill>
                <a:latin typeface="Arial"/>
                <a:ea typeface="Arial"/>
                <a:cs typeface="Arial"/>
              </a:defRPr>
            </a:pPr>
            <a:r>
              <a:rPr sz="2325" b="0">
                <a:solidFill>
                  <a:srgbClr val="D7DFD6"/>
                </a:solidFill>
                <a:latin typeface="Arial"/>
                <a:ea typeface="Arial"/>
                <a:cs typeface="Arial"/>
              </a:rPr>
              <a:t>Калибровка порога отделена таким же разрывом.</a:t>
            </a:r>
          </a:p>
        </p:txBody>
      </p:sp>
      <p:sp>
        <p:nvSpPr>
          <p:cNvPr id="6" name="">
            <a:extLst xmlns:a="http://schemas.openxmlformats.org/drawingml/2006/main">
              <a:ext uri="{FF2B5EF4-FFF2-40B4-BE49-F238E27FC236}">
                <a16:creationId xmlns:a16="http://schemas.microsoft.com/office/drawing/2014/main" id="{FD599302-70A7-478C-B22C-4E451F4C24EF}"/>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Граф, построенный позже ранних OOF-периодов, исключён из этого эксперимента.</a:t>
            </a:r>
          </a:p>
        </p:txBody>
      </p:sp>
      <p:sp>
        <p:nvSpPr>
          <p:cNvPr id="7" name="">
            <a:extLst xmlns:a="http://schemas.openxmlformats.org/drawingml/2006/main">
              <a:ext uri="{FF2B5EF4-FFF2-40B4-BE49-F238E27FC236}">
                <a16:creationId xmlns:a16="http://schemas.microsoft.com/office/drawing/2014/main" id="{05218136-82D2-4B1C-87C0-8098CB760C5A}"/>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12</a:t>
            </a:r>
          </a:p>
        </p:txBody>
      </p:sp>
    </p:spTree>
    <p:extLst>
      <p:ext uri="{BB962C8B-B14F-4D97-AF65-F5344CB8AC3E}">
        <p14:creationId xmlns:p14="http://schemas.microsoft.com/office/powerpoint/2010/main" val="117259642"/>
      </p:ext>
    </p:extLst>
  </p:cSld>
</p:sld>
</file>

<file path=ppt/slides/slide13.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A04E4A3-2349-47AA-B5A0-0D919FFD309E}"/>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22 классификатора и 3 регрессора</a:t>
            </a:r>
          </a:p>
        </p:txBody>
      </p:sp>
      <p:graphicFrame>
        <p:nvGraphicFramePr>
          <p:cNvPr id="6" name=""/>
          <p:cNvGraphicFramePr/>
          <p:nvPr/>
        </p:nvGraphicFramePr>
        <p:xfrm>
          <a:off xmlns:a="http://schemas.openxmlformats.org/drawingml/2006/main" x="609600" y="1885950"/>
          <a:ext xmlns:a="http://schemas.openxmlformats.org/drawingml/2006/main" cx="10972800" cy="3476625"/>
        </p:xfrm>
        <a:graphic xmlns:a="http://schemas.openxmlformats.org/drawingml/2006/main">
          <a:graphicData uri="http://schemas.openxmlformats.org/drawingml/2006/table">
            <a:tbl>
              <a:tblPr/>
              <a:tblGrid>
                <a:gridCol w="3286125"/>
                <a:gridCol w="7686675"/>
              </a:tblGrid>
              <a:tr h="695325">
                <a:tc>
                  <a:txBody>
                    <a:bodyPr/>
                    <a:lstStyle/>
                    <a:p>
                      <a:r>
                        <a:rPr sz="1800" b="1">
                          <a:solidFill>
                            <a:srgbClr val="0D201B"/>
                          </a:solidFill>
                          <a:latin typeface="Arial"/>
                          <a:ea typeface="Arial"/>
                          <a:cs typeface="Arial"/>
                        </a:rPr>
                        <a:t>Слой</a:t>
                      </a:r>
                    </a:p>
                  </a:txBody>
                  <a:tcPr marL="133350" marR="133350" marT="95250" marB="95250">
                    <a:solidFill>
                      <a:srgbClr val="D8F77B"/>
                    </a:solidFill>
                  </a:tcPr>
                </a:tc>
                <a:tc>
                  <a:txBody>
                    <a:bodyPr/>
                    <a:lstStyle/>
                    <a:p>
                      <a:r>
                        <a:rPr sz="1800" b="1">
                          <a:solidFill>
                            <a:srgbClr val="0D201B"/>
                          </a:solidFill>
                          <a:latin typeface="Arial"/>
                          <a:ea typeface="Arial"/>
                          <a:cs typeface="Arial"/>
                        </a:rPr>
                        <a:t>Что он даёт</a:t>
                      </a:r>
                    </a:p>
                  </a:txBody>
                  <a:tcPr marL="133350" marR="133350" marT="95250" marB="95250">
                    <a:solidFill>
                      <a:srgbClr val="D8F77B"/>
                    </a:solidFill>
                  </a:tcPr>
                </a:tc>
              </a:tr>
              <a:tr h="695325">
                <a:tc>
                  <a:txBody>
                    <a:bodyPr/>
                    <a:lstStyle/>
                    <a:p>
                      <a:r>
                        <a:rPr sz="1800">
                          <a:solidFill>
                            <a:srgbClr val="F3F1E9"/>
                          </a:solidFill>
                          <a:latin typeface="Arial"/>
                          <a:ea typeface="Arial"/>
                          <a:cs typeface="Arial"/>
                        </a:rPr>
                        <a:t>25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22 классификатора и 3 интервальных регрессора</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362 признака</a:t>
                      </a:r>
                    </a:p>
                  </a:txBody>
                  <a:tcPr marL="133350" marR="133350" marT="95250" marB="95250">
                    <a:solidFill>
                      <a:srgbClr val="0D201B"/>
                    </a:solidFill>
                  </a:tcPr>
                </a:tc>
                <a:tc>
                  <a:txBody>
                    <a:bodyPr/>
                    <a:lstStyle/>
                    <a:p>
                      <a:r>
                        <a:rPr sz="1800">
                          <a:solidFill>
                            <a:srgbClr val="F3F1E9"/>
                          </a:solidFill>
                          <a:latin typeface="Arial"/>
                          <a:ea typeface="Arial"/>
                          <a:cs typeface="Arial"/>
                        </a:rPr>
                        <a:t>Дискретные события, повторяемость и измерения</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Временной OOF</a:t>
                      </a:r>
                    </a:p>
                  </a:txBody>
                  <a:tcPr marL="133350" marR="133350" marT="95250" marB="95250">
                    <a:solidFill>
                      <a:srgbClr val="0D201B"/>
                    </a:solidFill>
                  </a:tcPr>
                </a:tc>
                <a:tc>
                  <a:txBody>
                    <a:bodyPr/>
                    <a:lstStyle/>
                    <a:p>
                      <a:r>
                        <a:rPr sz="1800">
                          <a:solidFill>
                            <a:srgbClr val="F3F1E9"/>
                          </a:solidFill>
                          <a:latin typeface="Arial"/>
                          <a:ea typeface="Arial"/>
                          <a:cs typeface="Arial"/>
                        </a:rPr>
                        <a:t>Прогнозы только на следующих месяцах</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Политика заявок</a:t>
                      </a:r>
                    </a:p>
                  </a:txBody>
                  <a:tcPr marL="133350" marR="133350" marT="95250" marB="95250">
                    <a:solidFill>
                      <a:srgbClr val="0D201B"/>
                    </a:solidFill>
                  </a:tcPr>
                </a:tc>
                <a:tc>
                  <a:txBody>
                    <a:bodyPr/>
                    <a:lstStyle/>
                    <a:p>
                      <a:r>
                        <a:rPr sz="1800">
                          <a:solidFill>
                            <a:srgbClr val="F3F1E9"/>
                          </a:solidFill>
                          <a:latin typeface="Arial"/>
                          <a:ea typeface="Arial"/>
                          <a:cs typeface="Arial"/>
                        </a:rPr>
                        <a:t>Порог на калибровке и пауза 14 дней</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5372EC63-D4A3-46DC-8CBC-F38BB30C09E0}"/>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В опубликованном ансамбле 8 моделей и 178 признаков. Расширенный поиск не дал устойчивого улучшения.</a:t>
            </a:r>
          </a:p>
        </p:txBody>
      </p:sp>
      <p:sp>
        <p:nvSpPr>
          <p:cNvPr id="4" name="">
            <a:extLst xmlns:a="http://schemas.openxmlformats.org/drawingml/2006/main">
              <a:ext uri="{FF2B5EF4-FFF2-40B4-BE49-F238E27FC236}">
                <a16:creationId xmlns:a16="http://schemas.microsoft.com/office/drawing/2014/main" id="{CCE8E29C-4776-4660-9215-61495E8B103F}"/>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13</a:t>
            </a:r>
          </a:p>
        </p:txBody>
      </p:sp>
    </p:spTree>
    <p:extLst>
      <p:ext uri="{BB962C8B-B14F-4D97-AF65-F5344CB8AC3E}">
        <p14:creationId xmlns:p14="http://schemas.microsoft.com/office/powerpoint/2010/main" val="1326443573"/>
      </p:ext>
    </p:extLst>
  </p:cSld>
</p:sld>
</file>

<file path=ppt/slides/slide14.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6A59B5D-0205-441C-BC12-DA42680A99D5}"/>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Точность и полнота: цена режима</a:t>
            </a:r>
          </a:p>
        </p:txBody>
      </p:sp>
      <p:graphicFrame>
        <p:nvGraphicFramePr>
          <p:cNvPr id="7" name=""/>
          <p:cNvGraphicFramePr/>
          <p:nvPr/>
        </p:nvGraphicFramePr>
        <p:xfrm>
          <a:off xmlns:a="http://schemas.openxmlformats.org/drawingml/2006/main" x="609600" y="1819275"/>
          <a:ext xmlns:a="http://schemas.openxmlformats.org/drawingml/2006/main" cx="10972800" cy="3143250"/>
        </p:xfrm>
        <a:graphic xmlns:a="http://schemas.openxmlformats.org/drawingml/2006/main">
          <a:graphicData uri="http://schemas.openxmlformats.org/drawingml/2006/table">
            <a:tbl>
              <a:tblPr/>
              <a:tblGrid>
                <a:gridCol w="5295900"/>
                <a:gridCol w="1047750"/>
                <a:gridCol w="1047750"/>
                <a:gridCol w="1790700"/>
                <a:gridCol w="1790700"/>
              </a:tblGrid>
              <a:tr h="628650">
                <a:tc>
                  <a:txBody>
                    <a:bodyPr/>
                    <a:lstStyle/>
                    <a:p>
                      <a:r>
                        <a:rPr sz="1800" b="1">
                          <a:solidFill>
                            <a:srgbClr val="0D201B"/>
                          </a:solidFill>
                          <a:latin typeface="Arial"/>
                          <a:ea typeface="Arial"/>
                          <a:cs typeface="Arial"/>
                        </a:rPr>
                        <a:t>Режим</a:t>
                      </a:r>
                    </a:p>
                  </a:txBody>
                  <a:tcPr marL="133350" marR="133350" marT="95250" marB="95250">
                    <a:solidFill>
                      <a:srgbClr val="D8F77B"/>
                    </a:solidFill>
                  </a:tcPr>
                </a:tc>
                <a:tc>
                  <a:txBody>
                    <a:bodyPr/>
                    <a:lstStyle/>
                    <a:p>
                      <a:r>
                        <a:rPr sz="1800" b="1">
                          <a:solidFill>
                            <a:srgbClr val="0D201B"/>
                          </a:solidFill>
                          <a:latin typeface="Arial"/>
                          <a:ea typeface="Arial"/>
                          <a:cs typeface="Arial"/>
                        </a:rPr>
                        <a:t>TP</a:t>
                      </a:r>
                    </a:p>
                  </a:txBody>
                  <a:tcPr marL="133350" marR="133350" marT="95250" marB="95250">
                    <a:solidFill>
                      <a:srgbClr val="D8F77B"/>
                    </a:solidFill>
                  </a:tcPr>
                </a:tc>
                <a:tc>
                  <a:txBody>
                    <a:bodyPr/>
                    <a:lstStyle/>
                    <a:p>
                      <a:r>
                        <a:rPr sz="1800" b="1">
                          <a:solidFill>
                            <a:srgbClr val="0D201B"/>
                          </a:solidFill>
                          <a:latin typeface="Arial"/>
                          <a:ea typeface="Arial"/>
                          <a:cs typeface="Arial"/>
                        </a:rPr>
                        <a:t>FP</a:t>
                      </a:r>
                    </a:p>
                  </a:txBody>
                  <a:tcPr marL="133350" marR="133350" marT="95250" marB="95250">
                    <a:solidFill>
                      <a:srgbClr val="D8F77B"/>
                    </a:solidFill>
                  </a:tcPr>
                </a:tc>
                <a:tc>
                  <a:txBody>
                    <a:bodyPr/>
                    <a:lstStyle/>
                    <a:p>
                      <a:r>
                        <a:rPr sz="1800" b="1">
                          <a:solidFill>
                            <a:srgbClr val="0D201B"/>
                          </a:solidFill>
                          <a:latin typeface="Arial"/>
                          <a:ea typeface="Arial"/>
                          <a:cs typeface="Arial"/>
                        </a:rPr>
                        <a:t>Precision</a:t>
                      </a:r>
                    </a:p>
                  </a:txBody>
                  <a:tcPr marL="133350" marR="133350" marT="95250" marB="95250">
                    <a:solidFill>
                      <a:srgbClr val="D8F77B"/>
                    </a:solidFill>
                  </a:tcPr>
                </a:tc>
                <a:tc>
                  <a:txBody>
                    <a:bodyPr/>
                    <a:lstStyle/>
                    <a:p>
                      <a:r>
                        <a:rPr sz="1800" b="1">
                          <a:solidFill>
                            <a:srgbClr val="0D201B"/>
                          </a:solidFill>
                          <a:latin typeface="Arial"/>
                          <a:ea typeface="Arial"/>
                          <a:cs typeface="Arial"/>
                        </a:rPr>
                        <a:t>Recall</a:t>
                      </a:r>
                    </a:p>
                  </a:txBody>
                  <a:tcPr marL="133350" marR="133350" marT="95250" marB="95250">
                    <a:solidFill>
                      <a:srgbClr val="D8F77B"/>
                    </a:solidFill>
                  </a:tcPr>
                </a:tc>
              </a:tr>
              <a:tr h="628650">
                <a:tc>
                  <a:txBody>
                    <a:bodyPr/>
                    <a:lstStyle/>
                    <a:p>
                      <a:r>
                        <a:rPr sz="1800">
                          <a:solidFill>
                            <a:srgbClr val="F3F1E9"/>
                          </a:solidFill>
                          <a:latin typeface="Arial"/>
                          <a:ea typeface="Arial"/>
                          <a:cs typeface="Arial"/>
                        </a:rPr>
                        <a:t>Исходный LightGBM</a:t>
                      </a:r>
                    </a:p>
                  </a:txBody>
                  <a:tcPr marL="133350" marR="133350" marT="95250" marB="95250">
                    <a:solidFill>
                      <a:srgbClr val="0D201B"/>
                    </a:solidFill>
                  </a:tcPr>
                </a:tc>
                <a:tc>
                  <a:txBody>
                    <a:bodyPr/>
                    <a:lstStyle/>
                    <a:p>
                      <a:r>
                        <a:rPr sz="1800">
                          <a:solidFill>
                            <a:srgbClr val="F3F1E9"/>
                          </a:solidFill>
                          <a:latin typeface="Arial"/>
                          <a:ea typeface="Arial"/>
                          <a:cs typeface="Arial"/>
                        </a:rPr>
                        <a:t>9</a:t>
                      </a:r>
                    </a:p>
                  </a:txBody>
                  <a:tcPr marL="133350" marR="133350" marT="95250" marB="95250">
                    <a:solidFill>
                      <a:srgbClr val="0D201B"/>
                    </a:solidFill>
                  </a:tcPr>
                </a:tc>
                <a:tc>
                  <a:txBody>
                    <a:bodyPr/>
                    <a:lstStyle/>
                    <a:p>
                      <a:r>
                        <a:rPr sz="1800">
                          <a:solidFill>
                            <a:srgbClr val="F3F1E9"/>
                          </a:solidFill>
                          <a:latin typeface="Arial"/>
                          <a:ea typeface="Arial"/>
                          <a:cs typeface="Arial"/>
                        </a:rPr>
                        <a:t>12</a:t>
                      </a:r>
                    </a:p>
                  </a:txBody>
                  <a:tcPr marL="133350" marR="133350" marT="95250" marB="95250">
                    <a:solidFill>
                      <a:srgbClr val="0D201B"/>
                    </a:solidFill>
                  </a:tcPr>
                </a:tc>
                <a:tc>
                  <a:txBody>
                    <a:bodyPr/>
                    <a:lstStyle/>
                    <a:p>
                      <a:r>
                        <a:rPr sz="1800">
                          <a:solidFill>
                            <a:srgbClr val="F3F1E9"/>
                          </a:solidFill>
                          <a:latin typeface="Arial"/>
                          <a:ea typeface="Arial"/>
                          <a:cs typeface="Arial"/>
                        </a:rPr>
                        <a:t>42,9%</a:t>
                      </a:r>
                    </a:p>
                  </a:txBody>
                  <a:tcPr marL="133350" marR="133350" marT="95250" marB="95250">
                    <a:solidFill>
                      <a:srgbClr val="0D201B"/>
                    </a:solidFill>
                  </a:tcPr>
                </a:tc>
                <a:tc>
                  <a:txBody>
                    <a:bodyPr/>
                    <a:lstStyle/>
                    <a:p>
                      <a:r>
                        <a:rPr sz="1800">
                          <a:solidFill>
                            <a:srgbClr val="F3F1E9"/>
                          </a:solidFill>
                          <a:latin typeface="Arial"/>
                          <a:ea typeface="Arial"/>
                          <a:cs typeface="Arial"/>
                        </a:rPr>
                        <a:t>40,9%</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Среднее 8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9</a:t>
                      </a:r>
                    </a:p>
                  </a:txBody>
                  <a:tcPr marL="133350" marR="133350" marT="95250" marB="95250">
                    <a:solidFill>
                      <a:srgbClr val="0D201B"/>
                    </a:solidFill>
                  </a:tcPr>
                </a:tc>
                <a:tc>
                  <a:txBody>
                    <a:bodyPr/>
                    <a:lstStyle/>
                    <a:p>
                      <a:r>
                        <a:rPr sz="1800">
                          <a:solidFill>
                            <a:srgbClr val="F3F1E9"/>
                          </a:solidFill>
                          <a:latin typeface="Arial"/>
                          <a:ea typeface="Arial"/>
                          <a:cs typeface="Arial"/>
                        </a:rPr>
                        <a:t>7</a:t>
                      </a:r>
                    </a:p>
                  </a:txBody>
                  <a:tcPr marL="133350" marR="133350" marT="95250" marB="95250">
                    <a:solidFill>
                      <a:srgbClr val="0D201B"/>
                    </a:solidFill>
                  </a:tcPr>
                </a:tc>
                <a:tc>
                  <a:txBody>
                    <a:bodyPr/>
                    <a:lstStyle/>
                    <a:p>
                      <a:r>
                        <a:rPr sz="1800">
                          <a:solidFill>
                            <a:srgbClr val="F3F1E9"/>
                          </a:solidFill>
                          <a:latin typeface="Arial"/>
                          <a:ea typeface="Arial"/>
                          <a:cs typeface="Arial"/>
                        </a:rPr>
                        <a:t>56,3%</a:t>
                      </a:r>
                    </a:p>
                  </a:txBody>
                  <a:tcPr marL="133350" marR="133350" marT="95250" marB="95250">
                    <a:solidFill>
                      <a:srgbClr val="0D201B"/>
                    </a:solidFill>
                  </a:tcPr>
                </a:tc>
                <a:tc>
                  <a:txBody>
                    <a:bodyPr/>
                    <a:lstStyle/>
                    <a:p>
                      <a:r>
                        <a:rPr sz="1800">
                          <a:solidFill>
                            <a:srgbClr val="F3F1E9"/>
                          </a:solidFill>
                          <a:latin typeface="Arial"/>
                          <a:ea typeface="Arial"/>
                          <a:cs typeface="Arial"/>
                        </a:rPr>
                        <a:t>40,9%</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Среднее 18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11</a:t>
                      </a:r>
                    </a:p>
                  </a:txBody>
                  <a:tcPr marL="133350" marR="133350" marT="95250" marB="95250">
                    <a:solidFill>
                      <a:srgbClr val="0D201B"/>
                    </a:solidFill>
                  </a:tcPr>
                </a:tc>
                <a:tc>
                  <a:txBody>
                    <a:bodyPr/>
                    <a:lstStyle/>
                    <a:p>
                      <a:r>
                        <a:rPr sz="1800">
                          <a:solidFill>
                            <a:srgbClr val="F3F1E9"/>
                          </a:solidFill>
                          <a:latin typeface="Arial"/>
                          <a:ea typeface="Arial"/>
                          <a:cs typeface="Arial"/>
                        </a:rPr>
                        <a:t>13</a:t>
                      </a:r>
                    </a:p>
                  </a:txBody>
                  <a:tcPr marL="133350" marR="133350" marT="95250" marB="95250">
                    <a:solidFill>
                      <a:srgbClr val="0D201B"/>
                    </a:solidFill>
                  </a:tcPr>
                </a:tc>
                <a:tc>
                  <a:txBody>
                    <a:bodyPr/>
                    <a:lstStyle/>
                    <a:p>
                      <a:r>
                        <a:rPr sz="1800">
                          <a:solidFill>
                            <a:srgbClr val="F3F1E9"/>
                          </a:solidFill>
                          <a:latin typeface="Arial"/>
                          <a:ea typeface="Arial"/>
                          <a:cs typeface="Arial"/>
                        </a:rPr>
                        <a:t>45,8%</a:t>
                      </a:r>
                    </a:p>
                  </a:txBody>
                  <a:tcPr marL="133350" marR="133350" marT="95250" marB="95250">
                    <a:solidFill>
                      <a:srgbClr val="0D201B"/>
                    </a:solidFill>
                  </a:tcPr>
                </a:tc>
                <a:tc>
                  <a:txBody>
                    <a:bodyPr/>
                    <a:lstStyle/>
                    <a:p>
                      <a:r>
                        <a:rPr sz="1800">
                          <a:solidFill>
                            <a:srgbClr val="F3F1E9"/>
                          </a:solidFill>
                          <a:latin typeface="Arial"/>
                          <a:ea typeface="Arial"/>
                          <a:cs typeface="Arial"/>
                        </a:rPr>
                        <a:t>50,0%</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Политика повторяемости</a:t>
                      </a:r>
                    </a:p>
                  </a:txBody>
                  <a:tcPr marL="133350" marR="133350" marT="95250" marB="95250">
                    <a:solidFill>
                      <a:srgbClr val="0D201B"/>
                    </a:solidFill>
                  </a:tcPr>
                </a:tc>
                <a:tc>
                  <a:txBody>
                    <a:bodyPr/>
                    <a:lstStyle/>
                    <a:p>
                      <a:r>
                        <a:rPr sz="1800">
                          <a:solidFill>
                            <a:srgbClr val="F3F1E9"/>
                          </a:solidFill>
                          <a:latin typeface="Arial"/>
                          <a:ea typeface="Arial"/>
                          <a:cs typeface="Arial"/>
                        </a:rPr>
                        <a:t>10</a:t>
                      </a:r>
                    </a:p>
                  </a:txBody>
                  <a:tcPr marL="133350" marR="133350" marT="95250" marB="95250">
                    <a:solidFill>
                      <a:srgbClr val="0D201B"/>
                    </a:solidFill>
                  </a:tcPr>
                </a:tc>
                <a:tc>
                  <a:txBody>
                    <a:bodyPr/>
                    <a:lstStyle/>
                    <a:p>
                      <a:r>
                        <a:rPr sz="1800">
                          <a:solidFill>
                            <a:srgbClr val="F3F1E9"/>
                          </a:solidFill>
                          <a:latin typeface="Arial"/>
                          <a:ea typeface="Arial"/>
                          <a:cs typeface="Arial"/>
                        </a:rPr>
                        <a:t>8</a:t>
                      </a:r>
                    </a:p>
                  </a:txBody>
                  <a:tcPr marL="133350" marR="133350" marT="95250" marB="95250">
                    <a:solidFill>
                      <a:srgbClr val="0D201B"/>
                    </a:solidFill>
                  </a:tcPr>
                </a:tc>
                <a:tc>
                  <a:txBody>
                    <a:bodyPr/>
                    <a:lstStyle/>
                    <a:p>
                      <a:r>
                        <a:rPr sz="1800">
                          <a:solidFill>
                            <a:srgbClr val="F3F1E9"/>
                          </a:solidFill>
                          <a:latin typeface="Arial"/>
                          <a:ea typeface="Arial"/>
                          <a:cs typeface="Arial"/>
                        </a:rPr>
                        <a:t>55,6%</a:t>
                      </a:r>
                    </a:p>
                  </a:txBody>
                  <a:tcPr marL="133350" marR="133350" marT="95250" marB="95250">
                    <a:solidFill>
                      <a:srgbClr val="0D201B"/>
                    </a:solidFill>
                  </a:tcPr>
                </a:tc>
                <a:tc>
                  <a:txBody>
                    <a:bodyPr/>
                    <a:lstStyle/>
                    <a:p>
                      <a:r>
                        <a:rPr sz="1800">
                          <a:solidFill>
                            <a:srgbClr val="F3F1E9"/>
                          </a:solidFill>
                          <a:latin typeface="Arial"/>
                          <a:ea typeface="Arial"/>
                          <a:cs typeface="Arial"/>
                        </a:rPr>
                        <a:t>45,5%</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43B04055-A6B5-42FB-96E0-6421056C5BE7}"/>
              </a:ext>
            </a:extLst>
          </p:cNvPr>
          <p:cNvSpPr>
            <a:spLocks xmlns:a="http://schemas.openxmlformats.org/drawingml/2006/main" noGrp="1"/>
          </p:cNvSpPr>
          <p:nvPr/>
        </p:nvSpPr>
        <p:spPr>
          <a:xfrm xmlns:a="http://schemas.openxmlformats.org/drawingml/2006/main">
            <a:off x="704850" y="5419725"/>
            <a:ext cx="107251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Режим выбирается под допустимое число проверок.</a:t>
            </a:r>
          </a:p>
        </p:txBody>
      </p:sp>
      <p:sp>
        <p:nvSpPr>
          <p:cNvPr id="4" name="">
            <a:extLst xmlns:a="http://schemas.openxmlformats.org/drawingml/2006/main">
              <a:ext uri="{FF2B5EF4-FFF2-40B4-BE49-F238E27FC236}">
                <a16:creationId xmlns:a16="http://schemas.microsoft.com/office/drawing/2014/main" id="{5D8FAE14-79BD-4D6F-94FF-90B44265D070}"/>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Все строки относятся к одному периоду. Метрики разных вариантов нельзя объединять в одну пару.</a:t>
            </a:r>
          </a:p>
        </p:txBody>
      </p:sp>
      <p:sp>
        <p:nvSpPr>
          <p:cNvPr id="5" name="">
            <a:extLst xmlns:a="http://schemas.openxmlformats.org/drawingml/2006/main">
              <a:ext uri="{FF2B5EF4-FFF2-40B4-BE49-F238E27FC236}">
                <a16:creationId xmlns:a16="http://schemas.microsoft.com/office/drawing/2014/main" id="{BCE313A6-AF9D-4C18-9118-67D12468640F}"/>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14</a:t>
            </a:r>
          </a:p>
        </p:txBody>
      </p:sp>
    </p:spTree>
    <p:extLst>
      <p:ext uri="{BB962C8B-B14F-4D97-AF65-F5344CB8AC3E}">
        <p14:creationId xmlns:p14="http://schemas.microsoft.com/office/powerpoint/2010/main" val="166536832"/>
      </p:ext>
    </p:extLst>
  </p:cSld>
</p:sld>
</file>

<file path=ppt/slides/slide15.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57E4A50-FECD-4929-9EF6-53D344B50457}"/>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Один ансамбль в Python и в браузере</a:t>
            </a:r>
          </a:p>
        </p:txBody>
      </p:sp>
      <p:graphicFrame>
        <p:nvGraphicFramePr>
          <p:cNvPr id="6" name=""/>
          <p:cNvGraphicFramePr/>
          <p:nvPr/>
        </p:nvGraphicFramePr>
        <p:xfrm>
          <a:off xmlns:a="http://schemas.openxmlformats.org/drawingml/2006/main" x="609600" y="1733550"/>
          <a:ext xmlns:a="http://schemas.openxmlformats.org/drawingml/2006/main" cx="10972800" cy="3886200"/>
        </p:xfrm>
        <a:graphic xmlns:a="http://schemas.openxmlformats.org/drawingml/2006/main">
          <a:graphicData uri="http://schemas.openxmlformats.org/drawingml/2006/table">
            <a:tbl>
              <a:tblPr/>
              <a:tblGrid>
                <a:gridCol w="5172075"/>
                <a:gridCol w="5800725"/>
              </a:tblGrid>
              <a:tr h="647700">
                <a:tc>
                  <a:txBody>
                    <a:bodyPr/>
                    <a:lstStyle/>
                    <a:p>
                      <a:r>
                        <a:rPr sz="1800" b="1">
                          <a:solidFill>
                            <a:srgbClr val="0D201B"/>
                          </a:solidFill>
                          <a:latin typeface="Arial"/>
                          <a:ea typeface="Arial"/>
                          <a:cs typeface="Arial"/>
                        </a:rPr>
                        <a:t>Проверка</a:t>
                      </a:r>
                    </a:p>
                  </a:txBody>
                  <a:tcPr marL="133350" marR="133350" marT="95250" marB="95250">
                    <a:solidFill>
                      <a:srgbClr val="D8F77B"/>
                    </a:solidFill>
                  </a:tcPr>
                </a:tc>
                <a:tc>
                  <a:txBody>
                    <a:bodyPr/>
                    <a:lstStyle/>
                    <a:p>
                      <a:r>
                        <a:rPr sz="1800" b="1">
                          <a:solidFill>
                            <a:srgbClr val="0D201B"/>
                          </a:solidFill>
                          <a:latin typeface="Arial"/>
                          <a:ea typeface="Arial"/>
                          <a:cs typeface="Arial"/>
                        </a:rPr>
                        <a:t>Результат</a:t>
                      </a:r>
                    </a:p>
                  </a:txBody>
                  <a:tcPr marL="133350" marR="133350" marT="95250" marB="95250">
                    <a:solidFill>
                      <a:srgbClr val="D8F77B"/>
                    </a:solidFill>
                  </a:tcPr>
                </a:tc>
              </a:tr>
              <a:tr h="647700">
                <a:tc>
                  <a:txBody>
                    <a:bodyPr/>
                    <a:lstStyle/>
                    <a:p>
                      <a:r>
                        <a:rPr sz="1800">
                          <a:solidFill>
                            <a:srgbClr val="F3F1E9"/>
                          </a:solidFill>
                          <a:latin typeface="Arial"/>
                          <a:ea typeface="Arial"/>
                          <a:cs typeface="Arial"/>
                        </a:rPr>
                        <a:t>Все 8 базовых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5 LightGBM, CatBoost, Extra Trees, Logistic</a:t>
                      </a:r>
                    </a:p>
                  </a:txBody>
                  <a:tcPr marL="133350" marR="133350" marT="95250" marB="95250">
                    <a:solidFill>
                      <a:srgbClr val="0D201B"/>
                    </a:solidFill>
                  </a:tcPr>
                </a:tc>
              </a:tr>
              <a:tr h="647700">
                <a:tc>
                  <a:txBody>
                    <a:bodyPr/>
                    <a:lstStyle/>
                    <a:p>
                      <a:r>
                        <a:rPr sz="1800">
                          <a:solidFill>
                            <a:srgbClr val="F3F1E9"/>
                          </a:solidFill>
                          <a:latin typeface="Arial"/>
                          <a:ea typeface="Arial"/>
                          <a:cs typeface="Arial"/>
                        </a:rPr>
                        <a:t>Контракт входа</a:t>
                      </a:r>
                    </a:p>
                  </a:txBody>
                  <a:tcPr marL="133350" marR="133350" marT="95250" marB="95250">
                    <a:solidFill>
                      <a:srgbClr val="0D201B"/>
                    </a:solidFill>
                  </a:tcPr>
                </a:tc>
                <a:tc>
                  <a:txBody>
                    <a:bodyPr/>
                    <a:lstStyle/>
                    <a:p>
                      <a:r>
                        <a:rPr sz="1800">
                          <a:solidFill>
                            <a:srgbClr val="F3F1E9"/>
                          </a:solidFill>
                          <a:latin typeface="Arial"/>
                          <a:ea typeface="Arial"/>
                          <a:cs typeface="Arial"/>
                        </a:rPr>
                        <a:t>178 признаков и дата, 179 столбцов CSV</a:t>
                      </a:r>
                    </a:p>
                  </a:txBody>
                  <a:tcPr marL="133350" marR="133350" marT="95250" marB="95250">
                    <a:solidFill>
                      <a:srgbClr val="0D201B"/>
                    </a:solidFill>
                  </a:tcPr>
                </a:tc>
              </a:tr>
              <a:tr h="647700">
                <a:tc>
                  <a:txBody>
                    <a:bodyPr/>
                    <a:lstStyle/>
                    <a:p>
                      <a:r>
                        <a:rPr sz="1800">
                          <a:solidFill>
                            <a:srgbClr val="F3F1E9"/>
                          </a:solidFill>
                          <a:latin typeface="Arial"/>
                          <a:ea typeface="Arial"/>
                          <a:cs typeface="Arial"/>
                        </a:rPr>
                        <a:t>Сравнение с Python</a:t>
                      </a:r>
                    </a:p>
                  </a:txBody>
                  <a:tcPr marL="133350" marR="133350" marT="95250" marB="95250">
                    <a:solidFill>
                      <a:srgbClr val="0D201B"/>
                    </a:solidFill>
                  </a:tcPr>
                </a:tc>
                <a:tc>
                  <a:txBody>
                    <a:bodyPr/>
                    <a:lstStyle/>
                    <a:p>
                      <a:r>
                        <a:rPr sz="1800">
                          <a:solidFill>
                            <a:srgbClr val="F3F1E9"/>
                          </a:solidFill>
                          <a:latin typeface="Arial"/>
                          <a:ea typeface="Arial"/>
                          <a:cs typeface="Arial"/>
                        </a:rPr>
                        <a:t>783 строки, включая пропуски и новую группу</a:t>
                      </a:r>
                    </a:p>
                  </a:txBody>
                  <a:tcPr marL="133350" marR="133350" marT="95250" marB="95250">
                    <a:solidFill>
                      <a:srgbClr val="0D201B"/>
                    </a:solidFill>
                  </a:tcPr>
                </a:tc>
              </a:tr>
              <a:tr h="647700">
                <a:tc>
                  <a:txBody>
                    <a:bodyPr/>
                    <a:lstStyle/>
                    <a:p>
                      <a:r>
                        <a:rPr sz="1800">
                          <a:solidFill>
                            <a:srgbClr val="F3F1E9"/>
                          </a:solidFill>
                          <a:latin typeface="Arial"/>
                          <a:ea typeface="Arial"/>
                          <a:cs typeface="Arial"/>
                        </a:rPr>
                        <a:t>Максимальная абсолютная разница</a:t>
                      </a:r>
                    </a:p>
                  </a:txBody>
                  <a:tcPr marL="133350" marR="133350" marT="95250" marB="95250">
                    <a:solidFill>
                      <a:srgbClr val="0D201B"/>
                    </a:solidFill>
                  </a:tcPr>
                </a:tc>
                <a:tc>
                  <a:txBody>
                    <a:bodyPr/>
                    <a:lstStyle/>
                    <a:p>
                      <a:r>
                        <a:rPr sz="1800">
                          <a:solidFill>
                            <a:srgbClr val="F3F1E9"/>
                          </a:solidFill>
                          <a:latin typeface="Arial"/>
                          <a:ea typeface="Arial"/>
                          <a:cs typeface="Arial"/>
                        </a:rPr>
                        <a:t>3,9 × 10⁻¹⁶ при допуске 10⁻¹⁰</a:t>
                      </a:r>
                    </a:p>
                  </a:txBody>
                  <a:tcPr marL="133350" marR="133350" marT="95250" marB="95250">
                    <a:solidFill>
                      <a:srgbClr val="0D201B"/>
                    </a:solidFill>
                  </a:tcPr>
                </a:tc>
              </a:tr>
              <a:tr h="647700">
                <a:tc>
                  <a:txBody>
                    <a:bodyPr/>
                    <a:lstStyle/>
                    <a:p>
                      <a:r>
                        <a:rPr sz="1800">
                          <a:solidFill>
                            <a:srgbClr val="F3F1E9"/>
                          </a:solidFill>
                          <a:latin typeface="Arial"/>
                          <a:ea typeface="Arial"/>
                          <a:cs typeface="Arial"/>
                        </a:rPr>
                        <a:t>Версия / обучение</a:t>
                      </a:r>
                    </a:p>
                  </a:txBody>
                  <a:tcPr marL="133350" marR="133350" marT="95250" marB="95250">
                    <a:solidFill>
                      <a:srgbClr val="0D201B"/>
                    </a:solidFill>
                  </a:tcPr>
                </a:tc>
                <a:tc>
                  <a:txBody>
                    <a:bodyPr/>
                    <a:lstStyle/>
                    <a:p>
                      <a:r>
                        <a:rPr sz="1800">
                          <a:solidFill>
                            <a:srgbClr val="F3F1E9"/>
                          </a:solidFill>
                          <a:latin typeface="Arial"/>
                          <a:ea typeface="Arial"/>
                          <a:cs typeface="Arial"/>
                        </a:rPr>
                        <a:t>piket-eight-2026-06 / до 16.05.2026</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A7833B96-1437-4DD3-BAE5-8BB59592F846}"/>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Метрики на слайде 6 относятся к ежемесячному replay. Совпадение расчёта не доказывает качество прогноза.</a:t>
            </a:r>
          </a:p>
        </p:txBody>
      </p:sp>
      <p:sp>
        <p:nvSpPr>
          <p:cNvPr id="4" name="">
            <a:extLst xmlns:a="http://schemas.openxmlformats.org/drawingml/2006/main">
              <a:ext uri="{FF2B5EF4-FFF2-40B4-BE49-F238E27FC236}">
                <a16:creationId xmlns:a16="http://schemas.microsoft.com/office/drawing/2014/main" id="{BA539630-F6B7-4A6F-A44B-1D7660745F14}"/>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15</a:t>
            </a:r>
          </a:p>
        </p:txBody>
      </p:sp>
    </p:spTree>
    <p:extLst>
      <p:ext uri="{BB962C8B-B14F-4D97-AF65-F5344CB8AC3E}">
        <p14:creationId xmlns:p14="http://schemas.microsoft.com/office/powerpoint/2010/main" val="273013677"/>
      </p:ext>
    </p:extLst>
  </p:cSld>
</p:sld>
</file>

<file path=ppt/slides/slide16.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839917-3CFA-4237-BE74-E4FE17A21B2D}"/>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Вероятность повторного инцидента</a:t>
            </a:r>
          </a:p>
        </p:txBody>
      </p:sp>
      <p:sp>
        <p:nvSpPr>
          <p:cNvPr id="2" name="">
            <a:extLst xmlns:a="http://schemas.openxmlformats.org/drawingml/2006/main">
              <a:ext uri="{FF2B5EF4-FFF2-40B4-BE49-F238E27FC236}">
                <a16:creationId xmlns:a16="http://schemas.microsoft.com/office/drawing/2014/main" id="{52EF5950-99EF-48FC-9390-A2C4B5BDBA79}"/>
              </a:ext>
            </a:extLst>
          </p:cNvPr>
          <p:cNvSpPr>
            <a:spLocks xmlns:a="http://schemas.openxmlformats.org/drawingml/2006/main" noGrp="1"/>
          </p:cNvSpPr>
          <p:nvPr/>
        </p:nvSpPr>
        <p:spPr>
          <a:xfrm xmlns:a="http://schemas.openxmlformats.org/drawingml/2006/main">
            <a:off x="638175" y="18478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8F77B"/>
                </a:solidFill>
                <a:latin typeface="Arial"/>
                <a:ea typeface="Arial"/>
                <a:cs typeface="Arial"/>
              </a:defRPr>
            </a:pPr>
            <a:r>
              <a:rPr sz="2325" b="1">
                <a:solidFill>
                  <a:srgbClr val="D8F77B"/>
                </a:solidFill>
                <a:latin typeface="Arial"/>
                <a:ea typeface="Arial"/>
                <a:cs typeface="Arial"/>
              </a:rPr>
              <a:t>Условие: после прошлого сбоя прошло a дней</a:t>
            </a:r>
          </a:p>
        </p:txBody>
      </p:sp>
      <p:sp>
        <p:nvSpPr>
          <p:cNvPr id="3" name="">
            <a:extLst xmlns:a="http://schemas.openxmlformats.org/drawingml/2006/main">
              <a:ext uri="{FF2B5EF4-FFF2-40B4-BE49-F238E27FC236}">
                <a16:creationId xmlns:a16="http://schemas.microsoft.com/office/drawing/2014/main" id="{FF523926-3F96-4EB8-A47B-9211EFBED176}"/>
              </a:ext>
            </a:extLst>
          </p:cNvPr>
          <p:cNvSpPr>
            <a:spLocks xmlns:a="http://schemas.openxmlformats.org/drawingml/2006/main" noGrp="1"/>
          </p:cNvSpPr>
          <p:nvPr/>
        </p:nvSpPr>
        <p:spPr>
          <a:xfrm xmlns:a="http://schemas.openxmlformats.org/drawingml/2006/main">
            <a:off x="647700" y="2752725"/>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F3F1E9"/>
                </a:solidFill>
                <a:latin typeface="Arial"/>
                <a:ea typeface="Arial"/>
                <a:cs typeface="Arial"/>
              </a:defRPr>
            </a:pPr>
            <a:r>
              <a:rPr sz="3000" b="1">
                <a:solidFill>
                  <a:srgbClr val="F3F1E9"/>
                </a:solidFill>
                <a:latin typeface="Arial"/>
                <a:ea typeface="Arial"/>
                <a:cs typeface="Arial"/>
              </a:rPr>
              <a:t>P(a + 1 &lt; T ≤ a + 15 ∣ T &gt; a, H_D)</a:t>
            </a:r>
          </a:p>
        </p:txBody>
      </p:sp>
      <p:sp>
        <p:nvSpPr>
          <p:cNvPr id="4" name="">
            <a:extLst xmlns:a="http://schemas.openxmlformats.org/drawingml/2006/main">
              <a:ext uri="{FF2B5EF4-FFF2-40B4-BE49-F238E27FC236}">
                <a16:creationId xmlns:a16="http://schemas.microsoft.com/office/drawing/2014/main" id="{FCB2EC03-C867-45C5-ACA0-9B0C5D20D97F}"/>
              </a:ext>
            </a:extLst>
          </p:cNvPr>
          <p:cNvSpPr>
            <a:spLocks xmlns:a="http://schemas.openxmlformats.org/drawingml/2006/main" noGrp="1"/>
          </p:cNvSpPr>
          <p:nvPr/>
        </p:nvSpPr>
        <p:spPr>
          <a:xfrm xmlns:a="http://schemas.openxmlformats.org/drawingml/2006/main">
            <a:off x="647700" y="35814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F3F1E9"/>
                </a:solidFill>
                <a:latin typeface="Arial"/>
                <a:ea typeface="Arial"/>
                <a:cs typeface="Arial"/>
              </a:defRPr>
            </a:pPr>
            <a:r>
              <a:rPr sz="2775" b="1">
                <a:solidFill>
                  <a:srgbClr val="F3F1E9"/>
                </a:solidFill>
                <a:latin typeface="Arial"/>
                <a:ea typeface="Arial"/>
                <a:cs typeface="Arial"/>
              </a:rPr>
              <a:t>= [F_D(a + 15) − F_D(a + 1)] / [1 − F_D(a)]</a:t>
            </a:r>
          </a:p>
        </p:txBody>
      </p:sp>
      <p:sp>
        <p:nvSpPr>
          <p:cNvPr id="5" name="">
            <a:extLst xmlns:a="http://schemas.openxmlformats.org/drawingml/2006/main">
              <a:ext uri="{FF2B5EF4-FFF2-40B4-BE49-F238E27FC236}">
                <a16:creationId xmlns:a16="http://schemas.microsoft.com/office/drawing/2014/main" id="{7F4750EE-1590-4696-AC12-D800A46F5F98}"/>
              </a:ext>
            </a:extLst>
          </p:cNvPr>
          <p:cNvSpPr>
            <a:spLocks xmlns:a="http://schemas.openxmlformats.org/drawingml/2006/main" noGrp="1"/>
          </p:cNvSpPr>
          <p:nvPr/>
        </p:nvSpPr>
        <p:spPr>
          <a:xfrm xmlns:a="http://schemas.openxmlformats.org/drawingml/2006/main">
            <a:off x="666750" y="486727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При короткой истории вероятность сжимается множителем n / (n + 3).</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Модель получает фазу цикла, разброс интервалов и недавний фон сети.</a:t>
            </a:r>
          </a:p>
        </p:txBody>
      </p:sp>
      <p:sp>
        <p:nvSpPr>
          <p:cNvPr id="6" name="">
            <a:extLst xmlns:a="http://schemas.openxmlformats.org/drawingml/2006/main">
              <a:ext uri="{FF2B5EF4-FFF2-40B4-BE49-F238E27FC236}">
                <a16:creationId xmlns:a16="http://schemas.microsoft.com/office/drawing/2014/main" id="{4218B11A-D673-4207-8C56-B29D548993D6}"/>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H_D содержит только наблюдения на дату D. Цель: различить повторный риск и случайный всплеск.</a:t>
            </a:r>
          </a:p>
        </p:txBody>
      </p:sp>
      <p:sp>
        <p:nvSpPr>
          <p:cNvPr id="7" name="">
            <a:extLst xmlns:a="http://schemas.openxmlformats.org/drawingml/2006/main">
              <a:ext uri="{FF2B5EF4-FFF2-40B4-BE49-F238E27FC236}">
                <a16:creationId xmlns:a16="http://schemas.microsoft.com/office/drawing/2014/main" id="{4C39417E-3815-4AF1-8D6F-C7E63BAD2CAA}"/>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16</a:t>
            </a:r>
          </a:p>
        </p:txBody>
      </p:sp>
    </p:spTree>
    <p:extLst>
      <p:ext uri="{BB962C8B-B14F-4D97-AF65-F5344CB8AC3E}">
        <p14:creationId xmlns:p14="http://schemas.microsoft.com/office/powerpoint/2010/main" val="1332320105"/>
      </p:ext>
    </p:extLst>
  </p:cSld>
</p:sld>
</file>

<file path=ppt/slides/slide17.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31DBFFC-16C5-4F40-952F-F9E441907396}"/>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Разработка 2025: сравнение подходов</a:t>
            </a:r>
          </a:p>
        </p:txBody>
      </p:sp>
      <p:graphicFrame>
        <p:nvGraphicFramePr>
          <p:cNvPr id="6" name=""/>
          <p:cNvGraphicFramePr/>
          <p:nvPr/>
        </p:nvGraphicFramePr>
        <p:xfrm>
          <a:off xmlns:a="http://schemas.openxmlformats.org/drawingml/2006/main" x="609600" y="1685925"/>
          <a:ext xmlns:a="http://schemas.openxmlformats.org/drawingml/2006/main" cx="10972800" cy="4000500"/>
        </p:xfrm>
        <a:graphic xmlns:a="http://schemas.openxmlformats.org/drawingml/2006/main">
          <a:graphicData uri="http://schemas.openxmlformats.org/drawingml/2006/table">
            <a:tbl>
              <a:tblPr/>
              <a:tblGrid>
                <a:gridCol w="5305425"/>
                <a:gridCol w="1028700"/>
                <a:gridCol w="1028700"/>
                <a:gridCol w="1809750"/>
                <a:gridCol w="1800225"/>
              </a:tblGrid>
              <a:tr h="500063">
                <a:tc>
                  <a:txBody>
                    <a:bodyPr/>
                    <a:lstStyle/>
                    <a:p>
                      <a:r>
                        <a:rPr sz="1650" b="1">
                          <a:solidFill>
                            <a:srgbClr val="0D201B"/>
                          </a:solidFill>
                          <a:latin typeface="Arial"/>
                          <a:ea typeface="Arial"/>
                          <a:cs typeface="Arial"/>
                        </a:rPr>
                        <a:t>Подход</a:t>
                      </a:r>
                    </a:p>
                  </a:txBody>
                  <a:tcPr marL="133350" marR="133350" marT="95250" marB="95250">
                    <a:solidFill>
                      <a:srgbClr val="D8F77B"/>
                    </a:solidFill>
                  </a:tcPr>
                </a:tc>
                <a:tc>
                  <a:txBody>
                    <a:bodyPr/>
                    <a:lstStyle/>
                    <a:p>
                      <a:r>
                        <a:rPr sz="1650" b="1">
                          <a:solidFill>
                            <a:srgbClr val="0D201B"/>
                          </a:solidFill>
                          <a:latin typeface="Arial"/>
                          <a:ea typeface="Arial"/>
                          <a:cs typeface="Arial"/>
                        </a:rPr>
                        <a:t>TP</a:t>
                      </a:r>
                    </a:p>
                  </a:txBody>
                  <a:tcPr marL="133350" marR="133350" marT="95250" marB="95250">
                    <a:solidFill>
                      <a:srgbClr val="D8F77B"/>
                    </a:solidFill>
                  </a:tcPr>
                </a:tc>
                <a:tc>
                  <a:txBody>
                    <a:bodyPr/>
                    <a:lstStyle/>
                    <a:p>
                      <a:r>
                        <a:rPr sz="1650" b="1">
                          <a:solidFill>
                            <a:srgbClr val="0D201B"/>
                          </a:solidFill>
                          <a:latin typeface="Arial"/>
                          <a:ea typeface="Arial"/>
                          <a:cs typeface="Arial"/>
                        </a:rPr>
                        <a:t>FP</a:t>
                      </a:r>
                    </a:p>
                  </a:txBody>
                  <a:tcPr marL="133350" marR="133350" marT="95250" marB="95250">
                    <a:solidFill>
                      <a:srgbClr val="D8F77B"/>
                    </a:solidFill>
                  </a:tcPr>
                </a:tc>
                <a:tc>
                  <a:txBody>
                    <a:bodyPr/>
                    <a:lstStyle/>
                    <a:p>
                      <a:r>
                        <a:rPr sz="1650" b="1">
                          <a:solidFill>
                            <a:srgbClr val="0D201B"/>
                          </a:solidFill>
                          <a:latin typeface="Arial"/>
                          <a:ea typeface="Arial"/>
                          <a:cs typeface="Arial"/>
                        </a:rPr>
                        <a:t>Precision</a:t>
                      </a:r>
                    </a:p>
                  </a:txBody>
                  <a:tcPr marL="133350" marR="133350" marT="95250" marB="95250">
                    <a:solidFill>
                      <a:srgbClr val="D8F77B"/>
                    </a:solidFill>
                  </a:tcPr>
                </a:tc>
                <a:tc>
                  <a:txBody>
                    <a:bodyPr/>
                    <a:lstStyle/>
                    <a:p>
                      <a:r>
                        <a:rPr sz="1650" b="1">
                          <a:solidFill>
                            <a:srgbClr val="0D201B"/>
                          </a:solidFill>
                          <a:latin typeface="Arial"/>
                          <a:ea typeface="Arial"/>
                          <a:cs typeface="Arial"/>
                        </a:rPr>
                        <a:t>Recall</a:t>
                      </a:r>
                    </a:p>
                  </a:txBody>
                  <a:tcPr marL="133350" marR="133350" marT="95250" marB="95250">
                    <a:solidFill>
                      <a:srgbClr val="D8F77B"/>
                    </a:solidFill>
                  </a:tcPr>
                </a:tc>
              </a:tr>
              <a:tr h="500063">
                <a:tc>
                  <a:txBody>
                    <a:bodyPr/>
                    <a:lstStyle/>
                    <a:p>
                      <a:r>
                        <a:rPr sz="1650">
                          <a:solidFill>
                            <a:srgbClr val="F3F1E9"/>
                          </a:solidFill>
                          <a:latin typeface="Arial"/>
                          <a:ea typeface="Arial"/>
                          <a:cs typeface="Arial"/>
                        </a:rPr>
                        <a:t>Исходный LightGBM</a:t>
                      </a:r>
                    </a:p>
                  </a:txBody>
                  <a:tcPr marL="133350" marR="133350" marT="95250" marB="95250">
                    <a:solidFill>
                      <a:srgbClr val="0D201B"/>
                    </a:solidFill>
                  </a:tcPr>
                </a:tc>
                <a:tc>
                  <a:txBody>
                    <a:bodyPr/>
                    <a:lstStyle/>
                    <a:p>
                      <a:r>
                        <a:rPr sz="1650">
                          <a:solidFill>
                            <a:srgbClr val="F3F1E9"/>
                          </a:solidFill>
                          <a:latin typeface="Arial"/>
                          <a:ea typeface="Arial"/>
                          <a:cs typeface="Arial"/>
                        </a:rPr>
                        <a:t>13</a:t>
                      </a:r>
                    </a:p>
                  </a:txBody>
                  <a:tcPr marL="133350" marR="133350" marT="95250" marB="95250">
                    <a:solidFill>
                      <a:srgbClr val="0D201B"/>
                    </a:solidFill>
                  </a:tcPr>
                </a:tc>
                <a:tc>
                  <a:txBody>
                    <a:bodyPr/>
                    <a:lstStyle/>
                    <a:p>
                      <a:r>
                        <a:rPr sz="1650">
                          <a:solidFill>
                            <a:srgbClr val="F3F1E9"/>
                          </a:solidFill>
                          <a:latin typeface="Arial"/>
                          <a:ea typeface="Arial"/>
                          <a:cs typeface="Arial"/>
                        </a:rPr>
                        <a:t>29</a:t>
                      </a:r>
                    </a:p>
                  </a:txBody>
                  <a:tcPr marL="133350" marR="133350" marT="95250" marB="95250">
                    <a:solidFill>
                      <a:srgbClr val="0D201B"/>
                    </a:solidFill>
                  </a:tcPr>
                </a:tc>
                <a:tc>
                  <a:txBody>
                    <a:bodyPr/>
                    <a:lstStyle/>
                    <a:p>
                      <a:r>
                        <a:rPr sz="1650">
                          <a:solidFill>
                            <a:srgbClr val="F3F1E9"/>
                          </a:solidFill>
                          <a:latin typeface="Arial"/>
                          <a:ea typeface="Arial"/>
                          <a:cs typeface="Arial"/>
                        </a:rPr>
                        <a:t>31.0%</a:t>
                      </a:r>
                    </a:p>
                  </a:txBody>
                  <a:tcPr marL="133350" marR="133350" marT="95250" marB="95250">
                    <a:solidFill>
                      <a:srgbClr val="0D201B"/>
                    </a:solidFill>
                  </a:tcPr>
                </a:tc>
                <a:tc>
                  <a:txBody>
                    <a:bodyPr/>
                    <a:lstStyle/>
                    <a:p>
                      <a:r>
                        <a:rPr sz="1650">
                          <a:solidFill>
                            <a:srgbClr val="F3F1E9"/>
                          </a:solidFill>
                          <a:latin typeface="Arial"/>
                          <a:ea typeface="Arial"/>
                          <a:cs typeface="Arial"/>
                        </a:rPr>
                        <a:t>39.4%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LightGBM + полная история</a:t>
                      </a:r>
                    </a:p>
                  </a:txBody>
                  <a:tcPr marL="133350" marR="133350" marT="95250" marB="95250">
                    <a:solidFill>
                      <a:srgbClr val="0D201B"/>
                    </a:solidFill>
                  </a:tcPr>
                </a:tc>
                <a:tc>
                  <a:txBody>
                    <a:bodyPr/>
                    <a:lstStyle/>
                    <a:p>
                      <a:r>
                        <a:rPr sz="1650">
                          <a:solidFill>
                            <a:srgbClr val="F3F1E9"/>
                          </a:solidFill>
                          <a:latin typeface="Arial"/>
                          <a:ea typeface="Arial"/>
                          <a:cs typeface="Arial"/>
                        </a:rPr>
                        <a:t>15</a:t>
                      </a:r>
                    </a:p>
                  </a:txBody>
                  <a:tcPr marL="133350" marR="133350" marT="95250" marB="95250">
                    <a:solidFill>
                      <a:srgbClr val="0D201B"/>
                    </a:solidFill>
                  </a:tcPr>
                </a:tc>
                <a:tc>
                  <a:txBody>
                    <a:bodyPr/>
                    <a:lstStyle/>
                    <a:p>
                      <a:r>
                        <a:rPr sz="1650">
                          <a:solidFill>
                            <a:srgbClr val="F3F1E9"/>
                          </a:solidFill>
                          <a:latin typeface="Arial"/>
                          <a:ea typeface="Arial"/>
                          <a:cs typeface="Arial"/>
                        </a:rPr>
                        <a:t>27</a:t>
                      </a:r>
                    </a:p>
                  </a:txBody>
                  <a:tcPr marL="133350" marR="133350" marT="95250" marB="95250">
                    <a:solidFill>
                      <a:srgbClr val="0D201B"/>
                    </a:solidFill>
                  </a:tcPr>
                </a:tc>
                <a:tc>
                  <a:txBody>
                    <a:bodyPr/>
                    <a:lstStyle/>
                    <a:p>
                      <a:r>
                        <a:rPr sz="1650">
                          <a:solidFill>
                            <a:srgbClr val="F3F1E9"/>
                          </a:solidFill>
                          <a:latin typeface="Arial"/>
                          <a:ea typeface="Arial"/>
                          <a:cs typeface="Arial"/>
                        </a:rPr>
                        <a:t>35.7%</a:t>
                      </a:r>
                    </a:p>
                  </a:txBody>
                  <a:tcPr marL="133350" marR="133350" marT="95250" marB="95250">
                    <a:solidFill>
                      <a:srgbClr val="0D201B"/>
                    </a:solidFill>
                  </a:tcPr>
                </a:tc>
                <a:tc>
                  <a:txBody>
                    <a:bodyPr/>
                    <a:lstStyle/>
                    <a:p>
                      <a:r>
                        <a:rPr sz="1650">
                          <a:solidFill>
                            <a:srgbClr val="F3F1E9"/>
                          </a:solidFill>
                          <a:latin typeface="Arial"/>
                          <a:ea typeface="Arial"/>
                          <a:cs typeface="Arial"/>
                        </a:rPr>
                        <a:t>45.5%</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Ordered</a:t>
                      </a:r>
                    </a:p>
                  </a:txBody>
                  <a:tcPr marL="133350" marR="133350" marT="95250" marB="95250">
                    <a:solidFill>
                      <a:srgbClr val="0D201B"/>
                    </a:solidFill>
                  </a:tcPr>
                </a:tc>
                <a:tc>
                  <a:txBody>
                    <a:bodyPr/>
                    <a:lstStyle/>
                    <a:p>
                      <a:r>
                        <a:rPr sz="1650">
                          <a:solidFill>
                            <a:srgbClr val="F3F1E9"/>
                          </a:solidFill>
                          <a:latin typeface="Arial"/>
                          <a:ea typeface="Arial"/>
                          <a:cs typeface="Arial"/>
                        </a:rPr>
                        <a:t>14</a:t>
                      </a:r>
                    </a:p>
                  </a:txBody>
                  <a:tcPr marL="133350" marR="133350" marT="95250" marB="95250">
                    <a:solidFill>
                      <a:srgbClr val="0D201B"/>
                    </a:solidFill>
                  </a:tcPr>
                </a:tc>
                <a:tc>
                  <a:txBody>
                    <a:bodyPr/>
                    <a:lstStyle/>
                    <a:p>
                      <a:r>
                        <a:rPr sz="1650">
                          <a:solidFill>
                            <a:srgbClr val="F3F1E9"/>
                          </a:solidFill>
                          <a:latin typeface="Arial"/>
                          <a:ea typeface="Arial"/>
                          <a:cs typeface="Arial"/>
                        </a:rPr>
                        <a:t>28</a:t>
                      </a:r>
                    </a:p>
                  </a:txBody>
                  <a:tcPr marL="133350" marR="133350" marT="95250" marB="95250">
                    <a:solidFill>
                      <a:srgbClr val="0D201B"/>
                    </a:solidFill>
                  </a:tcPr>
                </a:tc>
                <a:tc>
                  <a:txBody>
                    <a:bodyPr/>
                    <a:lstStyle/>
                    <a:p>
                      <a:r>
                        <a:rPr sz="1650">
                          <a:solidFill>
                            <a:srgbClr val="F3F1E9"/>
                          </a:solidFill>
                          <a:latin typeface="Arial"/>
                          <a:ea typeface="Arial"/>
                          <a:cs typeface="Arial"/>
                        </a:rPr>
                        <a:t>33.3%</a:t>
                      </a:r>
                    </a:p>
                  </a:txBody>
                  <a:tcPr marL="133350" marR="133350" marT="95250" marB="95250">
                    <a:solidFill>
                      <a:srgbClr val="0D201B"/>
                    </a:solidFill>
                  </a:tcPr>
                </a:tc>
                <a:tc>
                  <a:txBody>
                    <a:bodyPr/>
                    <a:lstStyle/>
                    <a:p>
                      <a:r>
                        <a:rPr sz="1650">
                          <a:solidFill>
                            <a:srgbClr val="F3F1E9"/>
                          </a:solidFill>
                          <a:latin typeface="Arial"/>
                          <a:ea typeface="Arial"/>
                          <a:cs typeface="Arial"/>
                        </a:rPr>
                        <a:t>42.4%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Extra Trees</a:t>
                      </a:r>
                    </a:p>
                  </a:txBody>
                  <a:tcPr marL="133350" marR="133350" marT="95250" marB="95250">
                    <a:solidFill>
                      <a:srgbClr val="0D201B"/>
                    </a:solidFill>
                  </a:tcPr>
                </a:tc>
                <a:tc>
                  <a:txBody>
                    <a:bodyPr/>
                    <a:lstStyle/>
                    <a:p>
                      <a:r>
                        <a:rPr sz="1650">
                          <a:solidFill>
                            <a:srgbClr val="F3F1E9"/>
                          </a:solidFill>
                          <a:latin typeface="Arial"/>
                          <a:ea typeface="Arial"/>
                          <a:cs typeface="Arial"/>
                        </a:rPr>
                        <a:t>14</a:t>
                      </a:r>
                    </a:p>
                  </a:txBody>
                  <a:tcPr marL="133350" marR="133350" marT="95250" marB="95250">
                    <a:solidFill>
                      <a:srgbClr val="0D201B"/>
                    </a:solidFill>
                  </a:tcPr>
                </a:tc>
                <a:tc>
                  <a:txBody>
                    <a:bodyPr/>
                    <a:lstStyle/>
                    <a:p>
                      <a:r>
                        <a:rPr sz="1650">
                          <a:solidFill>
                            <a:srgbClr val="F3F1E9"/>
                          </a:solidFill>
                          <a:latin typeface="Arial"/>
                          <a:ea typeface="Arial"/>
                          <a:cs typeface="Arial"/>
                        </a:rPr>
                        <a:t>29</a:t>
                      </a:r>
                    </a:p>
                  </a:txBody>
                  <a:tcPr marL="133350" marR="133350" marT="95250" marB="95250">
                    <a:solidFill>
                      <a:srgbClr val="0D201B"/>
                    </a:solidFill>
                  </a:tcPr>
                </a:tc>
                <a:tc>
                  <a:txBody>
                    <a:bodyPr/>
                    <a:lstStyle/>
                    <a:p>
                      <a:r>
                        <a:rPr sz="1650">
                          <a:solidFill>
                            <a:srgbClr val="F3F1E9"/>
                          </a:solidFill>
                          <a:latin typeface="Arial"/>
                          <a:ea typeface="Arial"/>
                          <a:cs typeface="Arial"/>
                        </a:rPr>
                        <a:t>32.6%</a:t>
                      </a:r>
                    </a:p>
                  </a:txBody>
                  <a:tcPr marL="133350" marR="133350" marT="95250" marB="95250">
                    <a:solidFill>
                      <a:srgbClr val="0D201B"/>
                    </a:solidFill>
                  </a:tcPr>
                </a:tc>
                <a:tc>
                  <a:txBody>
                    <a:bodyPr/>
                    <a:lstStyle/>
                    <a:p>
                      <a:r>
                        <a:rPr sz="1650">
                          <a:solidFill>
                            <a:srgbClr val="F3F1E9"/>
                          </a:solidFill>
                          <a:latin typeface="Arial"/>
                          <a:ea typeface="Arial"/>
                          <a:cs typeface="Arial"/>
                        </a:rPr>
                        <a:t>42.4%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Среднее 8 моделей</a:t>
                      </a:r>
                    </a:p>
                  </a:txBody>
                  <a:tcPr marL="133350" marR="133350" marT="95250" marB="95250">
                    <a:solidFill>
                      <a:srgbClr val="0D201B"/>
                    </a:solidFill>
                  </a:tcPr>
                </a:tc>
                <a:tc>
                  <a:txBody>
                    <a:bodyPr/>
                    <a:lstStyle/>
                    <a:p>
                      <a:r>
                        <a:rPr sz="1650">
                          <a:solidFill>
                            <a:srgbClr val="F3F1E9"/>
                          </a:solidFill>
                          <a:latin typeface="Arial"/>
                          <a:ea typeface="Arial"/>
                          <a:cs typeface="Arial"/>
                        </a:rPr>
                        <a:t>13</a:t>
                      </a:r>
                    </a:p>
                  </a:txBody>
                  <a:tcPr marL="133350" marR="133350" marT="95250" marB="95250">
                    <a:solidFill>
                      <a:srgbClr val="0D201B"/>
                    </a:solidFill>
                  </a:tcPr>
                </a:tc>
                <a:tc>
                  <a:txBody>
                    <a:bodyPr/>
                    <a:lstStyle/>
                    <a:p>
                      <a:r>
                        <a:rPr sz="1650">
                          <a:solidFill>
                            <a:srgbClr val="F3F1E9"/>
                          </a:solidFill>
                          <a:latin typeface="Arial"/>
                          <a:ea typeface="Arial"/>
                          <a:cs typeface="Arial"/>
                        </a:rPr>
                        <a:t>19</a:t>
                      </a:r>
                    </a:p>
                  </a:txBody>
                  <a:tcPr marL="133350" marR="133350" marT="95250" marB="95250">
                    <a:solidFill>
                      <a:srgbClr val="0D201B"/>
                    </a:solidFill>
                  </a:tcPr>
                </a:tc>
                <a:tc>
                  <a:txBody>
                    <a:bodyPr/>
                    <a:lstStyle/>
                    <a:p>
                      <a:r>
                        <a:rPr sz="1650">
                          <a:solidFill>
                            <a:srgbClr val="F3F1E9"/>
                          </a:solidFill>
                          <a:latin typeface="Arial"/>
                          <a:ea typeface="Arial"/>
                          <a:cs typeface="Arial"/>
                        </a:rPr>
                        <a:t>40.6%</a:t>
                      </a:r>
                    </a:p>
                  </a:txBody>
                  <a:tcPr marL="133350" marR="133350" marT="95250" marB="95250">
                    <a:solidFill>
                      <a:srgbClr val="0D201B"/>
                    </a:solidFill>
                  </a:tcPr>
                </a:tc>
                <a:tc>
                  <a:txBody>
                    <a:bodyPr/>
                    <a:lstStyle/>
                    <a:p>
                      <a:r>
                        <a:rPr sz="1650">
                          <a:solidFill>
                            <a:srgbClr val="F3F1E9"/>
                          </a:solidFill>
                          <a:latin typeface="Arial"/>
                          <a:ea typeface="Arial"/>
                          <a:cs typeface="Arial"/>
                        </a:rPr>
                        <a:t>39.4%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meta / ответы</a:t>
                      </a:r>
                    </a:p>
                  </a:txBody>
                  <a:tcPr marL="133350" marR="133350" marT="95250" marB="95250">
                    <a:solidFill>
                      <a:srgbClr val="0D201B"/>
                    </a:solidFill>
                  </a:tcPr>
                </a:tc>
                <a:tc>
                  <a:txBody>
                    <a:bodyPr/>
                    <a:lstStyle/>
                    <a:p>
                      <a:r>
                        <a:rPr sz="1650">
                          <a:solidFill>
                            <a:srgbClr val="F3F1E9"/>
                          </a:solidFill>
                          <a:latin typeface="Arial"/>
                          <a:ea typeface="Arial"/>
                          <a:cs typeface="Arial"/>
                        </a:rPr>
                        <a:t>6</a:t>
                      </a:r>
                    </a:p>
                  </a:txBody>
                  <a:tcPr marL="133350" marR="133350" marT="95250" marB="95250">
                    <a:solidFill>
                      <a:srgbClr val="0D201B"/>
                    </a:solidFill>
                  </a:tcPr>
                </a:tc>
                <a:tc>
                  <a:txBody>
                    <a:bodyPr/>
                    <a:lstStyle/>
                    <a:p>
                      <a:r>
                        <a:rPr sz="1650">
                          <a:solidFill>
                            <a:srgbClr val="F3F1E9"/>
                          </a:solidFill>
                          <a:latin typeface="Arial"/>
                          <a:ea typeface="Arial"/>
                          <a:cs typeface="Arial"/>
                        </a:rPr>
                        <a:t>20</a:t>
                      </a:r>
                    </a:p>
                  </a:txBody>
                  <a:tcPr marL="133350" marR="133350" marT="95250" marB="95250">
                    <a:solidFill>
                      <a:srgbClr val="0D201B"/>
                    </a:solidFill>
                  </a:tcPr>
                </a:tc>
                <a:tc>
                  <a:txBody>
                    <a:bodyPr/>
                    <a:lstStyle/>
                    <a:p>
                      <a:r>
                        <a:rPr sz="1650">
                          <a:solidFill>
                            <a:srgbClr val="F3F1E9"/>
                          </a:solidFill>
                          <a:latin typeface="Arial"/>
                          <a:ea typeface="Arial"/>
                          <a:cs typeface="Arial"/>
                        </a:rPr>
                        <a:t>23.1%</a:t>
                      </a:r>
                    </a:p>
                  </a:txBody>
                  <a:tcPr marL="133350" marR="133350" marT="95250" marB="95250">
                    <a:solidFill>
                      <a:srgbClr val="0D201B"/>
                    </a:solidFill>
                  </a:tcPr>
                </a:tc>
                <a:tc>
                  <a:txBody>
                    <a:bodyPr/>
                    <a:lstStyle/>
                    <a:p>
                      <a:r>
                        <a:rPr sz="1650">
                          <a:solidFill>
                            <a:srgbClr val="F3F1E9"/>
                          </a:solidFill>
                          <a:latin typeface="Arial"/>
                          <a:ea typeface="Arial"/>
                          <a:cs typeface="Arial"/>
                        </a:rPr>
                        <a:t>18.2%</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meta / контекст</a:t>
                      </a:r>
                    </a:p>
                  </a:txBody>
                  <a:tcPr marL="133350" marR="133350" marT="95250" marB="95250">
                    <a:solidFill>
                      <a:srgbClr val="0D201B"/>
                    </a:solidFill>
                  </a:tcPr>
                </a:tc>
                <a:tc>
                  <a:txBody>
                    <a:bodyPr/>
                    <a:lstStyle/>
                    <a:p>
                      <a:r>
                        <a:rPr sz="1650">
                          <a:solidFill>
                            <a:srgbClr val="F3F1E9"/>
                          </a:solidFill>
                          <a:latin typeface="Arial"/>
                          <a:ea typeface="Arial"/>
                          <a:cs typeface="Arial"/>
                        </a:rPr>
                        <a:t>6</a:t>
                      </a:r>
                    </a:p>
                  </a:txBody>
                  <a:tcPr marL="133350" marR="133350" marT="95250" marB="95250">
                    <a:solidFill>
                      <a:srgbClr val="0D201B"/>
                    </a:solidFill>
                  </a:tcPr>
                </a:tc>
                <a:tc>
                  <a:txBody>
                    <a:bodyPr/>
                    <a:lstStyle/>
                    <a:p>
                      <a:r>
                        <a:rPr sz="1650">
                          <a:solidFill>
                            <a:srgbClr val="F3F1E9"/>
                          </a:solidFill>
                          <a:latin typeface="Arial"/>
                          <a:ea typeface="Arial"/>
                          <a:cs typeface="Arial"/>
                        </a:rPr>
                        <a:t>25</a:t>
                      </a:r>
                    </a:p>
                  </a:txBody>
                  <a:tcPr marL="133350" marR="133350" marT="95250" marB="95250">
                    <a:solidFill>
                      <a:srgbClr val="0D201B"/>
                    </a:solidFill>
                  </a:tcPr>
                </a:tc>
                <a:tc>
                  <a:txBody>
                    <a:bodyPr/>
                    <a:lstStyle/>
                    <a:p>
                      <a:r>
                        <a:rPr sz="1650">
                          <a:solidFill>
                            <a:srgbClr val="F3F1E9"/>
                          </a:solidFill>
                          <a:latin typeface="Arial"/>
                          <a:ea typeface="Arial"/>
                          <a:cs typeface="Arial"/>
                        </a:rPr>
                        <a:t>19.4%</a:t>
                      </a:r>
                    </a:p>
                  </a:txBody>
                  <a:tcPr marL="133350" marR="133350" marT="95250" marB="95250">
                    <a:solidFill>
                      <a:srgbClr val="0D201B"/>
                    </a:solidFill>
                  </a:tcPr>
                </a:tc>
                <a:tc>
                  <a:txBody>
                    <a:bodyPr/>
                    <a:lstStyle/>
                    <a:p>
                      <a:r>
                        <a:rPr sz="1650">
                          <a:solidFill>
                            <a:srgbClr val="F3F1E9"/>
                          </a:solidFill>
                          <a:latin typeface="Arial"/>
                          <a:ea typeface="Arial"/>
                          <a:cs typeface="Arial"/>
                        </a:rPr>
                        <a:t>18.2%</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D397AB0E-E0CB-412F-B96D-F3BC6EDFAFC3}"/>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33 инцидента, апрель–декабрь 2025. Сложность мета-модели сама по себе не дала улучшения.</a:t>
            </a:r>
          </a:p>
        </p:txBody>
      </p:sp>
      <p:sp>
        <p:nvSpPr>
          <p:cNvPr id="4" name="">
            <a:extLst xmlns:a="http://schemas.openxmlformats.org/drawingml/2006/main">
              <a:ext uri="{FF2B5EF4-FFF2-40B4-BE49-F238E27FC236}">
                <a16:creationId xmlns:a16="http://schemas.microsoft.com/office/drawing/2014/main" id="{5AF8C4FE-1249-4F84-945B-25C823EDCB6A}"/>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17</a:t>
            </a:r>
          </a:p>
        </p:txBody>
      </p:sp>
    </p:spTree>
    <p:extLst>
      <p:ext uri="{BB962C8B-B14F-4D97-AF65-F5344CB8AC3E}">
        <p14:creationId xmlns:p14="http://schemas.microsoft.com/office/powerpoint/2010/main" val="822949643"/>
      </p:ext>
    </p:extLst>
  </p:cSld>
</p:sld>
</file>

<file path=ppt/slides/slide18.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5B5E707-7D18-4CB8-8EAE-AA8AF80E3007}"/>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Что требуется для внедрения</a:t>
            </a:r>
          </a:p>
        </p:txBody>
      </p:sp>
      <p:graphicFrame>
        <p:nvGraphicFramePr>
          <p:cNvPr id="6" name=""/>
          <p:cNvGraphicFramePr/>
          <p:nvPr/>
        </p:nvGraphicFramePr>
        <p:xfrm>
          <a:off xmlns:a="http://schemas.openxmlformats.org/drawingml/2006/main" x="609600" y="1847850"/>
          <a:ext xmlns:a="http://schemas.openxmlformats.org/drawingml/2006/main" cx="10972800" cy="3448050"/>
        </p:xfrm>
        <a:graphic xmlns:a="http://schemas.openxmlformats.org/drawingml/2006/main">
          <a:graphicData uri="http://schemas.openxmlformats.org/drawingml/2006/table">
            <a:tbl>
              <a:tblPr/>
              <a:tblGrid>
                <a:gridCol w="5267325"/>
                <a:gridCol w="5705475"/>
              </a:tblGrid>
              <a:tr h="689610">
                <a:tc>
                  <a:txBody>
                    <a:bodyPr/>
                    <a:lstStyle/>
                    <a:p>
                      <a:r>
                        <a:rPr sz="1800" b="1">
                          <a:solidFill>
                            <a:srgbClr val="0D201B"/>
                          </a:solidFill>
                          <a:latin typeface="Arial"/>
                          <a:ea typeface="Arial"/>
                          <a:cs typeface="Arial"/>
                        </a:rPr>
                        <a:t>Уже можно проверить</a:t>
                      </a:r>
                    </a:p>
                  </a:txBody>
                  <a:tcPr marL="133350" marR="133350" marT="95250" marB="95250">
                    <a:solidFill>
                      <a:srgbClr val="D8F77B"/>
                    </a:solidFill>
                  </a:tcPr>
                </a:tc>
                <a:tc>
                  <a:txBody>
                    <a:bodyPr/>
                    <a:lstStyle/>
                    <a:p>
                      <a:r>
                        <a:rPr sz="1800" b="1">
                          <a:solidFill>
                            <a:srgbClr val="0D201B"/>
                          </a:solidFill>
                          <a:latin typeface="Arial"/>
                          <a:ea typeface="Arial"/>
                          <a:cs typeface="Arial"/>
                        </a:rPr>
                        <a:t>Нужно согласовать с заказчиком</a:t>
                      </a:r>
                    </a:p>
                  </a:txBody>
                  <a:tcPr marL="133350" marR="133350" marT="95250" marB="95250">
                    <a:solidFill>
                      <a:srgbClr val="D8F77B"/>
                    </a:solidFill>
                  </a:tcPr>
                </a:tc>
              </a:tr>
              <a:tr h="689610">
                <a:tc>
                  <a:txBody>
                    <a:bodyPr/>
                    <a:lstStyle/>
                    <a:p>
                      <a:r>
                        <a:rPr sz="1800">
                          <a:solidFill>
                            <a:srgbClr val="F3F1E9"/>
                          </a:solidFill>
                          <a:latin typeface="Arial"/>
                          <a:ea typeface="Arial"/>
                          <a:cs typeface="Arial"/>
                        </a:rPr>
                        <a:t>CSV и настоящий ансамбль в браузере</a:t>
                      </a:r>
                    </a:p>
                  </a:txBody>
                  <a:tcPr marL="133350" marR="133350" marT="95250" marB="95250">
                    <a:solidFill>
                      <a:srgbClr val="0D201B"/>
                    </a:solidFill>
                  </a:tcPr>
                </a:tc>
                <a:tc>
                  <a:txBody>
                    <a:bodyPr/>
                    <a:lstStyle/>
                    <a:p>
                      <a:r>
                        <a:rPr sz="1800">
                          <a:solidFill>
                            <a:srgbClr val="F3F1E9"/>
                          </a:solidFill>
                          <a:latin typeface="Arial"/>
                          <a:ea typeface="Arial"/>
                          <a:cs typeface="Arial"/>
                        </a:rPr>
                        <a:t>Ежедневный расчёт признаков и свежесть данных</a:t>
                      </a:r>
                    </a:p>
                  </a:txBody>
                  <a:tcPr marL="133350" marR="133350" marT="95250" marB="95250">
                    <a:solidFill>
                      <a:srgbClr val="0D201B"/>
                    </a:solidFill>
                  </a:tcPr>
                </a:tc>
              </a:tr>
              <a:tr h="689610">
                <a:tc>
                  <a:txBody>
                    <a:bodyPr/>
                    <a:lstStyle/>
                    <a:p>
                      <a:r>
                        <a:rPr sz="1800">
                          <a:solidFill>
                            <a:srgbClr val="F3F1E9"/>
                          </a:solidFill>
                          <a:latin typeface="Arial"/>
                          <a:ea typeface="Arial"/>
                          <a:cs typeface="Arial"/>
                        </a:rPr>
                        <a:t>Очередь и локальное решение по заявке</a:t>
                      </a:r>
                    </a:p>
                  </a:txBody>
                  <a:tcPr marL="133350" marR="133350" marT="95250" marB="95250">
                    <a:solidFill>
                      <a:srgbClr val="0D201B"/>
                    </a:solidFill>
                  </a:tcPr>
                </a:tc>
                <a:tc>
                  <a:txBody>
                    <a:bodyPr/>
                    <a:lstStyle/>
                    <a:p>
                      <a:r>
                        <a:rPr sz="1800">
                          <a:solidFill>
                            <a:srgbClr val="F3F1E9"/>
                          </a:solidFill>
                          <a:latin typeface="Arial"/>
                          <a:ea typeface="Arial"/>
                          <a:cs typeface="Arial"/>
                        </a:rPr>
                        <a:t>Хранение решений и назначение проверки в рабочей системе</a:t>
                      </a:r>
                    </a:p>
                  </a:txBody>
                  <a:tcPr marL="133350" marR="133350" marT="95250" marB="95250">
                    <a:solidFill>
                      <a:srgbClr val="0D201B"/>
                    </a:solidFill>
                  </a:tcPr>
                </a:tc>
              </a:tr>
              <a:tr h="689610">
                <a:tc>
                  <a:txBody>
                    <a:bodyPr/>
                    <a:lstStyle/>
                    <a:p>
                      <a:r>
                        <a:rPr sz="1800">
                          <a:solidFill>
                            <a:srgbClr val="F3F1E9"/>
                          </a:solidFill>
                          <a:latin typeface="Arial"/>
                          <a:ea typeface="Arial"/>
                          <a:cs typeface="Arial"/>
                        </a:rPr>
                        <a:t>Исторические полезные и ложные заявки</a:t>
                      </a:r>
                    </a:p>
                  </a:txBody>
                  <a:tcPr marL="133350" marR="133350" marT="95250" marB="95250">
                    <a:solidFill>
                      <a:srgbClr val="0D201B"/>
                    </a:solidFill>
                  </a:tcPr>
                </a:tc>
                <a:tc>
                  <a:txBody>
                    <a:bodyPr/>
                    <a:lstStyle/>
                    <a:p>
                      <a:r>
                        <a:rPr sz="1800">
                          <a:solidFill>
                            <a:srgbClr val="F3F1E9"/>
                          </a:solidFill>
                          <a:latin typeface="Arial"/>
                          <a:ea typeface="Arial"/>
                          <a:cs typeface="Arial"/>
                        </a:rPr>
                        <a:t>Лимит выездов и стоимость ошибок</a:t>
                      </a:r>
                    </a:p>
                  </a:txBody>
                  <a:tcPr marL="133350" marR="133350" marT="95250" marB="95250">
                    <a:solidFill>
                      <a:srgbClr val="0D201B"/>
                    </a:solidFill>
                  </a:tcPr>
                </a:tc>
              </a:tr>
              <a:tr h="689610">
                <a:tc>
                  <a:txBody>
                    <a:bodyPr/>
                    <a:lstStyle/>
                    <a:p>
                      <a:r>
                        <a:rPr sz="1800">
                          <a:solidFill>
                            <a:srgbClr val="F3F1E9"/>
                          </a:solidFill>
                          <a:latin typeface="Arial"/>
                          <a:ea typeface="Arial"/>
                          <a:cs typeface="Arial"/>
                        </a:rPr>
                        <a:t>Версию, контракт и численное совпадение</a:t>
                      </a:r>
                    </a:p>
                  </a:txBody>
                  <a:tcPr marL="133350" marR="133350" marT="95250" marB="95250">
                    <a:solidFill>
                      <a:srgbClr val="0D201B"/>
                    </a:solidFill>
                  </a:tcPr>
                </a:tc>
                <a:tc>
                  <a:txBody>
                    <a:bodyPr/>
                    <a:lstStyle/>
                    <a:p>
                      <a:r>
                        <a:rPr sz="1800">
                          <a:solidFill>
                            <a:srgbClr val="F3F1E9"/>
                          </a:solidFill>
                          <a:latin typeface="Arial"/>
                          <a:ea typeface="Arial"/>
                          <a:cs typeface="Arial"/>
                        </a:rPr>
                        <a:t>Новый закрытый период и результаты осмотров</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D6AB38FD-9A65-4368-B6E8-0AE156FCA360}"/>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Пилот подтверждает эксплуатационный эффект. Экономия и предотвращённые аварии пока не измерены.</a:t>
            </a:r>
          </a:p>
        </p:txBody>
      </p:sp>
      <p:sp>
        <p:nvSpPr>
          <p:cNvPr id="4" name="">
            <a:extLst xmlns:a="http://schemas.openxmlformats.org/drawingml/2006/main">
              <a:ext uri="{FF2B5EF4-FFF2-40B4-BE49-F238E27FC236}">
                <a16:creationId xmlns:a16="http://schemas.microsoft.com/office/drawing/2014/main" id="{3A80B5CD-7306-45A8-AC88-4E6EE73CD957}"/>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18</a:t>
            </a:r>
          </a:p>
        </p:txBody>
      </p:sp>
    </p:spTree>
    <p:extLst>
      <p:ext uri="{BB962C8B-B14F-4D97-AF65-F5344CB8AC3E}">
        <p14:creationId xmlns:p14="http://schemas.microsoft.com/office/powerpoint/2010/main" val="121997298"/>
      </p:ext>
    </p:extLst>
  </p:cSld>
</p:sld>
</file>

<file path=ppt/theme/theme1.xml><?xml version="1.0" encoding="utf-8"?>
<a:theme xmlns:a="http://schemas.openxmlformats.org/drawingml/2006/main" name="PIKET">
  <a:themeElements>
    <a:clrScheme name="PIKE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IKE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Бананчики</dc:creator>
  <lastModifiedBy>Бананчики</lastModifiedBy>
  <dc:title>ПИКЕТ / ЛЦТ 2026</dc:title>
  <dcterms:created xsi:type="dcterms:W3CDTF">2026-09-29T20:50:49.4020000Z</dcterms:created>
  <dcterms:modified xsi:type="dcterms:W3CDTF">2026-09-29T20:50:49.4020000Z</dcterms:modified>
</coreProperties>
</file>